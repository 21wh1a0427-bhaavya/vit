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5" r:id="rId4"/>
    <p:sldId id="259" r:id="rId5"/>
    <p:sldId id="267" r:id="rId6"/>
    <p:sldId id="271" r:id="rId7"/>
    <p:sldId id="268" r:id="rId8"/>
    <p:sldId id="272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3" r:id="rId17"/>
    <p:sldId id="269" r:id="rId18"/>
    <p:sldId id="27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D2D1A9-056C-46C6-956D-4FBB437CA13D}">
          <p14:sldIdLst>
            <p14:sldId id="256"/>
            <p14:sldId id="257"/>
            <p14:sldId id="275"/>
            <p14:sldId id="259"/>
            <p14:sldId id="267"/>
            <p14:sldId id="271"/>
            <p14:sldId id="268"/>
            <p14:sldId id="272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Untitled Section" id="{5CA51C6E-EC7E-4C02-BA46-B186269DF392}">
          <p14:sldIdLst>
            <p14:sldId id="273"/>
            <p14:sldId id="269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970" autoAdjust="0"/>
  </p:normalViewPr>
  <p:slideViewPr>
    <p:cSldViewPr snapToGrid="0">
      <p:cViewPr varScale="1">
        <p:scale>
          <a:sx n="54" d="100"/>
          <a:sy n="54" d="100"/>
        </p:scale>
        <p:origin x="181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6A98B-09FE-4497-ABE9-520689AF2468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A1E7A7-AD2E-4D2D-B862-87000AA2E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7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sz="1200" b="0" i="0" dirty="0">
                <a:solidFill>
                  <a:srgbClr val="24292E"/>
                </a:solidFill>
                <a:effectLst/>
              </a:rPr>
              <a:t>To verify, that a single solution is optimized requires both computing all the possible solutions and then comparing your solution to each of them ~ EXACT SOLUTION</a:t>
            </a:r>
          </a:p>
          <a:p>
            <a:pPr marL="342900" indent="-342900">
              <a:buAutoNum type="arabicPeriod"/>
            </a:pPr>
            <a:r>
              <a:rPr lang="en-US" sz="1200" dirty="0"/>
              <a:t>The physical limitations of finding an exact solution lead us towards a very important concept – </a:t>
            </a:r>
            <a:r>
              <a:rPr lang="en-US" sz="1200" i="1" dirty="0"/>
              <a:t>approximation algorithms</a:t>
            </a:r>
            <a:r>
              <a:rPr lang="en-US" sz="1200" dirty="0"/>
              <a:t>. In an approximation algorithm, we cannot guarantee that the solution is the optimal one, but we can guarantee that it falls within a certain proportion of the optimal solution.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588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optimal tour has cost 22, an exact algorithm </a:t>
            </a:r>
            <a:r>
              <a:rPr lang="en-US" b="1" dirty="0"/>
              <a:t>must output exactly 22</a:t>
            </a:r>
            <a:r>
              <a:rPr lang="en-US" dirty="0"/>
              <a:t>, not 23 or 30.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740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# cost[</a:t>
            </a:r>
            <a:r>
              <a:rPr lang="en-US" sz="1200" dirty="0" err="1"/>
              <a:t>i</a:t>
            </a:r>
            <a:r>
              <a:rPr lang="en-US" sz="1200" dirty="0"/>
              <a:t>][j] = distance from city </a:t>
            </a:r>
            <a:r>
              <a:rPr lang="en-US" sz="1200" dirty="0" err="1"/>
              <a:t>i</a:t>
            </a:r>
            <a:r>
              <a:rPr lang="en-US" sz="1200" dirty="0"/>
              <a:t> to city j</a:t>
            </a:r>
          </a:p>
          <a:p>
            <a:r>
              <a:rPr lang="en-US" sz="1200" dirty="0"/>
              <a:t>    # </a:t>
            </a:r>
            <a:r>
              <a:rPr lang="en-US" sz="1200" dirty="0" err="1"/>
              <a:t>dp</a:t>
            </a:r>
            <a:r>
              <a:rPr lang="en-US" sz="1200" dirty="0"/>
              <a:t>[mask][</a:t>
            </a:r>
            <a:r>
              <a:rPr lang="en-US" sz="1200" dirty="0" err="1"/>
              <a:t>i</a:t>
            </a:r>
            <a:r>
              <a:rPr lang="en-US" sz="1200" dirty="0"/>
              <a:t>] = minimum cost to reach city </a:t>
            </a:r>
            <a:r>
              <a:rPr lang="en-US" sz="1200" dirty="0" err="1"/>
              <a:t>i</a:t>
            </a:r>
            <a:r>
              <a:rPr lang="en-US" sz="1200" dirty="0"/>
              <a:t> having visited</a:t>
            </a:r>
          </a:p>
          <a:p>
            <a:r>
              <a:rPr lang="en-US" sz="1200" dirty="0"/>
              <a:t>    # the set of cities represented by 'mask'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4466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TSP —</a:t>
            </a:r>
            <a:br>
              <a:rPr lang="en-US" dirty="0"/>
            </a:br>
            <a:r>
              <a:rPr lang="en-US" dirty="0"/>
              <a:t>if someone hands you a tour, you can easily check:</a:t>
            </a:r>
          </a:p>
          <a:p>
            <a:r>
              <a:rPr lang="en-US" dirty="0"/>
              <a:t>Does it visit all cities once?</a:t>
            </a:r>
          </a:p>
          <a:p>
            <a:r>
              <a:rPr lang="en-US" dirty="0"/>
              <a:t>What’s its total cost?</a:t>
            </a:r>
            <a:br>
              <a:rPr lang="en-US" dirty="0"/>
            </a:br>
            <a:r>
              <a:rPr lang="en-US" dirty="0"/>
              <a:t>Verification = O(n²), so it’s in NP.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8182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FEEA0-6BDB-686A-88A9-A6D01A9A7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65586-5820-4FA5-798D-3D8C74870C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2FFBC-D502-322F-9231-33DE3A3405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they’re at least as hard as all other NP problems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95882-52B4-8943-B37E-CFAD9EDC6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93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an MST connecting all cities (minimum total edge weight).</a:t>
            </a:r>
          </a:p>
          <a:p>
            <a:r>
              <a:rPr lang="en-US" dirty="0"/>
              <a:t>Walk through that tree and list the order in which cities are visited (pre-order traversal).</a:t>
            </a:r>
          </a:p>
          <a:p>
            <a:r>
              <a:rPr lang="en-US" dirty="0"/>
              <a:t>Return to the starting city to complete the tour.</a:t>
            </a:r>
          </a:p>
          <a:p>
            <a:r>
              <a:rPr lang="en-US" dirty="0"/>
              <a:t>Use triangle inequality to “skip” repeated nodes.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389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Negative costs when looped make total cost </a:t>
            </a:r>
            <a:r>
              <a:rPr lang="en-IN" dirty="0" err="1"/>
              <a:t>infinetly</a:t>
            </a:r>
            <a:r>
              <a:rPr lang="en-IN" dirty="0"/>
              <a:t> smaller, </a:t>
            </a:r>
            <a:r>
              <a:rPr lang="en-US" dirty="0"/>
              <a:t>violating the whole idea of triangle inequality and distance consistency.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A1E7A7-AD2E-4D2D-B862-87000AA2EC3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63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B193-31CE-DC1E-7457-BD8717A95D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0E66FF-2270-4036-DCEA-345E85EC2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363FC-174B-FDDD-9294-90F1E7753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D0425-D27E-D9CE-9F0A-DFE119A0C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97F9C-A500-5BA0-2757-0E407F50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1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65CD-65C2-4718-8ED3-BBA0398A2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15B0D-4684-FC2B-2C0F-E070F01FC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9AFA0-04A6-C34C-969C-FD7006455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C246C-5642-56F7-8E9A-887A0198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9043D-C2CE-570A-8637-145F8B610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14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1710-5D29-869A-FF0A-597F6506F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C0EF3-4391-E34F-E805-5E62ECE78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E4735-9EDD-AFE8-9E43-177F0B27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24C9A-D499-3607-0FC7-6B78BC7BB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179D3-6146-B96B-C378-59413DD6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8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6CF3F-6722-ABC5-8FEE-EC61A4EC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0578E-D672-50F7-51BD-95A2CFF2D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1A3418-FDD1-9960-B540-B80CCF2B8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AB642D-DCE9-7622-CFBC-B2ECF9C5D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D76A5-2085-E38C-1EDF-CDD961F93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7AE63-E5FA-FD4E-C690-CAF956695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219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3009A-0B14-F4C7-6009-C1A83B7D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50C55-2F74-6FAF-0D0F-96442D3CD5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38C5A-43FB-42CF-84C5-D5CCB5BAF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A0906-B1AD-03D9-5F5F-ED1AC7C13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D51BC5-49CC-7FBA-17B4-2A663E8E2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E0F05-C882-6D03-3B34-88A202BFE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F03894-0EED-B365-22FA-9BA5E0335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3DFDA9-5B5C-D1E2-7ABE-43877C305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434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3CB1-A113-A804-F32D-D2A103B6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077376-1184-A813-36DF-CDFF02596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2C700-C466-A15D-0168-9A0B7959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70840-D669-D9D5-083B-5A645971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25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E23D5-D9B3-5099-E75F-6BE2D4079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6530E-3E70-6532-21A3-25B6F857E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63DB0-1CBC-C65D-BE2B-34447F3D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433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E21E-5282-B3B4-1F3B-D999D32B5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AA128-91C5-DF21-5815-6D1552B30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F09116-84DE-D924-1F77-08E65BCE2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54B87-A477-F72E-CAEF-F1CE66BC5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BA7DF6-D287-CFB1-9490-CA3640F24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25A428-A2FB-30F4-CCCA-4069F7623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96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AEF5D-BDC3-425B-70C9-0C1377F8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A21B0B-E92B-050D-3A3B-31743E0CF2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92F990-0633-AD99-C356-EF6DDACDD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B3E0-95D3-7EE6-6FBE-1CE7C7FD0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EC821-500B-C05E-5B6A-6A5B02C0F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B14E0-521A-405D-590C-FD494B95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25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E40CF-B413-B41E-D32F-A7655830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F8DB3-6852-FE23-E5E2-A04C6F4D4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AFF1E-FCF1-A3E9-5DF0-3F6A9883E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1EC5F-E836-56B0-E971-45CAB807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1032C-320C-0F13-C57D-E501C7A40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24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89CB79-0384-0437-4BCC-5EAF00BD8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DB18B-B234-47D3-0DBE-B945D356D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D81EFD-418F-0A0D-A297-BA21E0229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D311E-1234-6C83-0086-364ECBDA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1E981-3EA5-4D2F-32E6-D6EF558DC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1592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9AA8B6-18AA-EECA-9D70-53D8C66B9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A8057-A948-E625-069D-B0925B95C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0B7427-AD58-10C5-802E-62650B67D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C4B42-BC21-4C23-A645-95E629FCDF77}" type="datetimeFigureOut">
              <a:rPr lang="en-IN" smtClean="0"/>
              <a:t>28-10-2025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0EE1-86C5-8D9A-FF33-C7AA76C64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402-91C0-A99A-1052-005918A8E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7E380-1BE8-418B-B127-B609514C6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88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scubetech.com/resources/dsa/travelling-salesman-problem" TargetMode="External"/><Relationship Id="rId2" Type="http://schemas.openxmlformats.org/officeDocument/2006/relationships/hyperlink" Target="https://cse442-17f.github.io/Traveling-Salesman-Algorithms/#overall_heade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C1CFA-AD67-C619-C9C1-E67BD83FFC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Travelling Salesperson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A09C64-146F-C131-7E83-836A1F61D0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Graph Theory + Operations Research + Computer Science + Optimization</a:t>
            </a:r>
          </a:p>
          <a:p>
            <a:endParaRPr lang="en-US" dirty="0"/>
          </a:p>
          <a:p>
            <a:r>
              <a:rPr lang="en-US" dirty="0"/>
              <a:t>Presented By: P. Bhaavya Ramita, 25MCB1010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6163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842559-9F8F-9FD0-6FD9-8E2DF322949D}"/>
              </a:ext>
            </a:extLst>
          </p:cNvPr>
          <p:cNvSpPr txBox="1"/>
          <p:nvPr/>
        </p:nvSpPr>
        <p:spPr>
          <a:xfrm>
            <a:off x="1299410" y="2304846"/>
            <a:ext cx="95931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0" i="0" dirty="0">
                <a:solidFill>
                  <a:srgbClr val="6A737D"/>
                </a:solidFill>
                <a:effectLst/>
                <a:latin typeface="Barlow Condensed" panose="00000506000000000000" pitchFamily="2" charset="0"/>
              </a:rPr>
              <a:t>Given a list of cities and the distances between each pair of cities, what is the shortest possible route that visits each city exactly once and returns to the origin city?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379310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1D450-D618-E2BD-42AB-87BD34D12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110C7-0822-28AA-1091-4E5DD3D5F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24292E"/>
                </a:solidFill>
              </a:rPr>
              <a:t>The difficulty in solving a combinatorial optimization problem such as the TSP lies not in discovering a single solution, but rather quickly verifying that a given solution is the </a:t>
            </a:r>
            <a:r>
              <a:rPr lang="en-US" i="1" dirty="0">
                <a:solidFill>
                  <a:srgbClr val="24292E"/>
                </a:solidFill>
              </a:rPr>
              <a:t>optimal </a:t>
            </a:r>
            <a:r>
              <a:rPr lang="en-US" dirty="0">
                <a:solidFill>
                  <a:srgbClr val="24292E"/>
                </a:solidFill>
              </a:rPr>
              <a:t>solution. </a:t>
            </a:r>
          </a:p>
          <a:p>
            <a:r>
              <a:rPr lang="en-US" dirty="0"/>
              <a:t>The TSP naturally arises as a subproblem in many transportation and logistics applications, for example the problem of arranging school bus routes to pick up the children in a school district (Vehicle Routine Problem).</a:t>
            </a:r>
            <a:endParaRPr lang="en-US" dirty="0">
              <a:solidFill>
                <a:srgbClr val="24292E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857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0A05-136F-4C89-1264-50AE7C062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0E5B1-5D26-39B0-2D3B-AECEBB1F6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Approaches to solving TSP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8FACBB-44C3-B9CC-965D-B4687346C0D2}"/>
              </a:ext>
            </a:extLst>
          </p:cNvPr>
          <p:cNvSpPr/>
          <p:nvPr/>
        </p:nvSpPr>
        <p:spPr>
          <a:xfrm>
            <a:off x="1143000" y="1690688"/>
            <a:ext cx="3429000" cy="988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Exact  Algorithm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BE76B8-6503-4AC7-B49D-E55C552E499A}"/>
              </a:ext>
            </a:extLst>
          </p:cNvPr>
          <p:cNvSpPr/>
          <p:nvPr/>
        </p:nvSpPr>
        <p:spPr>
          <a:xfrm>
            <a:off x="7407442" y="1690688"/>
            <a:ext cx="3429000" cy="988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Approximation  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A96B13-C954-859E-4F97-E87E5AD3B656}"/>
              </a:ext>
            </a:extLst>
          </p:cNvPr>
          <p:cNvSpPr txBox="1"/>
          <p:nvPr/>
        </p:nvSpPr>
        <p:spPr>
          <a:xfrm>
            <a:off x="582530" y="2879013"/>
            <a:ext cx="49750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finds the absolute shortest possible tour that visits all cities exactly once and returns to the start.</a:t>
            </a:r>
          </a:p>
          <a:p>
            <a:endParaRPr lang="en-IN" dirty="0"/>
          </a:p>
          <a:p>
            <a:r>
              <a:rPr lang="en-IN" dirty="0"/>
              <a:t>Brute Force search: [(n-1)!]/2 possibilities</a:t>
            </a:r>
          </a:p>
          <a:p>
            <a:r>
              <a:rPr lang="en-IN" dirty="0"/>
              <a:t>Dynamic Programming (Held-Karp algorithms): O(n^2 * 2^n)</a:t>
            </a:r>
          </a:p>
          <a:p>
            <a:endParaRPr lang="en-IN" dirty="0"/>
          </a:p>
          <a:p>
            <a:r>
              <a:rPr lang="en-IN" dirty="0"/>
              <a:t>Correct solutions but very slow, impractical for larger inputs.</a:t>
            </a:r>
          </a:p>
          <a:p>
            <a:r>
              <a:rPr lang="en-US" dirty="0"/>
              <a:t>7 cities is just over </a:t>
            </a:r>
            <a:r>
              <a:rPr lang="en-US" b="1" dirty="0"/>
              <a:t>5,000</a:t>
            </a:r>
          </a:p>
          <a:p>
            <a:r>
              <a:rPr lang="en-US" dirty="0"/>
              <a:t>10 cities it is over </a:t>
            </a:r>
            <a:r>
              <a:rPr lang="en-US" b="1" dirty="0"/>
              <a:t>3.6 million</a:t>
            </a:r>
          </a:p>
          <a:p>
            <a:r>
              <a:rPr lang="en-US" dirty="0"/>
              <a:t>13 cities it is over </a:t>
            </a:r>
            <a:r>
              <a:rPr lang="en-US" b="1" dirty="0"/>
              <a:t>6 billion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1773E-F3A7-49A9-5F5F-9E5FF4472BA0}"/>
              </a:ext>
            </a:extLst>
          </p:cNvPr>
          <p:cNvSpPr txBox="1"/>
          <p:nvPr/>
        </p:nvSpPr>
        <p:spPr>
          <a:xfrm>
            <a:off x="6634413" y="2879013"/>
            <a:ext cx="49750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It gives a solution that is close enough to optimal but computes quickly (in polynomial time) – gives NEAR OPTIMAL solution with a provable bound.</a:t>
            </a:r>
          </a:p>
          <a:p>
            <a:endParaRPr lang="en-IN" dirty="0"/>
          </a:p>
          <a:p>
            <a:r>
              <a:rPr lang="en-IN" dirty="0"/>
              <a:t>Nearest Neighbour Algorithm: O(n^2)</a:t>
            </a:r>
          </a:p>
          <a:p>
            <a:r>
              <a:rPr lang="en-IN" dirty="0"/>
              <a:t>MST-based (Double Tree) Algorithm: O(n^2 * </a:t>
            </a:r>
            <a:r>
              <a:rPr lang="en-IN" dirty="0" err="1"/>
              <a:t>logn</a:t>
            </a:r>
            <a:r>
              <a:rPr lang="en-IN" dirty="0"/>
              <a:t>)</a:t>
            </a:r>
          </a:p>
          <a:p>
            <a:r>
              <a:rPr lang="en-IN" dirty="0" err="1"/>
              <a:t>Christofides</a:t>
            </a:r>
            <a:r>
              <a:rPr lang="en-IN" dirty="0"/>
              <a:t> Algorithm: O(n^3)</a:t>
            </a:r>
          </a:p>
          <a:p>
            <a:endParaRPr lang="en-IN" dirty="0"/>
          </a:p>
          <a:p>
            <a:r>
              <a:rPr lang="en-IN" dirty="0"/>
              <a:t>Fast solution but not perfect. (depends on approximation ratio)</a:t>
            </a:r>
          </a:p>
        </p:txBody>
      </p:sp>
    </p:spTree>
    <p:extLst>
      <p:ext uri="{BB962C8B-B14F-4D97-AF65-F5344CB8AC3E}">
        <p14:creationId xmlns:p14="http://schemas.microsoft.com/office/powerpoint/2010/main" val="2293035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C6C5F-0093-D2EF-03E3-333CA3DBA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Exact Algorithm: Brute-Force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D2984CC-79A3-75D8-82FF-E256E128841D}"/>
              </a:ext>
            </a:extLst>
          </p:cNvPr>
          <p:cNvSpPr/>
          <p:nvPr/>
        </p:nvSpPr>
        <p:spPr>
          <a:xfrm>
            <a:off x="838200" y="3205537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11CDDF-AC6A-7FFC-26C7-CA2D41387AC1}"/>
              </a:ext>
            </a:extLst>
          </p:cNvPr>
          <p:cNvSpPr/>
          <p:nvPr/>
        </p:nvSpPr>
        <p:spPr>
          <a:xfrm>
            <a:off x="2707105" y="4676275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9411016-B383-E4B4-1DA0-1A861CCAF871}"/>
              </a:ext>
            </a:extLst>
          </p:cNvPr>
          <p:cNvSpPr/>
          <p:nvPr/>
        </p:nvSpPr>
        <p:spPr>
          <a:xfrm>
            <a:off x="4977063" y="3205536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AF445E-1F8F-BEAE-74B4-0F68A719B1DB}"/>
              </a:ext>
            </a:extLst>
          </p:cNvPr>
          <p:cNvSpPr/>
          <p:nvPr/>
        </p:nvSpPr>
        <p:spPr>
          <a:xfrm>
            <a:off x="2578768" y="1734804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686C11-8F60-6A90-EF9A-2C2DB1BC0545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1632382" y="2443406"/>
            <a:ext cx="1082646" cy="883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2FE27E6-AD28-A9D6-7801-0915CA32D3BC}"/>
              </a:ext>
            </a:extLst>
          </p:cNvPr>
          <p:cNvCxnSpPr>
            <a:stCxn id="4" idx="5"/>
            <a:endCxn id="5" idx="1"/>
          </p:cNvCxnSpPr>
          <p:nvPr/>
        </p:nvCxnSpPr>
        <p:spPr>
          <a:xfrm>
            <a:off x="1632382" y="3914139"/>
            <a:ext cx="1210983" cy="883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4E0412-FDD2-EDEA-D38B-CDE751F77B35}"/>
              </a:ext>
            </a:extLst>
          </p:cNvPr>
          <p:cNvCxnSpPr>
            <a:stCxn id="5" idx="7"/>
            <a:endCxn id="6" idx="3"/>
          </p:cNvCxnSpPr>
          <p:nvPr/>
        </p:nvCxnSpPr>
        <p:spPr>
          <a:xfrm flipV="1">
            <a:off x="3501287" y="3914138"/>
            <a:ext cx="1612036" cy="883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DF91E0-5AE0-3BBA-B8E0-A064CC10D1A4}"/>
              </a:ext>
            </a:extLst>
          </p:cNvPr>
          <p:cNvCxnSpPr>
            <a:stCxn id="6" idx="1"/>
            <a:endCxn id="7" idx="5"/>
          </p:cNvCxnSpPr>
          <p:nvPr/>
        </p:nvCxnSpPr>
        <p:spPr>
          <a:xfrm flipH="1" flipV="1">
            <a:off x="3372950" y="2443406"/>
            <a:ext cx="1740373" cy="883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E8DE336-707B-92BA-1CB8-8DF6680B427C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1768642" y="3620626"/>
            <a:ext cx="320842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379DE4D-8001-56C4-8BB2-94F75F620105}"/>
              </a:ext>
            </a:extLst>
          </p:cNvPr>
          <p:cNvCxnSpPr>
            <a:stCxn id="7" idx="4"/>
            <a:endCxn id="5" idx="0"/>
          </p:cNvCxnSpPr>
          <p:nvPr/>
        </p:nvCxnSpPr>
        <p:spPr>
          <a:xfrm>
            <a:off x="3043989" y="2564983"/>
            <a:ext cx="128337" cy="211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B0E6BEB-37A1-F7D9-B11F-2DCDB22DC7B4}"/>
              </a:ext>
            </a:extLst>
          </p:cNvPr>
          <p:cNvSpPr txBox="1"/>
          <p:nvPr/>
        </p:nvSpPr>
        <p:spPr>
          <a:xfrm>
            <a:off x="1627698" y="385584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3E2076-6856-CAC8-4CAB-06993E210D82}"/>
              </a:ext>
            </a:extLst>
          </p:cNvPr>
          <p:cNvSpPr txBox="1"/>
          <p:nvPr/>
        </p:nvSpPr>
        <p:spPr>
          <a:xfrm>
            <a:off x="1583176" y="299273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F5E7760-099A-A794-67FD-E8B52083C574}"/>
              </a:ext>
            </a:extLst>
          </p:cNvPr>
          <p:cNvSpPr txBox="1"/>
          <p:nvPr/>
        </p:nvSpPr>
        <p:spPr>
          <a:xfrm>
            <a:off x="3349949" y="2337012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05DCC15-2A88-28A2-70B2-85B9A0E13507}"/>
              </a:ext>
            </a:extLst>
          </p:cNvPr>
          <p:cNvSpPr txBox="1"/>
          <p:nvPr/>
        </p:nvSpPr>
        <p:spPr>
          <a:xfrm>
            <a:off x="2920822" y="253173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7A6769-F17B-D819-A0B5-8208AD1971D5}"/>
              </a:ext>
            </a:extLst>
          </p:cNvPr>
          <p:cNvSpPr txBox="1"/>
          <p:nvPr/>
        </p:nvSpPr>
        <p:spPr>
          <a:xfrm>
            <a:off x="1804735" y="341400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20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BFEF925D-1BFA-58EE-E011-80AE162A2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727266"/>
              </p:ext>
            </p:extLst>
          </p:nvPr>
        </p:nvGraphicFramePr>
        <p:xfrm>
          <a:off x="7712242" y="2222477"/>
          <a:ext cx="3205748" cy="248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437">
                  <a:extLst>
                    <a:ext uri="{9D8B030D-6E8A-4147-A177-3AD203B41FA5}">
                      <a16:colId xmlns:a16="http://schemas.microsoft.com/office/drawing/2014/main" val="3699116908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4051868618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3534584717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298025804"/>
                    </a:ext>
                  </a:extLst>
                </a:gridCol>
              </a:tblGrid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89808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16820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360192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20987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0FECED4D-1EF5-46CC-9C8E-93A8996FEC87}"/>
              </a:ext>
            </a:extLst>
          </p:cNvPr>
          <p:cNvSpPr txBox="1"/>
          <p:nvPr/>
        </p:nvSpPr>
        <p:spPr>
          <a:xfrm>
            <a:off x="7712242" y="1709315"/>
            <a:ext cx="320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        B         C       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AD4CB6-50DE-B3C5-7179-72192A56D3B8}"/>
              </a:ext>
            </a:extLst>
          </p:cNvPr>
          <p:cNvSpPr txBox="1"/>
          <p:nvPr/>
        </p:nvSpPr>
        <p:spPr>
          <a:xfrm>
            <a:off x="7079918" y="2248012"/>
            <a:ext cx="63232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/>
              <a:t>A        B       C       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84FBAF-935F-CE60-775E-5924A744CE50}"/>
              </a:ext>
            </a:extLst>
          </p:cNvPr>
          <p:cNvSpPr txBox="1"/>
          <p:nvPr/>
        </p:nvSpPr>
        <p:spPr>
          <a:xfrm>
            <a:off x="2432430" y="2345883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1F27FF-4D87-B653-108D-2B28C97902D9}"/>
              </a:ext>
            </a:extLst>
          </p:cNvPr>
          <p:cNvSpPr txBox="1"/>
          <p:nvPr/>
        </p:nvSpPr>
        <p:spPr>
          <a:xfrm>
            <a:off x="2943724" y="4259507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21BCDE0-A368-D890-19BF-078D3EF57E43}"/>
              </a:ext>
            </a:extLst>
          </p:cNvPr>
          <p:cNvSpPr txBox="1"/>
          <p:nvPr/>
        </p:nvSpPr>
        <p:spPr>
          <a:xfrm>
            <a:off x="4766460" y="3000277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39CA22-649D-1C38-3501-DAABBA08E81F}"/>
              </a:ext>
            </a:extLst>
          </p:cNvPr>
          <p:cNvSpPr txBox="1"/>
          <p:nvPr/>
        </p:nvSpPr>
        <p:spPr>
          <a:xfrm>
            <a:off x="2475079" y="443041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3AD733-AAD1-5FB0-D237-5EDD757A8E80}"/>
              </a:ext>
            </a:extLst>
          </p:cNvPr>
          <p:cNvSpPr txBox="1"/>
          <p:nvPr/>
        </p:nvSpPr>
        <p:spPr>
          <a:xfrm>
            <a:off x="3587334" y="446789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745AEA5-E5A4-6417-2E4B-D1440C14C661}"/>
              </a:ext>
            </a:extLst>
          </p:cNvPr>
          <p:cNvSpPr txBox="1"/>
          <p:nvPr/>
        </p:nvSpPr>
        <p:spPr>
          <a:xfrm>
            <a:off x="4709793" y="385025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F0D483E-F800-BDC4-29C2-701EC2F67A71}"/>
              </a:ext>
            </a:extLst>
          </p:cNvPr>
          <p:cNvSpPr txBox="1"/>
          <p:nvPr/>
        </p:nvSpPr>
        <p:spPr>
          <a:xfrm>
            <a:off x="4547935" y="3444722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417634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8E2DE-781B-5080-4F70-81D6F0458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E788F-7ADC-5CD0-CC07-42CB67FA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68" y="183639"/>
            <a:ext cx="10515600" cy="1325563"/>
          </a:xfrm>
        </p:spPr>
        <p:txBody>
          <a:bodyPr/>
          <a:lstStyle/>
          <a:p>
            <a:r>
              <a:rPr lang="en-IN" dirty="0"/>
              <a:t>Exact Algorithm: Brute-Force </a:t>
            </a:r>
            <a:r>
              <a:rPr lang="en-IN" b="1" dirty="0"/>
              <a:t>(n−1)!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F60085-FCD6-2F2F-282C-8875A36A8FAD}"/>
              </a:ext>
            </a:extLst>
          </p:cNvPr>
          <p:cNvSpPr/>
          <p:nvPr/>
        </p:nvSpPr>
        <p:spPr>
          <a:xfrm>
            <a:off x="521368" y="1283369"/>
            <a:ext cx="10792326" cy="5117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685E5F-E951-87D1-8102-AA75B8B97563}"/>
              </a:ext>
            </a:extLst>
          </p:cNvPr>
          <p:cNvSpPr txBox="1"/>
          <p:nvPr/>
        </p:nvSpPr>
        <p:spPr>
          <a:xfrm>
            <a:off x="677779" y="1349826"/>
            <a:ext cx="10202778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function NAIVE_TSP(</a:t>
            </a:r>
            <a:r>
              <a:rPr lang="en-US" sz="2000" dirty="0" err="1"/>
              <a:t>cost_matrix</a:t>
            </a:r>
            <a:r>
              <a:rPr lang="en-US" sz="2000" dirty="0"/>
              <a:t>, n):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best_cost</a:t>
            </a:r>
            <a:r>
              <a:rPr lang="en-US" sz="2000" dirty="0"/>
              <a:t> = infinity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best_path</a:t>
            </a:r>
            <a:r>
              <a:rPr lang="en-US" sz="2000" dirty="0"/>
              <a:t> = none</a:t>
            </a:r>
          </a:p>
          <a:p>
            <a:r>
              <a:rPr lang="en-US" sz="2000" dirty="0"/>
              <a:t>    cities = [1, 2, ..., n-1]    # all other cities</a:t>
            </a:r>
          </a:p>
          <a:p>
            <a:r>
              <a:rPr lang="en-US" sz="2000" dirty="0"/>
              <a:t>    for each possible ordering (permutation) of these cities: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current_cost</a:t>
            </a:r>
            <a:r>
              <a:rPr lang="en-US" sz="2000" dirty="0"/>
              <a:t> = 0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current_city</a:t>
            </a:r>
            <a:r>
              <a:rPr lang="en-US" sz="2000" dirty="0"/>
              <a:t> = 0          #start from 0</a:t>
            </a:r>
          </a:p>
          <a:p>
            <a:r>
              <a:rPr lang="en-US" sz="2000" dirty="0"/>
              <a:t>        for </a:t>
            </a:r>
            <a:r>
              <a:rPr lang="en-US" sz="2000" dirty="0" err="1"/>
              <a:t>next_city</a:t>
            </a:r>
            <a:r>
              <a:rPr lang="en-US" sz="2000" dirty="0"/>
              <a:t> in permutation: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current_cost</a:t>
            </a:r>
            <a:r>
              <a:rPr lang="en-US" sz="2000" dirty="0"/>
              <a:t> += </a:t>
            </a:r>
            <a:r>
              <a:rPr lang="en-US" sz="2000" dirty="0" err="1"/>
              <a:t>cost_matrix</a:t>
            </a:r>
            <a:r>
              <a:rPr lang="en-US" sz="2000" dirty="0"/>
              <a:t>[</a:t>
            </a:r>
            <a:r>
              <a:rPr lang="en-US" sz="2000" dirty="0" err="1"/>
              <a:t>current_city</a:t>
            </a:r>
            <a:r>
              <a:rPr lang="en-US" sz="2000" dirty="0"/>
              <a:t>][</a:t>
            </a:r>
            <a:r>
              <a:rPr lang="en-US" sz="2000" dirty="0" err="1"/>
              <a:t>next_city</a:t>
            </a:r>
            <a:r>
              <a:rPr lang="en-US" sz="2000" dirty="0"/>
              <a:t>]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current_city</a:t>
            </a:r>
            <a:r>
              <a:rPr lang="en-US" sz="2000" dirty="0"/>
              <a:t> = </a:t>
            </a:r>
            <a:r>
              <a:rPr lang="en-US" sz="2000" dirty="0" err="1"/>
              <a:t>next_city</a:t>
            </a:r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current_cost</a:t>
            </a:r>
            <a:r>
              <a:rPr lang="en-US" sz="2000" dirty="0"/>
              <a:t> += </a:t>
            </a:r>
            <a:r>
              <a:rPr lang="en-US" sz="2000" dirty="0" err="1"/>
              <a:t>cost_matrix</a:t>
            </a:r>
            <a:r>
              <a:rPr lang="en-US" sz="2000" dirty="0"/>
              <a:t>[</a:t>
            </a:r>
            <a:r>
              <a:rPr lang="en-US" sz="2000" dirty="0" err="1"/>
              <a:t>current_city</a:t>
            </a:r>
            <a:r>
              <a:rPr lang="en-US" sz="2000" dirty="0"/>
              <a:t>][0]  #cost to return back to starting city</a:t>
            </a:r>
          </a:p>
          <a:p>
            <a:r>
              <a:rPr lang="en-US" sz="2000" dirty="0"/>
              <a:t>        if </a:t>
            </a:r>
            <a:r>
              <a:rPr lang="en-US" sz="2000" dirty="0" err="1"/>
              <a:t>current_cost</a:t>
            </a:r>
            <a:r>
              <a:rPr lang="en-US" sz="2000" dirty="0"/>
              <a:t> &lt; </a:t>
            </a:r>
            <a:r>
              <a:rPr lang="en-US" sz="2000" dirty="0" err="1"/>
              <a:t>best_cost</a:t>
            </a:r>
            <a:r>
              <a:rPr lang="en-US" sz="2000" dirty="0"/>
              <a:t>: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best_cost</a:t>
            </a:r>
            <a:r>
              <a:rPr lang="en-US" sz="2000" dirty="0"/>
              <a:t> = </a:t>
            </a:r>
            <a:r>
              <a:rPr lang="en-US" sz="2000" dirty="0" err="1"/>
              <a:t>current_cost</a:t>
            </a:r>
            <a:endParaRPr lang="en-US" sz="2000" dirty="0"/>
          </a:p>
          <a:p>
            <a:r>
              <a:rPr lang="en-US" sz="2000" dirty="0"/>
              <a:t>            </a:t>
            </a:r>
            <a:r>
              <a:rPr lang="en-US" sz="2000" dirty="0" err="1"/>
              <a:t>best_path</a:t>
            </a:r>
            <a:r>
              <a:rPr lang="en-US" sz="2000" dirty="0"/>
              <a:t> = [0] + permutation + [0]</a:t>
            </a:r>
          </a:p>
          <a:p>
            <a:r>
              <a:rPr lang="en-US" sz="2000" dirty="0"/>
              <a:t>    print("Best path:", </a:t>
            </a:r>
            <a:r>
              <a:rPr lang="en-US" sz="2000" dirty="0" err="1"/>
              <a:t>best_path</a:t>
            </a:r>
            <a:r>
              <a:rPr lang="en-US" sz="2000" dirty="0"/>
              <a:t>)</a:t>
            </a:r>
          </a:p>
          <a:p>
            <a:r>
              <a:rPr lang="en-US" sz="2000" dirty="0"/>
              <a:t>    print("Minimum cost:", </a:t>
            </a:r>
            <a:r>
              <a:rPr lang="en-US" sz="2000" dirty="0" err="1"/>
              <a:t>best_cost</a:t>
            </a:r>
            <a:r>
              <a:rPr lang="en-US" sz="2000" dirty="0"/>
              <a:t>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85872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5BA66-F7E6-EE78-35B5-502AAF9F4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8C81C-A968-60A3-F50E-E62EC5024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90" y="139872"/>
            <a:ext cx="10515600" cy="1325563"/>
          </a:xfrm>
        </p:spPr>
        <p:txBody>
          <a:bodyPr/>
          <a:lstStyle/>
          <a:p>
            <a:r>
              <a:rPr lang="en-IN" dirty="0"/>
              <a:t>Exact Algorithm: Dynamic programming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44F3F7D-9C2C-7234-12D8-536298C8AB6A}"/>
              </a:ext>
            </a:extLst>
          </p:cNvPr>
          <p:cNvSpPr/>
          <p:nvPr/>
        </p:nvSpPr>
        <p:spPr>
          <a:xfrm>
            <a:off x="505326" y="3317711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F2CA79-88AE-AA58-B6D0-D9D0CE11641B}"/>
              </a:ext>
            </a:extLst>
          </p:cNvPr>
          <p:cNvSpPr/>
          <p:nvPr/>
        </p:nvSpPr>
        <p:spPr>
          <a:xfrm>
            <a:off x="2374231" y="4788449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3B8C0FA-D0A0-9E7C-5D53-AD206AC4A21C}"/>
              </a:ext>
            </a:extLst>
          </p:cNvPr>
          <p:cNvSpPr/>
          <p:nvPr/>
        </p:nvSpPr>
        <p:spPr>
          <a:xfrm>
            <a:off x="4644189" y="3317710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E61047-400F-CFCC-5662-8212DAF52E91}"/>
              </a:ext>
            </a:extLst>
          </p:cNvPr>
          <p:cNvSpPr/>
          <p:nvPr/>
        </p:nvSpPr>
        <p:spPr>
          <a:xfrm>
            <a:off x="2245894" y="1846978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431F9E-3215-7EC5-0DD9-86673520FDAA}"/>
              </a:ext>
            </a:extLst>
          </p:cNvPr>
          <p:cNvCxnSpPr>
            <a:cxnSpLocks/>
            <a:stCxn id="4" idx="7"/>
            <a:endCxn id="7" idx="3"/>
          </p:cNvCxnSpPr>
          <p:nvPr/>
        </p:nvCxnSpPr>
        <p:spPr>
          <a:xfrm flipV="1">
            <a:off x="1299508" y="2555580"/>
            <a:ext cx="1082646" cy="883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087853-6C8A-FF62-ADE0-60C7242E8E30}"/>
              </a:ext>
            </a:extLst>
          </p:cNvPr>
          <p:cNvCxnSpPr>
            <a:cxnSpLocks/>
            <a:stCxn id="4" idx="5"/>
            <a:endCxn id="5" idx="1"/>
          </p:cNvCxnSpPr>
          <p:nvPr/>
        </p:nvCxnSpPr>
        <p:spPr>
          <a:xfrm>
            <a:off x="1299508" y="4026313"/>
            <a:ext cx="1210983" cy="883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7C2B1E-B152-4171-F628-9CC0670ECAF3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3168413" y="4026312"/>
            <a:ext cx="1612036" cy="883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8131D21-A541-CE78-5AA1-E36DCBC1EE8A}"/>
              </a:ext>
            </a:extLst>
          </p:cNvPr>
          <p:cNvCxnSpPr>
            <a:cxnSpLocks/>
            <a:stCxn id="6" idx="1"/>
            <a:endCxn id="7" idx="5"/>
          </p:cNvCxnSpPr>
          <p:nvPr/>
        </p:nvCxnSpPr>
        <p:spPr>
          <a:xfrm flipH="1" flipV="1">
            <a:off x="3040076" y="2555580"/>
            <a:ext cx="1740373" cy="883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2DAA1C0-F8C6-C03C-544A-360D033C04F9}"/>
              </a:ext>
            </a:extLst>
          </p:cNvPr>
          <p:cNvCxnSpPr>
            <a:cxnSpLocks/>
            <a:stCxn id="4" idx="6"/>
            <a:endCxn id="6" idx="2"/>
          </p:cNvCxnSpPr>
          <p:nvPr/>
        </p:nvCxnSpPr>
        <p:spPr>
          <a:xfrm flipV="1">
            <a:off x="1435768" y="3732800"/>
            <a:ext cx="320842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49B9DE-8021-99EA-B359-8E96AF515B74}"/>
              </a:ext>
            </a:extLst>
          </p:cNvPr>
          <p:cNvCxnSpPr>
            <a:cxnSpLocks/>
            <a:stCxn id="7" idx="4"/>
            <a:endCxn id="5" idx="0"/>
          </p:cNvCxnSpPr>
          <p:nvPr/>
        </p:nvCxnSpPr>
        <p:spPr>
          <a:xfrm>
            <a:off x="2711115" y="2677157"/>
            <a:ext cx="128337" cy="211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065BA04-5292-0839-D6C7-E779626F3CBF}"/>
              </a:ext>
            </a:extLst>
          </p:cNvPr>
          <p:cNvSpPr txBox="1"/>
          <p:nvPr/>
        </p:nvSpPr>
        <p:spPr>
          <a:xfrm>
            <a:off x="1294824" y="3968019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1DAF10-1B6F-0930-6535-E4458651F91D}"/>
              </a:ext>
            </a:extLst>
          </p:cNvPr>
          <p:cNvSpPr txBox="1"/>
          <p:nvPr/>
        </p:nvSpPr>
        <p:spPr>
          <a:xfrm>
            <a:off x="1250302" y="3104909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D2334E-8CF5-9E31-1D61-DDA758EEB974}"/>
              </a:ext>
            </a:extLst>
          </p:cNvPr>
          <p:cNvSpPr txBox="1"/>
          <p:nvPr/>
        </p:nvSpPr>
        <p:spPr>
          <a:xfrm>
            <a:off x="3017075" y="244918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52064F-2357-6718-D2E0-D74E1819AA16}"/>
              </a:ext>
            </a:extLst>
          </p:cNvPr>
          <p:cNvSpPr txBox="1"/>
          <p:nvPr/>
        </p:nvSpPr>
        <p:spPr>
          <a:xfrm>
            <a:off x="2587948" y="264390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75D25F-3758-BDF1-05FC-B74CF54F8BC4}"/>
              </a:ext>
            </a:extLst>
          </p:cNvPr>
          <p:cNvSpPr txBox="1"/>
          <p:nvPr/>
        </p:nvSpPr>
        <p:spPr>
          <a:xfrm>
            <a:off x="1471861" y="352617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20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5DB08A0-3E1F-1815-1838-89AF4678BFED}"/>
              </a:ext>
            </a:extLst>
          </p:cNvPr>
          <p:cNvGraphicFramePr>
            <a:graphicFrameLocks noGrp="1"/>
          </p:cNvGraphicFramePr>
          <p:nvPr/>
        </p:nvGraphicFramePr>
        <p:xfrm>
          <a:off x="7712242" y="2222477"/>
          <a:ext cx="3205748" cy="248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1437">
                  <a:extLst>
                    <a:ext uri="{9D8B030D-6E8A-4147-A177-3AD203B41FA5}">
                      <a16:colId xmlns:a16="http://schemas.microsoft.com/office/drawing/2014/main" val="3699116908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4051868618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3534584717"/>
                    </a:ext>
                  </a:extLst>
                </a:gridCol>
                <a:gridCol w="801437">
                  <a:extLst>
                    <a:ext uri="{9D8B030D-6E8A-4147-A177-3AD203B41FA5}">
                      <a16:colId xmlns:a16="http://schemas.microsoft.com/office/drawing/2014/main" val="298025804"/>
                    </a:ext>
                  </a:extLst>
                </a:gridCol>
              </a:tblGrid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89808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916820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360192"/>
                  </a:ext>
                </a:extLst>
              </a:tr>
              <a:tr h="620850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209878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AC08EDF7-700C-0CD3-85FA-1278FADD8987}"/>
              </a:ext>
            </a:extLst>
          </p:cNvPr>
          <p:cNvSpPr txBox="1"/>
          <p:nvPr/>
        </p:nvSpPr>
        <p:spPr>
          <a:xfrm>
            <a:off x="7712242" y="1709315"/>
            <a:ext cx="32057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A        B         C       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AB91EE-E14A-0E50-3932-554AD529D79A}"/>
              </a:ext>
            </a:extLst>
          </p:cNvPr>
          <p:cNvSpPr txBox="1"/>
          <p:nvPr/>
        </p:nvSpPr>
        <p:spPr>
          <a:xfrm>
            <a:off x="7079918" y="2248012"/>
            <a:ext cx="632324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800" b="1" dirty="0"/>
              <a:t>A        B       C       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8CE7CD-40F4-C49E-B115-2384443AA0F2}"/>
              </a:ext>
            </a:extLst>
          </p:cNvPr>
          <p:cNvSpPr txBox="1"/>
          <p:nvPr/>
        </p:nvSpPr>
        <p:spPr>
          <a:xfrm>
            <a:off x="2099556" y="2458057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F2B5AB-F0D5-2BBA-0960-02D05CE24A9D}"/>
              </a:ext>
            </a:extLst>
          </p:cNvPr>
          <p:cNvSpPr txBox="1"/>
          <p:nvPr/>
        </p:nvSpPr>
        <p:spPr>
          <a:xfrm>
            <a:off x="2610850" y="437168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57B6E3-8B0D-D73E-AAD7-F44633367C46}"/>
              </a:ext>
            </a:extLst>
          </p:cNvPr>
          <p:cNvSpPr txBox="1"/>
          <p:nvPr/>
        </p:nvSpPr>
        <p:spPr>
          <a:xfrm>
            <a:off x="4433586" y="3112451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A2CA21-D841-A6AC-423F-4AD74250AB5B}"/>
              </a:ext>
            </a:extLst>
          </p:cNvPr>
          <p:cNvSpPr txBox="1"/>
          <p:nvPr/>
        </p:nvSpPr>
        <p:spPr>
          <a:xfrm>
            <a:off x="2142205" y="454258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2CFD80-B727-CDF2-C3AC-CF1042075EDC}"/>
              </a:ext>
            </a:extLst>
          </p:cNvPr>
          <p:cNvSpPr txBox="1"/>
          <p:nvPr/>
        </p:nvSpPr>
        <p:spPr>
          <a:xfrm>
            <a:off x="3254460" y="4580065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2E8AA3-65EC-B446-7238-D6A492B2A42A}"/>
              </a:ext>
            </a:extLst>
          </p:cNvPr>
          <p:cNvSpPr txBox="1"/>
          <p:nvPr/>
        </p:nvSpPr>
        <p:spPr>
          <a:xfrm>
            <a:off x="4376919" y="3962429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291CE-6539-92FF-2BEB-D10C3CC81074}"/>
              </a:ext>
            </a:extLst>
          </p:cNvPr>
          <p:cNvSpPr txBox="1"/>
          <p:nvPr/>
        </p:nvSpPr>
        <p:spPr>
          <a:xfrm>
            <a:off x="4215061" y="355689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10C3BB-390D-F45B-8FCA-26894DF7A266}"/>
              </a:ext>
            </a:extLst>
          </p:cNvPr>
          <p:cNvSpPr/>
          <p:nvPr/>
        </p:nvSpPr>
        <p:spPr>
          <a:xfrm>
            <a:off x="3469105" y="5778868"/>
            <a:ext cx="4876800" cy="8837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500" b="1" dirty="0"/>
              <a:t>G{I, S} = min({Ik + g(K, S – {K})})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B47A97-7F59-72DF-24F8-067F10404F1A}"/>
              </a:ext>
            </a:extLst>
          </p:cNvPr>
          <p:cNvSpPr txBox="1"/>
          <p:nvPr/>
        </p:nvSpPr>
        <p:spPr>
          <a:xfrm>
            <a:off x="402390" y="1118921"/>
            <a:ext cx="113872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brute force re-computes the same paths again and again.</a:t>
            </a:r>
            <a:br>
              <a:rPr lang="en-US" dirty="0"/>
            </a:br>
            <a:r>
              <a:rPr lang="en-US" dirty="0"/>
              <a:t>DP avoids this repetition by </a:t>
            </a:r>
            <a:r>
              <a:rPr lang="en-US" b="1" dirty="0"/>
              <a:t>remembering the cost of subproblems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278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89E29-B7D9-44C9-BDB9-00C6EFFD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19E2C7-C39B-E55F-08AD-A91E835F4475}"/>
              </a:ext>
            </a:extLst>
          </p:cNvPr>
          <p:cNvSpPr/>
          <p:nvPr/>
        </p:nvSpPr>
        <p:spPr>
          <a:xfrm>
            <a:off x="561474" y="1411705"/>
            <a:ext cx="10792326" cy="52618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439EF-CCC1-E3DA-3388-A748D51CC433}"/>
              </a:ext>
            </a:extLst>
          </p:cNvPr>
          <p:cNvSpPr txBox="1"/>
          <p:nvPr/>
        </p:nvSpPr>
        <p:spPr>
          <a:xfrm>
            <a:off x="561474" y="1411705"/>
            <a:ext cx="10202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function DP_TSP(cost, n):</a:t>
            </a:r>
          </a:p>
          <a:p>
            <a:r>
              <a:rPr lang="en-US" sz="2000" dirty="0"/>
              <a:t>    for mask in range(0, 2^n):</a:t>
            </a:r>
          </a:p>
          <a:p>
            <a:r>
              <a:rPr lang="en-US" sz="2000" dirty="0"/>
              <a:t>        for </a:t>
            </a:r>
            <a:r>
              <a:rPr lang="en-US" sz="2000" dirty="0" err="1"/>
              <a:t>i</a:t>
            </a:r>
            <a:r>
              <a:rPr lang="en-US" sz="2000" dirty="0"/>
              <a:t> in range(n):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dp</a:t>
            </a:r>
            <a:r>
              <a:rPr lang="en-US" sz="2000" dirty="0"/>
              <a:t>[mask][</a:t>
            </a:r>
            <a:r>
              <a:rPr lang="en-US" sz="2000" dirty="0" err="1"/>
              <a:t>i</a:t>
            </a:r>
            <a:r>
              <a:rPr lang="en-US" sz="2000" dirty="0"/>
              <a:t>] = infinity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dp</a:t>
            </a:r>
            <a:r>
              <a:rPr lang="en-US" sz="2000" dirty="0"/>
              <a:t>[1][0] = 0    # start at city 0 (A), mask=0001</a:t>
            </a:r>
          </a:p>
          <a:p>
            <a:r>
              <a:rPr lang="en-US" sz="2000" dirty="0"/>
              <a:t>    for mask in range(1, 2^n):</a:t>
            </a:r>
          </a:p>
          <a:p>
            <a:r>
              <a:rPr lang="en-US" sz="2000" dirty="0"/>
              <a:t>        for current in range(n):</a:t>
            </a:r>
          </a:p>
          <a:p>
            <a:r>
              <a:rPr lang="en-US" sz="2000" dirty="0"/>
              <a:t>            if current is in mask:</a:t>
            </a:r>
          </a:p>
          <a:p>
            <a:r>
              <a:rPr lang="en-US" sz="2000" dirty="0"/>
              <a:t>                for </a:t>
            </a:r>
            <a:r>
              <a:rPr lang="en-US" sz="2000" dirty="0" err="1"/>
              <a:t>next_city</a:t>
            </a:r>
            <a:r>
              <a:rPr lang="en-US" sz="2000" dirty="0"/>
              <a:t> in range(n):</a:t>
            </a:r>
          </a:p>
          <a:p>
            <a:r>
              <a:rPr lang="en-US" sz="2000" dirty="0"/>
              <a:t>                    if </a:t>
            </a:r>
            <a:r>
              <a:rPr lang="en-US" sz="2000" dirty="0" err="1"/>
              <a:t>next_city</a:t>
            </a:r>
            <a:r>
              <a:rPr lang="en-US" sz="2000" dirty="0"/>
              <a:t> not in mask: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new_mask</a:t>
            </a:r>
            <a:r>
              <a:rPr lang="en-US" sz="2000" dirty="0"/>
              <a:t> = mask | (1 &lt;&lt; </a:t>
            </a:r>
            <a:r>
              <a:rPr lang="en-US" sz="2000" dirty="0" err="1"/>
              <a:t>next_city</a:t>
            </a:r>
            <a:r>
              <a:rPr lang="en-US" sz="2000" dirty="0"/>
              <a:t>)</a:t>
            </a:r>
          </a:p>
          <a:p>
            <a:r>
              <a:rPr lang="en-US" sz="2000" dirty="0"/>
              <a:t>                        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new_mask</a:t>
            </a:r>
            <a:r>
              <a:rPr lang="en-US" sz="2000" dirty="0"/>
              <a:t>][</a:t>
            </a:r>
            <a:r>
              <a:rPr lang="en-US" sz="2000" dirty="0" err="1"/>
              <a:t>next_city</a:t>
            </a:r>
            <a:r>
              <a:rPr lang="en-US" sz="2000" dirty="0"/>
              <a:t>] = min(</a:t>
            </a:r>
          </a:p>
          <a:p>
            <a:r>
              <a:rPr lang="en-US" sz="2000" dirty="0"/>
              <a:t>                            </a:t>
            </a:r>
            <a:r>
              <a:rPr lang="en-US" sz="2000" dirty="0" err="1"/>
              <a:t>dp</a:t>
            </a:r>
            <a:r>
              <a:rPr lang="en-US" sz="2000" dirty="0"/>
              <a:t>[</a:t>
            </a:r>
            <a:r>
              <a:rPr lang="en-US" sz="2000" dirty="0" err="1"/>
              <a:t>new_mask</a:t>
            </a:r>
            <a:r>
              <a:rPr lang="en-US" sz="2000" dirty="0"/>
              <a:t>][</a:t>
            </a:r>
            <a:r>
              <a:rPr lang="en-US" sz="2000" dirty="0" err="1"/>
              <a:t>next_city</a:t>
            </a:r>
            <a:r>
              <a:rPr lang="en-US" sz="2000" dirty="0"/>
              <a:t>],</a:t>
            </a:r>
          </a:p>
          <a:p>
            <a:r>
              <a:rPr lang="en-US" sz="2000" dirty="0"/>
              <a:t>                            </a:t>
            </a:r>
            <a:r>
              <a:rPr lang="en-US" sz="2000" dirty="0" err="1"/>
              <a:t>dp</a:t>
            </a:r>
            <a:r>
              <a:rPr lang="en-US" sz="2000" dirty="0"/>
              <a:t>[mask][current] + cost[current][</a:t>
            </a:r>
            <a:r>
              <a:rPr lang="en-US" sz="2000" dirty="0" err="1"/>
              <a:t>next_city</a:t>
            </a:r>
            <a:r>
              <a:rPr lang="en-US" sz="2000" dirty="0"/>
              <a:t>])</a:t>
            </a:r>
          </a:p>
          <a:p>
            <a:r>
              <a:rPr lang="en-US" sz="2000" dirty="0"/>
              <a:t>answer = infinity   # finally, return to starting city (A)</a:t>
            </a:r>
          </a:p>
          <a:p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range(1, n):</a:t>
            </a:r>
          </a:p>
          <a:p>
            <a:r>
              <a:rPr lang="en-US" sz="2000" dirty="0"/>
              <a:t>        answer = min(answer, </a:t>
            </a:r>
            <a:r>
              <a:rPr lang="en-US" sz="2000" dirty="0" err="1"/>
              <a:t>dp</a:t>
            </a:r>
            <a:r>
              <a:rPr lang="en-US" sz="2000" dirty="0"/>
              <a:t>[(1&lt;&lt;n)-1][</a:t>
            </a:r>
            <a:r>
              <a:rPr lang="en-US" sz="2000" dirty="0" err="1"/>
              <a:t>i</a:t>
            </a:r>
            <a:r>
              <a:rPr lang="en-US" sz="2000" dirty="0"/>
              <a:t>] + cost[</a:t>
            </a:r>
            <a:r>
              <a:rPr lang="en-US" sz="2000" dirty="0" err="1"/>
              <a:t>i</a:t>
            </a:r>
            <a:r>
              <a:rPr lang="en-US" sz="2000" dirty="0"/>
              <a:t>][0])</a:t>
            </a:r>
          </a:p>
          <a:p>
            <a:r>
              <a:rPr lang="en-US" sz="2000" dirty="0"/>
              <a:t>    </a:t>
            </a:r>
            <a:endParaRPr lang="en-IN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CCFB8B8-5452-A337-7348-A8D532AD2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10" y="184484"/>
            <a:ext cx="11726779" cy="1325563"/>
          </a:xfrm>
        </p:spPr>
        <p:txBody>
          <a:bodyPr/>
          <a:lstStyle/>
          <a:p>
            <a:r>
              <a:rPr lang="en-IN" dirty="0"/>
              <a:t>Exact Algorithm: Dynamic programming </a:t>
            </a:r>
            <a:r>
              <a:rPr lang="en-IN" b="1" dirty="0"/>
              <a:t>O(n² × 2ⁿ)</a:t>
            </a:r>
          </a:p>
        </p:txBody>
      </p:sp>
    </p:spTree>
    <p:extLst>
      <p:ext uri="{BB962C8B-B14F-4D97-AF65-F5344CB8AC3E}">
        <p14:creationId xmlns:p14="http://schemas.microsoft.com/office/powerpoint/2010/main" val="2328240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FE87B-2581-FF62-6BF0-6179DA5C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Polynomial Time (P)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BC7A5-6918-C1DF-14C7-F302C947D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There exists an algorithm that finds the correct answer in polynomial time (n^2, n^3, etc.)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385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12362-61E1-42A7-0831-9F6DB4681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DCB9D-FCB4-2DC6-7680-A90FC776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Non-Deterministic Polynomial Time (NP)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A66B6-A382-E219-7B60-832EADEF8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someone </a:t>
            </a:r>
            <a:r>
              <a:rPr lang="en-US" i="1" dirty="0"/>
              <a:t>gives you a solution</a:t>
            </a:r>
            <a:r>
              <a:rPr lang="en-US" dirty="0"/>
              <a:t>, you can</a:t>
            </a:r>
            <a:r>
              <a:rPr lang="en-US" b="1" dirty="0"/>
              <a:t> </a:t>
            </a:r>
            <a:r>
              <a:rPr lang="en-US" dirty="0"/>
              <a:t>verify</a:t>
            </a:r>
            <a:r>
              <a:rPr lang="en-US" b="1" dirty="0"/>
              <a:t> </a:t>
            </a:r>
            <a:r>
              <a:rPr lang="en-US" dirty="0"/>
              <a:t>if it’s correct in polynomial time.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4FB6080-3CAF-C418-A1B1-83F40F10E852}"/>
              </a:ext>
            </a:extLst>
          </p:cNvPr>
          <p:cNvSpPr/>
          <p:nvPr/>
        </p:nvSpPr>
        <p:spPr>
          <a:xfrm>
            <a:off x="356937" y="4392652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D008A27-BFF1-95F9-AB75-A8C35A7E64F5}"/>
              </a:ext>
            </a:extLst>
          </p:cNvPr>
          <p:cNvSpPr/>
          <p:nvPr/>
        </p:nvSpPr>
        <p:spPr>
          <a:xfrm>
            <a:off x="2225842" y="5863390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A217BB-37F6-F53A-21A8-8A8F69A7D090}"/>
              </a:ext>
            </a:extLst>
          </p:cNvPr>
          <p:cNvSpPr/>
          <p:nvPr/>
        </p:nvSpPr>
        <p:spPr>
          <a:xfrm>
            <a:off x="4495800" y="4392651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8DFF119-E2C2-4A87-D66C-B83216C3150B}"/>
              </a:ext>
            </a:extLst>
          </p:cNvPr>
          <p:cNvSpPr/>
          <p:nvPr/>
        </p:nvSpPr>
        <p:spPr>
          <a:xfrm>
            <a:off x="2097505" y="2921919"/>
            <a:ext cx="930442" cy="8301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39153B-BE70-2B9F-ED7B-F8F9887C1844}"/>
              </a:ext>
            </a:extLst>
          </p:cNvPr>
          <p:cNvCxnSpPr>
            <a:cxnSpLocks/>
            <a:stCxn id="27" idx="7"/>
            <a:endCxn id="30" idx="3"/>
          </p:cNvCxnSpPr>
          <p:nvPr/>
        </p:nvCxnSpPr>
        <p:spPr>
          <a:xfrm flipV="1">
            <a:off x="1151119" y="3630521"/>
            <a:ext cx="1082646" cy="883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4E0C4F-84A4-95A4-C257-A86FD4A58122}"/>
              </a:ext>
            </a:extLst>
          </p:cNvPr>
          <p:cNvCxnSpPr>
            <a:stCxn id="27" idx="5"/>
            <a:endCxn id="28" idx="1"/>
          </p:cNvCxnSpPr>
          <p:nvPr/>
        </p:nvCxnSpPr>
        <p:spPr>
          <a:xfrm>
            <a:off x="1151119" y="5101254"/>
            <a:ext cx="1210983" cy="8837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D1BF43D-DC1A-6098-1C3B-62A16ECD8C74}"/>
              </a:ext>
            </a:extLst>
          </p:cNvPr>
          <p:cNvCxnSpPr>
            <a:stCxn id="28" idx="7"/>
            <a:endCxn id="29" idx="3"/>
          </p:cNvCxnSpPr>
          <p:nvPr/>
        </p:nvCxnSpPr>
        <p:spPr>
          <a:xfrm flipV="1">
            <a:off x="3020024" y="5101253"/>
            <a:ext cx="1612036" cy="883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0186E7A-C08F-A9EF-7306-7517116DC69B}"/>
              </a:ext>
            </a:extLst>
          </p:cNvPr>
          <p:cNvCxnSpPr>
            <a:stCxn id="29" idx="1"/>
            <a:endCxn id="30" idx="5"/>
          </p:cNvCxnSpPr>
          <p:nvPr/>
        </p:nvCxnSpPr>
        <p:spPr>
          <a:xfrm flipH="1" flipV="1">
            <a:off x="2891687" y="3630521"/>
            <a:ext cx="1740373" cy="8837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75CFF7-5441-B59D-5D5E-59F6C0E2CE0A}"/>
              </a:ext>
            </a:extLst>
          </p:cNvPr>
          <p:cNvCxnSpPr>
            <a:stCxn id="27" idx="6"/>
            <a:endCxn id="29" idx="2"/>
          </p:cNvCxnSpPr>
          <p:nvPr/>
        </p:nvCxnSpPr>
        <p:spPr>
          <a:xfrm flipV="1">
            <a:off x="1287379" y="4807741"/>
            <a:ext cx="320842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32880E-299C-10CF-947D-84D23B9562E8}"/>
              </a:ext>
            </a:extLst>
          </p:cNvPr>
          <p:cNvCxnSpPr>
            <a:stCxn id="30" idx="4"/>
            <a:endCxn id="28" idx="0"/>
          </p:cNvCxnSpPr>
          <p:nvPr/>
        </p:nvCxnSpPr>
        <p:spPr>
          <a:xfrm>
            <a:off x="2562726" y="3752098"/>
            <a:ext cx="128337" cy="211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9FBE1AD-1422-B608-A64E-C7EC8A4841A2}"/>
              </a:ext>
            </a:extLst>
          </p:cNvPr>
          <p:cNvSpPr txBox="1"/>
          <p:nvPr/>
        </p:nvSpPr>
        <p:spPr>
          <a:xfrm>
            <a:off x="1146435" y="5042960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DC53F3-CE5C-477D-5F54-EDD7CAE18EBB}"/>
              </a:ext>
            </a:extLst>
          </p:cNvPr>
          <p:cNvSpPr txBox="1"/>
          <p:nvPr/>
        </p:nvSpPr>
        <p:spPr>
          <a:xfrm>
            <a:off x="1101913" y="4179850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C5256A-3D43-7E1E-8ACA-0E09CA83124F}"/>
              </a:ext>
            </a:extLst>
          </p:cNvPr>
          <p:cNvSpPr txBox="1"/>
          <p:nvPr/>
        </p:nvSpPr>
        <p:spPr>
          <a:xfrm>
            <a:off x="2868686" y="3524127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EC98DB-88CD-FA20-2AC7-7BF2BEB1FF2D}"/>
              </a:ext>
            </a:extLst>
          </p:cNvPr>
          <p:cNvSpPr txBox="1"/>
          <p:nvPr/>
        </p:nvSpPr>
        <p:spPr>
          <a:xfrm>
            <a:off x="2439559" y="371884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54EAC7-764E-CD60-9DD3-AB5AE8ED9715}"/>
              </a:ext>
            </a:extLst>
          </p:cNvPr>
          <p:cNvSpPr txBox="1"/>
          <p:nvPr/>
        </p:nvSpPr>
        <p:spPr>
          <a:xfrm>
            <a:off x="1323472" y="460111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278124-DF60-46E1-30C9-70CFCC83130D}"/>
              </a:ext>
            </a:extLst>
          </p:cNvPr>
          <p:cNvSpPr txBox="1"/>
          <p:nvPr/>
        </p:nvSpPr>
        <p:spPr>
          <a:xfrm>
            <a:off x="1951167" y="3532998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219E3D-6E63-EF15-FD82-D754C71C84DF}"/>
              </a:ext>
            </a:extLst>
          </p:cNvPr>
          <p:cNvSpPr txBox="1"/>
          <p:nvPr/>
        </p:nvSpPr>
        <p:spPr>
          <a:xfrm>
            <a:off x="2462461" y="5446622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8F2142-D5B7-CABA-41A9-FA7C19B3BCBD}"/>
              </a:ext>
            </a:extLst>
          </p:cNvPr>
          <p:cNvSpPr txBox="1"/>
          <p:nvPr/>
        </p:nvSpPr>
        <p:spPr>
          <a:xfrm>
            <a:off x="4285197" y="4187392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00DC6B-0B3C-0702-388B-72E971B53E9C}"/>
              </a:ext>
            </a:extLst>
          </p:cNvPr>
          <p:cNvSpPr txBox="1"/>
          <p:nvPr/>
        </p:nvSpPr>
        <p:spPr>
          <a:xfrm>
            <a:off x="1993816" y="561752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7EF0135-9ABC-0C93-60C9-DA8F34FC8D75}"/>
              </a:ext>
            </a:extLst>
          </p:cNvPr>
          <p:cNvSpPr txBox="1"/>
          <p:nvPr/>
        </p:nvSpPr>
        <p:spPr>
          <a:xfrm>
            <a:off x="3106071" y="5655006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241726-D908-0858-7508-C053A26C051D}"/>
              </a:ext>
            </a:extLst>
          </p:cNvPr>
          <p:cNvSpPr txBox="1"/>
          <p:nvPr/>
        </p:nvSpPr>
        <p:spPr>
          <a:xfrm>
            <a:off x="4228530" y="5037370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837ADBD-80F6-03DC-EF9D-6F3900229523}"/>
              </a:ext>
            </a:extLst>
          </p:cNvPr>
          <p:cNvSpPr txBox="1"/>
          <p:nvPr/>
        </p:nvSpPr>
        <p:spPr>
          <a:xfrm>
            <a:off x="4066672" y="4631837"/>
            <a:ext cx="8582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73985C-4D33-0938-B3BB-110EAF514D76}"/>
              </a:ext>
            </a:extLst>
          </p:cNvPr>
          <p:cNvSpPr txBox="1"/>
          <p:nvPr/>
        </p:nvSpPr>
        <p:spPr>
          <a:xfrm>
            <a:off x="6007669" y="2594801"/>
            <a:ext cx="54692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One candidate Tour: A -&gt; B -&gt; D -&gt; C -&gt; A</a:t>
            </a:r>
          </a:p>
          <a:p>
            <a:endParaRPr lang="en-IN" dirty="0"/>
          </a:p>
          <a:p>
            <a:r>
              <a:rPr lang="en-IN" dirty="0"/>
              <a:t>A -&gt; B = 10</a:t>
            </a:r>
            <a:br>
              <a:rPr lang="en-IN" dirty="0"/>
            </a:br>
            <a:r>
              <a:rPr lang="en-IN" dirty="0"/>
              <a:t>B -&gt; D = 10</a:t>
            </a:r>
            <a:br>
              <a:rPr lang="en-IN" dirty="0"/>
            </a:br>
            <a:r>
              <a:rPr lang="en-IN" dirty="0"/>
              <a:t>D -&gt; C = 9</a:t>
            </a:r>
          </a:p>
          <a:p>
            <a:r>
              <a:rPr lang="en-IN" dirty="0"/>
              <a:t>C -&gt; A = 6</a:t>
            </a:r>
          </a:p>
          <a:p>
            <a:r>
              <a:rPr lang="en-IN" dirty="0"/>
              <a:t>Total cost = 10 + 10 + 9 + 6 = 35</a:t>
            </a:r>
          </a:p>
          <a:p>
            <a:endParaRPr lang="en-IN" dirty="0"/>
          </a:p>
          <a:p>
            <a:r>
              <a:rPr lang="en-IN" dirty="0"/>
              <a:t>Verification:</a:t>
            </a:r>
          </a:p>
          <a:p>
            <a:pPr marL="342900" indent="-342900">
              <a:buAutoNum type="arabicPeriod"/>
            </a:pPr>
            <a:r>
              <a:rPr lang="en-IN" dirty="0"/>
              <a:t>Each vertex A, B, C, D appears exactly once and you return to the start. = O(n)</a:t>
            </a:r>
          </a:p>
          <a:p>
            <a:pPr marL="342900" indent="-342900">
              <a:buAutoNum type="arabicPeriod"/>
            </a:pPr>
            <a:r>
              <a:rPr lang="en-IN" dirty="0"/>
              <a:t>Look up costs requires you to sum of the traversed nodes’ costs = O(n)</a:t>
            </a:r>
          </a:p>
          <a:p>
            <a:pPr marL="342900" indent="-342900">
              <a:buAutoNum type="arabicPeriod"/>
            </a:pPr>
            <a:r>
              <a:rPr lang="en-IN" dirty="0"/>
              <a:t>Verification is polynomial time.</a:t>
            </a:r>
          </a:p>
        </p:txBody>
      </p:sp>
    </p:spTree>
    <p:extLst>
      <p:ext uri="{BB962C8B-B14F-4D97-AF65-F5344CB8AC3E}">
        <p14:creationId xmlns:p14="http://schemas.microsoft.com/office/powerpoint/2010/main" val="2127087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B03F1-20F4-E6BE-BBC5-4F8D70369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1498-8697-A3DF-F8AE-09308DEF5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Understanding Non-Deterministic Polynomial Time (NP)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67E0A-1984-BE75-9426-D25589A4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someone </a:t>
            </a:r>
            <a:r>
              <a:rPr lang="en-US" i="1" dirty="0"/>
              <a:t>gives you a solution</a:t>
            </a:r>
            <a:r>
              <a:rPr lang="en-US" dirty="0"/>
              <a:t>, you can</a:t>
            </a:r>
            <a:r>
              <a:rPr lang="en-US" b="1" dirty="0"/>
              <a:t> </a:t>
            </a:r>
            <a:r>
              <a:rPr lang="en-US" dirty="0"/>
              <a:t>verify</a:t>
            </a:r>
            <a:r>
              <a:rPr lang="en-US" b="1" dirty="0"/>
              <a:t> </a:t>
            </a:r>
            <a:r>
              <a:rPr lang="en-US" dirty="0"/>
              <a:t>if it’s correct in polynomial time.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59B25A-980E-372A-B198-E6174E2C7D7A}"/>
              </a:ext>
            </a:extLst>
          </p:cNvPr>
          <p:cNvSpPr/>
          <p:nvPr/>
        </p:nvSpPr>
        <p:spPr>
          <a:xfrm>
            <a:off x="838200" y="2820469"/>
            <a:ext cx="3986464" cy="988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NP-Complete</a:t>
            </a:r>
          </a:p>
          <a:p>
            <a:pPr algn="ctr"/>
            <a:r>
              <a:rPr lang="en-US" b="1" dirty="0"/>
              <a:t>Is there </a:t>
            </a:r>
            <a:r>
              <a:rPr lang="en-US" b="1" i="1" dirty="0"/>
              <a:t>a route</a:t>
            </a:r>
            <a:r>
              <a:rPr lang="en-US" b="1" dirty="0"/>
              <a:t> with total distance ≤ K?</a:t>
            </a:r>
            <a:endParaRPr lang="en-IN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C36A7E-2F03-F4AA-1D5C-F4234276950F}"/>
              </a:ext>
            </a:extLst>
          </p:cNvPr>
          <p:cNvSpPr/>
          <p:nvPr/>
        </p:nvSpPr>
        <p:spPr>
          <a:xfrm>
            <a:off x="7010400" y="2820469"/>
            <a:ext cx="3986464" cy="9883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NP-Hard</a:t>
            </a:r>
          </a:p>
          <a:p>
            <a:pPr algn="ctr"/>
            <a:r>
              <a:rPr lang="en-US" b="1" dirty="0"/>
              <a:t>What is the </a:t>
            </a:r>
            <a:r>
              <a:rPr lang="en-US" b="1" i="1" dirty="0"/>
              <a:t>shortest possible route</a:t>
            </a:r>
            <a:r>
              <a:rPr lang="en-US" b="1" dirty="0"/>
              <a:t> that visits all cities exactly once?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F8F965-3C41-F6CB-9223-1AB8F2B2CCE4}"/>
              </a:ext>
            </a:extLst>
          </p:cNvPr>
          <p:cNvSpPr txBox="1"/>
          <p:nvPr/>
        </p:nvSpPr>
        <p:spPr>
          <a:xfrm>
            <a:off x="362953" y="3938330"/>
            <a:ext cx="493695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They must satisfy 2 properties:</a:t>
            </a:r>
          </a:p>
          <a:p>
            <a:pPr marL="342900" indent="-342900">
              <a:buAutoNum type="arabicPeriod"/>
            </a:pPr>
            <a:r>
              <a:rPr lang="en-IN" sz="2000" dirty="0"/>
              <a:t>They are in NP (easy to verify a given solution), </a:t>
            </a:r>
            <a:r>
              <a:rPr lang="en-IN" sz="2000" dirty="0" err="1"/>
              <a:t>i.e</a:t>
            </a:r>
            <a:r>
              <a:rPr lang="en-IN" sz="2000" dirty="0"/>
              <a:t> verification = polynomial</a:t>
            </a:r>
          </a:p>
          <a:p>
            <a:pPr marL="342900" indent="-342900">
              <a:buAutoNum type="arabicPeriod"/>
            </a:pPr>
            <a:r>
              <a:rPr lang="en-IN" sz="2000" dirty="0"/>
              <a:t>Every other NP problem can be reduced to it. Finding the correct path = exponential.</a:t>
            </a:r>
          </a:p>
          <a:p>
            <a:r>
              <a:rPr lang="en-US" sz="2000" dirty="0"/>
              <a:t>Decision version of TSP.</a:t>
            </a:r>
            <a:r>
              <a:rPr lang="en-IN" sz="2000" dirty="0"/>
              <a:t> </a:t>
            </a:r>
            <a:r>
              <a:rPr lang="en-US" sz="2000" dirty="0"/>
              <a:t>You only need to decide whether such a route exists, not find the best one.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55AE68-A68E-31B5-B7BB-FD3B5FCCA408}"/>
              </a:ext>
            </a:extLst>
          </p:cNvPr>
          <p:cNvSpPr txBox="1"/>
          <p:nvPr/>
        </p:nvSpPr>
        <p:spPr>
          <a:xfrm>
            <a:off x="6348663" y="3961182"/>
            <a:ext cx="530993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These are at least as hard as NP-complete problems, but they might not even by NP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optimization version of the TSP (finding</a:t>
            </a:r>
            <a:r>
              <a:rPr lang="en-IN" sz="2000" dirty="0"/>
              <a:t> the shortest possible route) is NP-hard.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You must find the optimal (best) solution itself, not just check if one exists.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Finding or even verifying optimality isn’t polynomial-time feasible.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68444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7C1D-AD0D-DAB0-AFD5-9DBD09E7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2-Approximation Algorithm (APPROX-TSP-TOUR)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E739B1-D1AF-321B-EA44-5E7163069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04" y="1143429"/>
            <a:ext cx="2714457" cy="23653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27CC4E-698D-0034-972B-A017299E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886" y="4694684"/>
            <a:ext cx="2379496" cy="2008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4F234D-1D2E-57CD-5A59-32500D4F3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482" y="4694685"/>
            <a:ext cx="2373099" cy="2008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6EE72D-09EC-5649-C033-A08E48DC6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853" y="4640465"/>
            <a:ext cx="2429591" cy="21169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59A53CB-3800-13BC-726A-85F299DB56DC}"/>
              </a:ext>
            </a:extLst>
          </p:cNvPr>
          <p:cNvSpPr/>
          <p:nvPr/>
        </p:nvSpPr>
        <p:spPr>
          <a:xfrm>
            <a:off x="6952179" y="1143429"/>
            <a:ext cx="2989470" cy="4913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Complete undirected graph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818D28-4888-47A8-E104-0AC78961D98F}"/>
              </a:ext>
            </a:extLst>
          </p:cNvPr>
          <p:cNvSpPr/>
          <p:nvPr/>
        </p:nvSpPr>
        <p:spPr>
          <a:xfrm>
            <a:off x="623418" y="4044853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MST-Prim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1E2FF33-B55D-ACDA-CEAB-7066A08A3699}"/>
              </a:ext>
            </a:extLst>
          </p:cNvPr>
          <p:cNvSpPr/>
          <p:nvPr/>
        </p:nvSpPr>
        <p:spPr>
          <a:xfrm>
            <a:off x="4579080" y="4044853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Preorder walk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B07D4-3979-B5AC-B915-DB01CC46399B}"/>
              </a:ext>
            </a:extLst>
          </p:cNvPr>
          <p:cNvSpPr/>
          <p:nvPr/>
        </p:nvSpPr>
        <p:spPr>
          <a:xfrm>
            <a:off x="8661697" y="4048768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Corresponding Tour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62BE58-121E-02F2-49C2-72B05B9A3718}"/>
              </a:ext>
            </a:extLst>
          </p:cNvPr>
          <p:cNvSpPr txBox="1"/>
          <p:nvPr/>
        </p:nvSpPr>
        <p:spPr>
          <a:xfrm>
            <a:off x="645234" y="3348680"/>
            <a:ext cx="12954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dirty="0"/>
              <a:t>O(V^2)</a:t>
            </a:r>
          </a:p>
        </p:txBody>
      </p:sp>
    </p:spTree>
    <p:extLst>
      <p:ext uri="{BB962C8B-B14F-4D97-AF65-F5344CB8AC3E}">
        <p14:creationId xmlns:p14="http://schemas.microsoft.com/office/powerpoint/2010/main" val="2954663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1ADE-B446-B21A-81AB-9B8437FCD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50E9-D981-3BE9-4612-ECA4BEFD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2-Approximation Algorithm (APPROX-TSP-TOUR)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8A740-AF82-E060-F8A8-E4116DAFC8E0}"/>
              </a:ext>
            </a:extLst>
          </p:cNvPr>
          <p:cNvSpPr txBox="1"/>
          <p:nvPr/>
        </p:nvSpPr>
        <p:spPr>
          <a:xfrm>
            <a:off x="623418" y="1978423"/>
            <a:ext cx="7182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cost of this full walk is twice the cost of MST or the optimal tour</a:t>
            </a:r>
          </a:p>
          <a:p>
            <a:r>
              <a:rPr lang="en-IN" dirty="0"/>
              <a:t>a -&gt; b -&gt; c -&gt; b-&gt; h -&gt; b -&gt; a -&gt; d -&gt; e -&gt; f -&gt; e -&gt; g -&gt; e -&gt; d -&gt;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646D2E-3CD7-3290-EF93-28DE9DC6FDE8}"/>
              </a:ext>
            </a:extLst>
          </p:cNvPr>
          <p:cNvSpPr/>
          <p:nvPr/>
        </p:nvSpPr>
        <p:spPr>
          <a:xfrm>
            <a:off x="7806271" y="2028935"/>
            <a:ext cx="3897482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c(full walk) ≤ 2 × c(optimal tour)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BB383-5606-2CD1-1D65-24C67EC98CFB}"/>
              </a:ext>
            </a:extLst>
          </p:cNvPr>
          <p:cNvSpPr txBox="1"/>
          <p:nvPr/>
        </p:nvSpPr>
        <p:spPr>
          <a:xfrm>
            <a:off x="623418" y="2813147"/>
            <a:ext cx="71828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Hamiltonian cycle H is obtained by deleting vertices from the full walk W</a:t>
            </a:r>
          </a:p>
          <a:p>
            <a:r>
              <a:rPr lang="en-IN" dirty="0"/>
              <a:t>a -&gt; b -&gt; c -&gt; h -&gt; d -&gt; e -&gt; f -&gt; g</a:t>
            </a:r>
          </a:p>
          <a:p>
            <a:r>
              <a:rPr lang="en-IN" dirty="0"/>
              <a:t>(Triangle Inequality)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6A3192-C395-8EE9-FD9D-A7558D3E5221}"/>
              </a:ext>
            </a:extLst>
          </p:cNvPr>
          <p:cNvSpPr/>
          <p:nvPr/>
        </p:nvSpPr>
        <p:spPr>
          <a:xfrm>
            <a:off x="7806271" y="2822579"/>
            <a:ext cx="3897482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c(H) &lt;= c(W)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9A7EE4-5AB0-26C6-EB4D-5D732A36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886" y="4694684"/>
            <a:ext cx="2379496" cy="200849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529430E-18D7-5D8E-E5AE-74A3B9E46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482" y="4694685"/>
            <a:ext cx="2373099" cy="20084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A6A3491-0DEA-D8F8-1B12-828AFF2F6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6853" y="4640465"/>
            <a:ext cx="2429591" cy="211693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F2CFE34-0140-8C71-78D3-B5D6C0E8CB3C}"/>
              </a:ext>
            </a:extLst>
          </p:cNvPr>
          <p:cNvSpPr/>
          <p:nvPr/>
        </p:nvSpPr>
        <p:spPr>
          <a:xfrm>
            <a:off x="623418" y="4044853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MST-Prim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595EB9-CBA8-6145-460B-A364018B9993}"/>
              </a:ext>
            </a:extLst>
          </p:cNvPr>
          <p:cNvSpPr/>
          <p:nvPr/>
        </p:nvSpPr>
        <p:spPr>
          <a:xfrm>
            <a:off x="4579080" y="4044853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Preorder walk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4D72B4-176A-7126-D840-D87058A6EC4A}"/>
              </a:ext>
            </a:extLst>
          </p:cNvPr>
          <p:cNvSpPr/>
          <p:nvPr/>
        </p:nvSpPr>
        <p:spPr>
          <a:xfrm>
            <a:off x="8661697" y="4048768"/>
            <a:ext cx="2559904" cy="5413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Corresponding Tour</a:t>
            </a:r>
          </a:p>
        </p:txBody>
      </p:sp>
    </p:spTree>
    <p:extLst>
      <p:ext uri="{BB962C8B-B14F-4D97-AF65-F5344CB8AC3E}">
        <p14:creationId xmlns:p14="http://schemas.microsoft.com/office/powerpoint/2010/main" val="1696399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31F626-EE96-993E-027A-2E3A1A372DFF}"/>
              </a:ext>
            </a:extLst>
          </p:cNvPr>
          <p:cNvSpPr txBox="1"/>
          <p:nvPr/>
        </p:nvSpPr>
        <p:spPr>
          <a:xfrm>
            <a:off x="1062789" y="1091353"/>
            <a:ext cx="10026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If the triangle inequality holds, we can find a 2-approximation tour.</a:t>
            </a:r>
          </a:p>
          <a:p>
            <a:pPr algn="ctr"/>
            <a:r>
              <a:rPr lang="pl-PL" sz="2800" dirty="0"/>
              <a:t>c(u,v)</a:t>
            </a:r>
            <a:r>
              <a:rPr lang="en-IN" sz="2800" dirty="0"/>
              <a:t> </a:t>
            </a:r>
            <a:r>
              <a:rPr lang="pl-PL" sz="2800" dirty="0"/>
              <a:t>≤</a:t>
            </a:r>
            <a:r>
              <a:rPr lang="en-IN" sz="2800" dirty="0"/>
              <a:t> </a:t>
            </a:r>
            <a:r>
              <a:rPr lang="pl-PL" sz="2800" dirty="0"/>
              <a:t>c(u,w)</a:t>
            </a:r>
            <a:r>
              <a:rPr lang="en-IN" sz="2800" dirty="0"/>
              <a:t> </a:t>
            </a:r>
            <a:r>
              <a:rPr lang="pl-PL" sz="2800" dirty="0"/>
              <a:t>+</a:t>
            </a:r>
            <a:r>
              <a:rPr lang="en-IN" sz="2800" dirty="0"/>
              <a:t> </a:t>
            </a:r>
            <a:r>
              <a:rPr lang="pl-PL" sz="2800" dirty="0"/>
              <a:t>c(w,v)</a:t>
            </a:r>
            <a:endParaRPr lang="en-IN" sz="28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375173-BAA1-CE18-E302-7314148FE97B}"/>
              </a:ext>
            </a:extLst>
          </p:cNvPr>
          <p:cNvSpPr/>
          <p:nvPr/>
        </p:nvSpPr>
        <p:spPr>
          <a:xfrm>
            <a:off x="4953000" y="2776202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8D72FC-7FE9-B56A-EB55-B7C77D88423A}"/>
              </a:ext>
            </a:extLst>
          </p:cNvPr>
          <p:cNvSpPr/>
          <p:nvPr/>
        </p:nvSpPr>
        <p:spPr>
          <a:xfrm>
            <a:off x="6324600" y="2774351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4583925-A6CF-9FD9-B75C-2C011298F746}"/>
              </a:ext>
            </a:extLst>
          </p:cNvPr>
          <p:cNvCxnSpPr>
            <a:stCxn id="17" idx="6"/>
            <a:endCxn id="18" idx="2"/>
          </p:cNvCxnSpPr>
          <p:nvPr/>
        </p:nvCxnSpPr>
        <p:spPr>
          <a:xfrm flipV="1">
            <a:off x="5658852" y="3175404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440CE1B4-0CA2-B2D2-5BC5-DB85FDE702FA}"/>
              </a:ext>
            </a:extLst>
          </p:cNvPr>
          <p:cNvSpPr/>
          <p:nvPr/>
        </p:nvSpPr>
        <p:spPr>
          <a:xfrm>
            <a:off x="4351421" y="3850825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8F1F719-25B6-3B85-7F71-BAB1A581F154}"/>
              </a:ext>
            </a:extLst>
          </p:cNvPr>
          <p:cNvSpPr/>
          <p:nvPr/>
        </p:nvSpPr>
        <p:spPr>
          <a:xfrm>
            <a:off x="5723021" y="3848974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B2F10F-81CD-626A-E742-5BD14864AC59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 flipV="1">
            <a:off x="5057273" y="4250027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8FCB95C-51E0-03C1-994C-CA8DE869F759}"/>
              </a:ext>
            </a:extLst>
          </p:cNvPr>
          <p:cNvCxnSpPr/>
          <p:nvPr/>
        </p:nvCxnSpPr>
        <p:spPr>
          <a:xfrm flipV="1">
            <a:off x="6428873" y="4248175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707CD233-62DF-A0A8-9747-2BA3C917E0D2}"/>
              </a:ext>
            </a:extLst>
          </p:cNvPr>
          <p:cNvSpPr/>
          <p:nvPr/>
        </p:nvSpPr>
        <p:spPr>
          <a:xfrm>
            <a:off x="7134725" y="3848974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526C3B-76FB-7763-D29D-F62EF7B6AC18}"/>
              </a:ext>
            </a:extLst>
          </p:cNvPr>
          <p:cNvSpPr txBox="1"/>
          <p:nvPr/>
        </p:nvSpPr>
        <p:spPr>
          <a:xfrm>
            <a:off x="5795211" y="2625887"/>
            <a:ext cx="52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743E2D-7781-9FC6-FDB3-09AC53DE80FF}"/>
              </a:ext>
            </a:extLst>
          </p:cNvPr>
          <p:cNvSpPr txBox="1"/>
          <p:nvPr/>
        </p:nvSpPr>
        <p:spPr>
          <a:xfrm>
            <a:off x="6573257" y="4305347"/>
            <a:ext cx="52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D1E3E-4F8B-C62B-C23E-7D0672A066B7}"/>
              </a:ext>
            </a:extLst>
          </p:cNvPr>
          <p:cNvSpPr txBox="1"/>
          <p:nvPr/>
        </p:nvSpPr>
        <p:spPr>
          <a:xfrm>
            <a:off x="5173577" y="4322307"/>
            <a:ext cx="52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25833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205E4-9EA5-3ED9-4A73-B47B880A1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AEE532-3E21-6EBC-0861-E08C0ABDBA93}"/>
              </a:ext>
            </a:extLst>
          </p:cNvPr>
          <p:cNvSpPr txBox="1"/>
          <p:nvPr/>
        </p:nvSpPr>
        <p:spPr>
          <a:xfrm>
            <a:off x="1082842" y="4039430"/>
            <a:ext cx="100263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What if the triangle inequality does not hold?</a:t>
            </a:r>
          </a:p>
          <a:p>
            <a:pPr algn="ctr"/>
            <a:r>
              <a:rPr lang="en-IN" sz="2800" dirty="0"/>
              <a:t>When the triangle inequality does not hold, there is no polynomial-time approximation algorithm unless P = NP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74BA8E-9351-E77A-B5AE-58F8CBFAB30E}"/>
              </a:ext>
            </a:extLst>
          </p:cNvPr>
          <p:cNvSpPr/>
          <p:nvPr/>
        </p:nvSpPr>
        <p:spPr>
          <a:xfrm>
            <a:off x="4788568" y="1492834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0BCD6-AD4B-BB4F-3B4D-A0A0036E220E}"/>
              </a:ext>
            </a:extLst>
          </p:cNvPr>
          <p:cNvSpPr/>
          <p:nvPr/>
        </p:nvSpPr>
        <p:spPr>
          <a:xfrm>
            <a:off x="6160168" y="1490983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8D6C8C1-F90A-343D-847F-16B937610B54}"/>
              </a:ext>
            </a:extLst>
          </p:cNvPr>
          <p:cNvCxnSpPr>
            <a:stCxn id="17" idx="6"/>
            <a:endCxn id="18" idx="2"/>
          </p:cNvCxnSpPr>
          <p:nvPr/>
        </p:nvCxnSpPr>
        <p:spPr>
          <a:xfrm flipV="1">
            <a:off x="5494420" y="1892036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808A1A8-1E3C-BB79-498D-771C61130752}"/>
              </a:ext>
            </a:extLst>
          </p:cNvPr>
          <p:cNvSpPr/>
          <p:nvPr/>
        </p:nvSpPr>
        <p:spPr>
          <a:xfrm>
            <a:off x="4186989" y="2567457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053E3D-EDE8-2B1C-5717-DBCDDAA8DDD5}"/>
              </a:ext>
            </a:extLst>
          </p:cNvPr>
          <p:cNvSpPr/>
          <p:nvPr/>
        </p:nvSpPr>
        <p:spPr>
          <a:xfrm>
            <a:off x="5558589" y="2565606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0FC7D3-1C74-F053-35FB-8B3777AB5836}"/>
              </a:ext>
            </a:extLst>
          </p:cNvPr>
          <p:cNvCxnSpPr>
            <a:stCxn id="20" idx="6"/>
            <a:endCxn id="21" idx="2"/>
          </p:cNvCxnSpPr>
          <p:nvPr/>
        </p:nvCxnSpPr>
        <p:spPr>
          <a:xfrm flipV="1">
            <a:off x="4892841" y="2966659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C0F3223-DAC1-B55F-C15B-A6B69B07D50B}"/>
              </a:ext>
            </a:extLst>
          </p:cNvPr>
          <p:cNvCxnSpPr/>
          <p:nvPr/>
        </p:nvCxnSpPr>
        <p:spPr>
          <a:xfrm flipV="1">
            <a:off x="6264441" y="2964807"/>
            <a:ext cx="665748" cy="185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54F80A87-AA97-CED0-75A5-0F58928AFC19}"/>
              </a:ext>
            </a:extLst>
          </p:cNvPr>
          <p:cNvSpPr/>
          <p:nvPr/>
        </p:nvSpPr>
        <p:spPr>
          <a:xfrm>
            <a:off x="6970293" y="2565606"/>
            <a:ext cx="705852" cy="80210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2C1325-E014-3933-57A7-EC462F1891CE}"/>
              </a:ext>
            </a:extLst>
          </p:cNvPr>
          <p:cNvSpPr txBox="1"/>
          <p:nvPr/>
        </p:nvSpPr>
        <p:spPr>
          <a:xfrm>
            <a:off x="5526506" y="1325727"/>
            <a:ext cx="6336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10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4706CC-4D30-8545-7790-8FCBC4E09807}"/>
              </a:ext>
            </a:extLst>
          </p:cNvPr>
          <p:cNvSpPr txBox="1"/>
          <p:nvPr/>
        </p:nvSpPr>
        <p:spPr>
          <a:xfrm>
            <a:off x="4997114" y="2977867"/>
            <a:ext cx="52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BE3B77-4F8D-6C0E-0C97-39E8ADCFBF60}"/>
              </a:ext>
            </a:extLst>
          </p:cNvPr>
          <p:cNvSpPr txBox="1"/>
          <p:nvPr/>
        </p:nvSpPr>
        <p:spPr>
          <a:xfrm>
            <a:off x="6420852" y="2949046"/>
            <a:ext cx="52938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000" b="1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DF35F7-5247-F1BD-754A-D74078AD832D}"/>
              </a:ext>
            </a:extLst>
          </p:cNvPr>
          <p:cNvSpPr txBox="1"/>
          <p:nvPr/>
        </p:nvSpPr>
        <p:spPr>
          <a:xfrm>
            <a:off x="673768" y="673768"/>
            <a:ext cx="26389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indirect route can suddenly become </a:t>
            </a:r>
            <a:r>
              <a:rPr lang="en-US" i="1" dirty="0"/>
              <a:t>cheaper</a:t>
            </a:r>
            <a:r>
              <a:rPr lang="en-US" dirty="0"/>
              <a:t> than the direct route.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0C886-EBE0-EBF8-BA0D-CAAA50A2EE2A}"/>
              </a:ext>
            </a:extLst>
          </p:cNvPr>
          <p:cNvSpPr txBox="1"/>
          <p:nvPr/>
        </p:nvSpPr>
        <p:spPr>
          <a:xfrm>
            <a:off x="8261685" y="673768"/>
            <a:ext cx="3256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breaks the logic behind all approximation algorithms </a:t>
            </a:r>
          </a:p>
          <a:p>
            <a:pPr algn="ctr"/>
            <a:r>
              <a:rPr lang="en-US" dirty="0"/>
              <a:t>(since they rely on shortcutting)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41459E-BABF-C20C-7D5A-FED8C3357653}"/>
              </a:ext>
            </a:extLst>
          </p:cNvPr>
          <p:cNvSpPr txBox="1"/>
          <p:nvPr/>
        </p:nvSpPr>
        <p:spPr>
          <a:xfrm>
            <a:off x="1652336" y="5771127"/>
            <a:ext cx="88873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without triangle inequality</a:t>
            </a:r>
            <a:r>
              <a:rPr lang="en-US" dirty="0"/>
              <a:t>, you could unknowingly skip a “cheaper indirect path”, </a:t>
            </a:r>
            <a:r>
              <a:rPr lang="en-US" dirty="0" err="1"/>
              <a:t>i.e</a:t>
            </a:r>
            <a:r>
              <a:rPr lang="en-US" dirty="0"/>
              <a:t> meaning any polynomial-time algorithm might miss the optimal by an </a:t>
            </a:r>
            <a:r>
              <a:rPr lang="en-US" i="1" dirty="0"/>
              <a:t>arbitrarily large factor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5383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1A0E3-E7D5-2387-9BC9-05243D273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C86AA-5302-DCD4-8AB4-FF379291F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68" y="183639"/>
            <a:ext cx="10515600" cy="1325563"/>
          </a:xfrm>
        </p:spPr>
        <p:txBody>
          <a:bodyPr>
            <a:normAutofit/>
          </a:bodyPr>
          <a:lstStyle/>
          <a:p>
            <a:r>
              <a:rPr lang="en-IN" sz="3800" dirty="0"/>
              <a:t>APPROX-TSP-TOUR </a:t>
            </a:r>
            <a:r>
              <a:rPr lang="en-IN" sz="3800" b="1" dirty="0"/>
              <a:t>O(n² ) + 0(n) </a:t>
            </a:r>
            <a:r>
              <a:rPr lang="en-IN" sz="3800" dirty="0"/>
              <a:t>or</a:t>
            </a:r>
            <a:r>
              <a:rPr lang="en-IN" sz="3800" b="1" dirty="0"/>
              <a:t> O(n² log n) + O(n)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130F40-F449-FF8D-9B76-F4764E84DAA2}"/>
              </a:ext>
            </a:extLst>
          </p:cNvPr>
          <p:cNvSpPr/>
          <p:nvPr/>
        </p:nvSpPr>
        <p:spPr>
          <a:xfrm>
            <a:off x="521368" y="1283369"/>
            <a:ext cx="10792326" cy="5117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B151D5-33FA-99EA-CAA3-9A5DCD382756}"/>
              </a:ext>
            </a:extLst>
          </p:cNvPr>
          <p:cNvSpPr txBox="1"/>
          <p:nvPr/>
        </p:nvSpPr>
        <p:spPr>
          <a:xfrm>
            <a:off x="677779" y="1349826"/>
            <a:ext cx="1020277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function APPROX_TSP_MST(cost, n):</a:t>
            </a:r>
          </a:p>
          <a:p>
            <a:r>
              <a:rPr lang="en-US" sz="2000" dirty="0"/>
              <a:t>    # Step 1: Find MST of the graph</a:t>
            </a:r>
          </a:p>
          <a:p>
            <a:r>
              <a:rPr lang="en-US" sz="2000" dirty="0"/>
              <a:t>    T = PRIM_MST(cost, n)</a:t>
            </a:r>
          </a:p>
          <a:p>
            <a:endParaRPr lang="en-US" sz="2000" dirty="0"/>
          </a:p>
          <a:p>
            <a:r>
              <a:rPr lang="en-US" sz="2000" dirty="0"/>
              <a:t>    # Step 2: Perform preorder traversal of the MST</a:t>
            </a:r>
          </a:p>
          <a:p>
            <a:r>
              <a:rPr lang="en-US" sz="2000" dirty="0"/>
              <a:t>    order = PREORDER(T, start=0)</a:t>
            </a:r>
          </a:p>
          <a:p>
            <a:endParaRPr lang="en-US" sz="2000" dirty="0"/>
          </a:p>
          <a:p>
            <a:r>
              <a:rPr lang="en-US" sz="2000" dirty="0"/>
              <a:t>    # Step 3: Visit cities in this order, return to start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total_cost</a:t>
            </a:r>
            <a:r>
              <a:rPr lang="en-US" sz="2000" dirty="0"/>
              <a:t> = 0</a:t>
            </a:r>
          </a:p>
          <a:p>
            <a:r>
              <a:rPr lang="en-US" sz="2000" dirty="0"/>
              <a:t>    for </a:t>
            </a:r>
            <a:r>
              <a:rPr lang="en-US" sz="2000" dirty="0" err="1"/>
              <a:t>i</a:t>
            </a:r>
            <a:r>
              <a:rPr lang="en-US" sz="2000" dirty="0"/>
              <a:t> in range(</a:t>
            </a:r>
            <a:r>
              <a:rPr lang="en-US" sz="2000" dirty="0" err="1"/>
              <a:t>len</a:t>
            </a:r>
            <a:r>
              <a:rPr lang="en-US" sz="2000" dirty="0"/>
              <a:t>(order) - 1):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total_cost</a:t>
            </a:r>
            <a:r>
              <a:rPr lang="en-US" sz="2000" dirty="0"/>
              <a:t> += cost[order[</a:t>
            </a:r>
            <a:r>
              <a:rPr lang="en-US" sz="2000" dirty="0" err="1"/>
              <a:t>i</a:t>
            </a:r>
            <a:r>
              <a:rPr lang="en-US" sz="2000" dirty="0"/>
              <a:t>]][order[i+1]]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total_cost</a:t>
            </a:r>
            <a:r>
              <a:rPr lang="en-US" sz="2000" dirty="0"/>
              <a:t> += cost[order[-1]][order[0]]</a:t>
            </a:r>
          </a:p>
          <a:p>
            <a:endParaRPr lang="en-US" sz="2000" dirty="0"/>
          </a:p>
          <a:p>
            <a:r>
              <a:rPr lang="en-US" sz="2000" dirty="0"/>
              <a:t>    print("Approximate tour:", order + [order[0]])</a:t>
            </a:r>
          </a:p>
          <a:p>
            <a:r>
              <a:rPr lang="en-US" sz="2000" dirty="0"/>
              <a:t>    print("Approximate cost:", </a:t>
            </a:r>
            <a:r>
              <a:rPr lang="en-US" sz="2000" dirty="0" err="1"/>
              <a:t>total_cost</a:t>
            </a:r>
            <a:r>
              <a:rPr lang="en-US" sz="2000" dirty="0"/>
              <a:t>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82492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C53F48-E165-6FC5-17EF-212AFFC3225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IN" sz="3000" b="1" dirty="0"/>
                  <a:t>Q. </a:t>
                </a:r>
                <a:r>
                  <a:rPr lang="en-IN" sz="3000" dirty="0"/>
                  <a:t>Suppose a complete undirected graph </a:t>
                </a:r>
                <a14:m>
                  <m:oMath xmlns:m="http://schemas.openxmlformats.org/officeDocument/2006/math">
                    <m:r>
                      <a:rPr lang="en-IN" sz="3000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IN" sz="3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ar-AE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IN" sz="3000" dirty="0"/>
                  <a:t>with at least 3 vertices has a cost function </a:t>
                </a:r>
                <a14:m>
                  <m:oMath xmlns:m="http://schemas.openxmlformats.org/officeDocument/2006/math">
                    <m:r>
                      <a:rPr lang="en-IN" sz="3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3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000" dirty="0"/>
                  <a:t>that satisfies the triangle inequality. Prove that </a:t>
                </a:r>
                <a14:m>
                  <m:oMath xmlns:m="http://schemas.openxmlformats.org/officeDocument/2006/math">
                    <m:r>
                      <a:rPr lang="en-IN" sz="3000" i="1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sepChr m:val=","/>
                        <m:ctrlPr>
                          <a:rPr lang="ar-AE" sz="3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e>
                        <m:r>
                          <a:rPr lang="ar-AE" sz="3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ar-AE" sz="3000">
                        <a:latin typeface="Cambria Math" panose="02040503050406030204" pitchFamily="18" charset="0"/>
                      </a:rPr>
                      <m:t>≥</m:t>
                    </m:r>
                    <m:r>
                      <a:rPr lang="ar-AE" sz="30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3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000" dirty="0"/>
                  <a:t>for all </a:t>
                </a:r>
                <a14:m>
                  <m:oMath xmlns:m="http://schemas.openxmlformats.org/officeDocument/2006/math">
                    <m:r>
                      <a:rPr lang="en-IN" sz="3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30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3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30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3000" i="1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IN" sz="3000" dirty="0"/>
                  <a:t>.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BC53F48-E165-6FC5-17EF-212AFFC322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91" t="-9217" r="-696" b="-1474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9E915-8277-2D28-E689-248543D001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92187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IN" dirty="0"/>
                  <a:t>Let us assume simple graph with 3 vertices: A, B, C</a:t>
                </a:r>
              </a:p>
              <a:p>
                <a:r>
                  <a:rPr lang="en-IN" dirty="0"/>
                  <a:t>Each edge has a cost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sepChr m:val=",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IN" dirty="0"/>
                  <a:t>and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ar-AE" dirty="0"/>
                  <a:t>.</a:t>
                </a:r>
                <a:endParaRPr lang="en-IN" dirty="0"/>
              </a:p>
              <a:p>
                <a:r>
                  <a:rPr lang="en-IN" dirty="0"/>
                  <a:t>Triangle inequality says: </a:t>
                </a:r>
                <a:r>
                  <a:rPr lang="en-US" dirty="0"/>
                  <a:t>the direct edge between two vertices should be no longer than going through a third one. </a:t>
                </a:r>
              </a:p>
              <a:p>
                <a:r>
                  <a:rPr lang="en-IN" dirty="0"/>
                  <a:t>Suppose one edge is negative: c(A,B) = -5 and other edges are positive c(A,C) = 2 and c(C,B) = 3</a:t>
                </a:r>
              </a:p>
              <a:p>
                <a:r>
                  <a:rPr lang="en-IN" dirty="0"/>
                  <a:t> Check the Triangle inequality: c(A,C) ≤ c(A,B) + c(C,B)</a:t>
                </a:r>
              </a:p>
              <a:p>
                <a:r>
                  <a:rPr lang="en-IN" dirty="0"/>
                  <a:t>2 &lt;= -2 </a:t>
                </a:r>
                <a:r>
                  <a:rPr lang="en-IN" b="1" dirty="0"/>
                  <a:t>FALSE</a:t>
                </a:r>
              </a:p>
              <a:p>
                <a:r>
                  <a:rPr lang="en-US" dirty="0"/>
                  <a:t>If any edge is negative, at least one of the triangle inequalities will fail.</a:t>
                </a: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069E915-8277-2D28-E689-248543D001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921878"/>
                <a:ext cx="10515600" cy="4351338"/>
              </a:xfrm>
              <a:blipFill>
                <a:blip r:embed="rId4"/>
                <a:stretch>
                  <a:fillRect l="-1043" t="-2241" r="-1855" b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9702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CE9E-7BB7-C231-6F4A-794CE3F70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11B459-4771-1C72-C171-CA8665B2E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 to Algorithms by </a:t>
            </a:r>
            <a:r>
              <a:rPr lang="en-US" dirty="0" err="1"/>
              <a:t>Cormen</a:t>
            </a:r>
            <a:r>
              <a:rPr lang="en-US" dirty="0"/>
              <a:t>, </a:t>
            </a:r>
            <a:r>
              <a:rPr lang="en-US" dirty="0" err="1"/>
              <a:t>Leiserson</a:t>
            </a:r>
            <a:r>
              <a:rPr lang="en-US" dirty="0"/>
              <a:t>, Rivest, and Stein</a:t>
            </a:r>
          </a:p>
          <a:p>
            <a:r>
              <a:rPr lang="en-IN" dirty="0">
                <a:hlinkClick r:id="rId2"/>
              </a:rPr>
              <a:t>Traveling Salesman Algorithms</a:t>
            </a:r>
            <a:endParaRPr lang="en-IN" dirty="0"/>
          </a:p>
          <a:p>
            <a:r>
              <a:rPr lang="en-IN" dirty="0">
                <a:hlinkClick r:id="rId3"/>
              </a:rPr>
              <a:t>Travelling Salesman Problem (TSP): Algorithm, Examples, Complexity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8517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332</TotalTime>
  <Words>2051</Words>
  <Application>Microsoft Office PowerPoint</Application>
  <PresentationFormat>Widescreen</PresentationFormat>
  <Paragraphs>269</Paragraphs>
  <Slides>18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Barlow Condensed</vt:lpstr>
      <vt:lpstr>Calibri</vt:lpstr>
      <vt:lpstr>Calibri Light</vt:lpstr>
      <vt:lpstr>Cambria Math</vt:lpstr>
      <vt:lpstr>Office Theme</vt:lpstr>
      <vt:lpstr>Travelling Salesperson Problem</vt:lpstr>
      <vt:lpstr>PowerPoint Presentation</vt:lpstr>
      <vt:lpstr>PowerPoint Presentation</vt:lpstr>
      <vt:lpstr>Approaches to solving TSP</vt:lpstr>
      <vt:lpstr>Exact Algorithm: Brute-Force</vt:lpstr>
      <vt:lpstr>Exact Algorithm: Brute-Force (n−1)!</vt:lpstr>
      <vt:lpstr>Exact Algorithm: Dynamic programming</vt:lpstr>
      <vt:lpstr>Exact Algorithm: Dynamic programming O(n² × 2ⁿ)</vt:lpstr>
      <vt:lpstr>Understanding Polynomial Time (P)</vt:lpstr>
      <vt:lpstr>Understanding Non-Deterministic Polynomial Time (NP)</vt:lpstr>
      <vt:lpstr>Understanding Non-Deterministic Polynomial Time (NP)</vt:lpstr>
      <vt:lpstr>The 2-Approximation Algorithm (APPROX-TSP-TOUR)</vt:lpstr>
      <vt:lpstr>The 2-Approximation Algorithm (APPROX-TSP-TOUR)</vt:lpstr>
      <vt:lpstr>PowerPoint Presentation</vt:lpstr>
      <vt:lpstr>PowerPoint Presentation</vt:lpstr>
      <vt:lpstr>APPROX-TSP-TOUR O(n² ) + 0(n) or O(n² log n) + O(n)</vt:lpstr>
      <vt:lpstr>Q. Suppose a complete undirected graph G=(Vⓜ,E)with at least 3 vertices has a cost function c that satisfies the triangle inequality. Prove that c(uⓜ,v)≥0 for all u,v∈V.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Bhaavya Ramita</dc:creator>
  <cp:lastModifiedBy>Bhaavya Ramita</cp:lastModifiedBy>
  <cp:revision>2</cp:revision>
  <dcterms:created xsi:type="dcterms:W3CDTF">2025-10-27T19:55:37Z</dcterms:created>
  <dcterms:modified xsi:type="dcterms:W3CDTF">2025-10-28T07:53:07Z</dcterms:modified>
</cp:coreProperties>
</file>
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Lst>
  <p:notesMasterIdLst>
    <p:notesMasterId r:id="rId49"/>
  </p:notesMasterIdLst>
  <p:handoutMasterIdLst>
    <p:handoutMasterId r:id="rId50"/>
  </p:handoutMasterIdLst>
  <p:sldIdLst>
    <p:sldId id="299" r:id="rId2"/>
    <p:sldId id="418" r:id="rId3"/>
    <p:sldId id="349" r:id="rId4"/>
    <p:sldId id="335" r:id="rId5"/>
    <p:sldId id="334" r:id="rId6"/>
    <p:sldId id="409" r:id="rId7"/>
    <p:sldId id="387" r:id="rId8"/>
    <p:sldId id="356" r:id="rId9"/>
    <p:sldId id="412" r:id="rId10"/>
    <p:sldId id="419" r:id="rId11"/>
    <p:sldId id="394" r:id="rId12"/>
    <p:sldId id="395" r:id="rId13"/>
    <p:sldId id="396" r:id="rId14"/>
    <p:sldId id="420" r:id="rId15"/>
    <p:sldId id="357" r:id="rId16"/>
    <p:sldId id="358" r:id="rId17"/>
    <p:sldId id="360" r:id="rId18"/>
    <p:sldId id="361" r:id="rId19"/>
    <p:sldId id="365" r:id="rId20"/>
    <p:sldId id="416" r:id="rId21"/>
    <p:sldId id="369" r:id="rId22"/>
    <p:sldId id="368" r:id="rId23"/>
    <p:sldId id="371" r:id="rId24"/>
    <p:sldId id="370" r:id="rId25"/>
    <p:sldId id="375" r:id="rId26"/>
    <p:sldId id="377" r:id="rId27"/>
    <p:sldId id="421" r:id="rId28"/>
    <p:sldId id="384" r:id="rId29"/>
    <p:sldId id="385" r:id="rId30"/>
    <p:sldId id="386" r:id="rId31"/>
    <p:sldId id="422" r:id="rId32"/>
    <p:sldId id="397" r:id="rId33"/>
    <p:sldId id="398" r:id="rId34"/>
    <p:sldId id="399" r:id="rId35"/>
    <p:sldId id="425" r:id="rId36"/>
    <p:sldId id="400" r:id="rId37"/>
    <p:sldId id="406" r:id="rId38"/>
    <p:sldId id="402" r:id="rId39"/>
    <p:sldId id="423" r:id="rId40"/>
    <p:sldId id="413" r:id="rId41"/>
    <p:sldId id="414" r:id="rId42"/>
    <p:sldId id="424" r:id="rId43"/>
    <p:sldId id="404" r:id="rId44"/>
    <p:sldId id="405" r:id="rId45"/>
    <p:sldId id="407" r:id="rId46"/>
    <p:sldId id="408" r:id="rId47"/>
    <p:sldId id="411" r:id="rId48"/>
  </p:sldIdLst>
  <p:sldSz cx="9144000" cy="6858000" type="screen4x3"/>
  <p:notesSz cx="6858000" cy="9144000"/>
  <p:defaultTextStyle>
    <a:defPPr>
      <a:defRPr lang="en-AU"/>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021"/>
    <a:srgbClr val="007601"/>
    <a:srgbClr val="1577F2"/>
    <a:srgbClr val="1360C2"/>
    <a:srgbClr val="28498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21" d="100"/>
          <a:sy n="21" d="100"/>
        </p:scale>
        <p:origin x="1661"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20" d="100"/>
          <a:sy n="120" d="100"/>
        </p:scale>
        <p:origin x="-1088" y="2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999B8F8C-D0D8-455E-CE7C-A5EAB98CE7F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Calibri"/>
                <a:ea typeface="ＭＳ Ｐゴシック" charset="-128"/>
                <a:cs typeface="ＭＳ Ｐゴシック" charset="-128"/>
              </a:defRPr>
            </a:lvl1pPr>
          </a:lstStyle>
          <a:p>
            <a:pPr>
              <a:defRPr/>
            </a:pPr>
            <a:endParaRPr lang="en-US"/>
          </a:p>
        </p:txBody>
      </p:sp>
      <p:sp>
        <p:nvSpPr>
          <p:cNvPr id="62467" name="Rectangle 3">
            <a:extLst>
              <a:ext uri="{FF2B5EF4-FFF2-40B4-BE49-F238E27FC236}">
                <a16:creationId xmlns:a16="http://schemas.microsoft.com/office/drawing/2014/main" id="{FF222D2E-D1C9-705E-F672-7254F4D6CB37}"/>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Calibri" panose="020F0502020204030204" pitchFamily="34" charset="0"/>
              </a:defRPr>
            </a:lvl1pPr>
          </a:lstStyle>
          <a:p>
            <a:pPr>
              <a:defRPr/>
            </a:pPr>
            <a:fld id="{B4023AA9-E3E0-49DD-B4AF-D950CF27081C}" type="datetime1">
              <a:rPr lang="en-US" altLang="en-US"/>
              <a:pPr>
                <a:defRPr/>
              </a:pPr>
              <a:t>1/30/2026</a:t>
            </a:fld>
            <a:endParaRPr lang="en-US" altLang="en-US"/>
          </a:p>
        </p:txBody>
      </p:sp>
      <p:sp>
        <p:nvSpPr>
          <p:cNvPr id="62468" name="Rectangle 4">
            <a:extLst>
              <a:ext uri="{FF2B5EF4-FFF2-40B4-BE49-F238E27FC236}">
                <a16:creationId xmlns:a16="http://schemas.microsoft.com/office/drawing/2014/main" id="{4C17D130-E07E-A944-EE82-CCBF3D7E9841}"/>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Calibri"/>
                <a:ea typeface="ＭＳ Ｐゴシック" charset="-128"/>
                <a:cs typeface="ＭＳ Ｐゴシック" charset="-128"/>
              </a:defRPr>
            </a:lvl1pPr>
          </a:lstStyle>
          <a:p>
            <a:pPr>
              <a:defRPr/>
            </a:pPr>
            <a:endParaRPr lang="en-US"/>
          </a:p>
        </p:txBody>
      </p:sp>
      <p:sp>
        <p:nvSpPr>
          <p:cNvPr id="62469" name="Rectangle 5">
            <a:extLst>
              <a:ext uri="{FF2B5EF4-FFF2-40B4-BE49-F238E27FC236}">
                <a16:creationId xmlns:a16="http://schemas.microsoft.com/office/drawing/2014/main" id="{B8324DE4-5CD1-D743-843E-688BF15CA74C}"/>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Calibri" panose="020F0502020204030204" pitchFamily="34" charset="0"/>
              </a:defRPr>
            </a:lvl1pPr>
          </a:lstStyle>
          <a:p>
            <a:pPr>
              <a:defRPr/>
            </a:pPr>
            <a:fld id="{CEBDF771-578B-4049-B2CF-C686092A856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F85E5945-5519-46DA-0440-49EA115AD2C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Calibri"/>
                <a:ea typeface="+mn-ea"/>
                <a:cs typeface="+mn-cs"/>
              </a:defRPr>
            </a:lvl1pPr>
          </a:lstStyle>
          <a:p>
            <a:pPr>
              <a:defRPr/>
            </a:pPr>
            <a:endParaRPr lang="en-US"/>
          </a:p>
        </p:txBody>
      </p:sp>
      <p:sp>
        <p:nvSpPr>
          <p:cNvPr id="22531" name="Rectangle 1027">
            <a:extLst>
              <a:ext uri="{FF2B5EF4-FFF2-40B4-BE49-F238E27FC236}">
                <a16:creationId xmlns:a16="http://schemas.microsoft.com/office/drawing/2014/main" id="{45731C72-3EF3-C261-18EA-8F093E6D808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Calibri"/>
                <a:ea typeface="+mn-ea"/>
                <a:cs typeface="+mn-cs"/>
              </a:defRPr>
            </a:lvl1pPr>
          </a:lstStyle>
          <a:p>
            <a:pPr>
              <a:defRPr/>
            </a:pPr>
            <a:endParaRPr lang="en-US"/>
          </a:p>
        </p:txBody>
      </p:sp>
      <p:sp>
        <p:nvSpPr>
          <p:cNvPr id="9220" name="Rectangle 1028">
            <a:extLst>
              <a:ext uri="{FF2B5EF4-FFF2-40B4-BE49-F238E27FC236}">
                <a16:creationId xmlns:a16="http://schemas.microsoft.com/office/drawing/2014/main" id="{3FC81B59-C28A-7481-A20F-FB3F59401A8E}"/>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1029">
            <a:extLst>
              <a:ext uri="{FF2B5EF4-FFF2-40B4-BE49-F238E27FC236}">
                <a16:creationId xmlns:a16="http://schemas.microsoft.com/office/drawing/2014/main" id="{5DD3D454-EC49-1849-D976-83B5EC62A56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dirty="0"/>
              <a:t>Click to edit Master text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p:txBody>
      </p:sp>
      <p:sp>
        <p:nvSpPr>
          <p:cNvPr id="22534" name="Rectangle 1030">
            <a:extLst>
              <a:ext uri="{FF2B5EF4-FFF2-40B4-BE49-F238E27FC236}">
                <a16:creationId xmlns:a16="http://schemas.microsoft.com/office/drawing/2014/main" id="{249D4B8D-0558-7817-4730-A18B3C11D32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Calibri"/>
                <a:ea typeface="+mn-ea"/>
                <a:cs typeface="+mn-cs"/>
              </a:defRPr>
            </a:lvl1pPr>
          </a:lstStyle>
          <a:p>
            <a:pPr>
              <a:defRPr/>
            </a:pPr>
            <a:endParaRPr lang="en-US"/>
          </a:p>
        </p:txBody>
      </p:sp>
      <p:sp>
        <p:nvSpPr>
          <p:cNvPr id="22535" name="Rectangle 1031">
            <a:extLst>
              <a:ext uri="{FF2B5EF4-FFF2-40B4-BE49-F238E27FC236}">
                <a16:creationId xmlns:a16="http://schemas.microsoft.com/office/drawing/2014/main" id="{76D5DD28-389F-67AA-B6D2-FA319FC8C58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69F46999-8426-42A5-9D29-1DEF7043046A}"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alibri"/>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Calibri"/>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Calibri"/>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Calibri"/>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31">
            <a:extLst>
              <a:ext uri="{FF2B5EF4-FFF2-40B4-BE49-F238E27FC236}">
                <a16:creationId xmlns:a16="http://schemas.microsoft.com/office/drawing/2014/main" id="{7148D267-82DE-375E-8306-901B637AF3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4CE0923-0383-47D9-9DBB-DBFBEA829109}" type="slidenum">
              <a:rPr lang="en-AU" altLang="en-US" smtClean="0"/>
              <a:pPr>
                <a:spcBef>
                  <a:spcPct val="0"/>
                </a:spcBef>
              </a:pPr>
              <a:t>1</a:t>
            </a:fld>
            <a:endParaRPr lang="en-AU" altLang="en-US"/>
          </a:p>
        </p:txBody>
      </p:sp>
      <p:sp>
        <p:nvSpPr>
          <p:cNvPr id="12291" name="Rectangle 2">
            <a:extLst>
              <a:ext uri="{FF2B5EF4-FFF2-40B4-BE49-F238E27FC236}">
                <a16:creationId xmlns:a16="http://schemas.microsoft.com/office/drawing/2014/main" id="{E6B91398-4D99-79C7-1FEE-72916CD83637}"/>
              </a:ext>
            </a:extLst>
          </p:cNvPr>
          <p:cNvSpPr>
            <a:spLocks noChangeArrowheads="1" noTextEdit="1"/>
          </p:cNvSpPr>
          <p:nvPr>
            <p:ph type="sldImg"/>
          </p:nvPr>
        </p:nvSpPr>
        <p:spPr>
          <a:solidFill>
            <a:srgbClr val="FFFFFF"/>
          </a:solidFill>
          <a:ln/>
        </p:spPr>
      </p:sp>
      <p:sp>
        <p:nvSpPr>
          <p:cNvPr id="12292" name="Rectangle 3">
            <a:extLst>
              <a:ext uri="{FF2B5EF4-FFF2-40B4-BE49-F238E27FC236}">
                <a16:creationId xmlns:a16="http://schemas.microsoft.com/office/drawing/2014/main" id="{E8BFEA54-9EAC-F3ED-2638-0EDB4C0BDC3D}"/>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A193F977-7510-E1FC-2F1F-F369CE7422D5}"/>
              </a:ext>
            </a:extLst>
          </p:cNvPr>
          <p:cNvSpPr>
            <a:spLocks noGrp="1" noRot="1" noChangeAspect="1" noChangeArrowheads="1" noTextEdit="1"/>
          </p:cNvSpPr>
          <p:nvPr>
            <p:ph type="sldImg"/>
          </p:nvPr>
        </p:nvSpPr>
        <p:spPr>
          <a:ln/>
        </p:spPr>
      </p:sp>
      <p:sp>
        <p:nvSpPr>
          <p:cNvPr id="15363" name="Notes Placeholder 2">
            <a:extLst>
              <a:ext uri="{FF2B5EF4-FFF2-40B4-BE49-F238E27FC236}">
                <a16:creationId xmlns:a16="http://schemas.microsoft.com/office/drawing/2014/main" id="{13F4085F-9748-84B0-1919-5058D7F5C9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a:latin typeface="Calibri" panose="020F0502020204030204" pitchFamily="34" charset="0"/>
                <a:ea typeface="ＭＳ Ｐゴシック" panose="020B0600070205080204" pitchFamily="34" charset="-128"/>
              </a:rPr>
              <a:t>A hash function H accepts a variable-length block of data M as input and produces a fixed-size hash value h = H(M). A "good" hash function has the property that the results of applying the function to a large set of inputs will produce outputs that are evenly distributed, and apparently random. In general terms, the principal object of a hash function is data integrity. A change to any bit or bits in M results, with high probability, in a change to the hash code. The kind of hash function needed for security applications is referred to as a cryptographic hash function. A cryptographic hash function is an algorithm for which it is computationally infeasible (because no attack is significantly more efficient than brute force) to find either (a) a data object that maps to a pre-specified hash result (the one-way property) or (b) two data objects that map to the same hash result (the collision-free property). Because of these characteristics, hash functions are often used to determine whether or not data has changed. </a:t>
            </a:r>
          </a:p>
          <a:p>
            <a:pPr>
              <a:lnSpc>
                <a:spcPct val="90000"/>
              </a:lnSpc>
            </a:pPr>
            <a:endParaRPr lang="en-US" altLang="en-US">
              <a:latin typeface="Calibri" panose="020F0502020204030204" pitchFamily="34" charset="0"/>
              <a:ea typeface="ＭＳ Ｐゴシック" panose="020B0600070205080204" pitchFamily="34" charset="-128"/>
            </a:endParaRPr>
          </a:p>
          <a:p>
            <a:pPr>
              <a:lnSpc>
                <a:spcPct val="90000"/>
              </a:lnSpc>
            </a:pPr>
            <a:endParaRPr lang="en-US" altLang="en-US">
              <a:latin typeface="Calibri" panose="020F0502020204030204" pitchFamily="34" charset="0"/>
              <a:ea typeface="ＭＳ Ｐゴシック" panose="020B0600070205080204" pitchFamily="34" charset="-128"/>
            </a:endParaRPr>
          </a:p>
          <a:p>
            <a:pPr>
              <a:lnSpc>
                <a:spcPct val="90000"/>
              </a:lnSpc>
            </a:pPr>
            <a:r>
              <a:rPr lang="en-US" altLang="en-US">
                <a:latin typeface="Calibri" panose="020F0502020204030204" pitchFamily="34" charset="0"/>
                <a:ea typeface="ＭＳ Ｐゴシック" panose="020B0600070205080204" pitchFamily="34" charset="-128"/>
              </a:rPr>
              <a:t>Stallings Figure 11.1 depicts the general operation of a cryptographic hash function. Typically, the input is padded out to an integer multiple of some fixed length (e.g., 1024 bits) and the padding includes the value of the length of the original message in bits. The length field is a security measure to increase the difficulty for an attacker to produce an alternative message with the same hash value. </a:t>
            </a:r>
          </a:p>
          <a:p>
            <a:pPr>
              <a:lnSpc>
                <a:spcPct val="90000"/>
              </a:lnSpc>
            </a:pPr>
            <a:endParaRPr lang="en-US" altLang="en-US">
              <a:latin typeface="Calibri" panose="020F0502020204030204" pitchFamily="34" charset="0"/>
              <a:ea typeface="ＭＳ Ｐゴシック" panose="020B0600070205080204" pitchFamily="34" charset="-128"/>
            </a:endParaRPr>
          </a:p>
        </p:txBody>
      </p:sp>
      <p:sp>
        <p:nvSpPr>
          <p:cNvPr id="15364" name="Slide Number Placeholder 3">
            <a:extLst>
              <a:ext uri="{FF2B5EF4-FFF2-40B4-BE49-F238E27FC236}">
                <a16:creationId xmlns:a16="http://schemas.microsoft.com/office/drawing/2014/main" id="{601B9E14-C242-11B9-E469-12DEBFE6E35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A684762-1F0C-4145-92BB-9007346697A0}" type="slidenum">
              <a:rPr lang="en-AU" altLang="en-US" smtClean="0"/>
              <a:pPr>
                <a:spcBef>
                  <a:spcPct val="0"/>
                </a:spcBef>
              </a:pPr>
              <a:t>3</a:t>
            </a:fld>
            <a:endParaRPr lang="en-AU"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1A7C9AE6-42AF-7A8E-0C7F-BE7BBC0F8F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77F46276-5389-4C85-8441-10450B177BBA}" type="slidenum">
              <a:rPr lang="cs-CZ" altLang="en-US" smtClean="0"/>
              <a:pPr>
                <a:spcBef>
                  <a:spcPct val="0"/>
                </a:spcBef>
              </a:pPr>
              <a:t>4</a:t>
            </a:fld>
            <a:endParaRPr lang="cs-CZ" altLang="en-US"/>
          </a:p>
        </p:txBody>
      </p:sp>
      <p:sp>
        <p:nvSpPr>
          <p:cNvPr id="17411" name="Rectangle 2">
            <a:extLst>
              <a:ext uri="{FF2B5EF4-FFF2-40B4-BE49-F238E27FC236}">
                <a16:creationId xmlns:a16="http://schemas.microsoft.com/office/drawing/2014/main" id="{4ED60EAC-A6A9-FB90-7DD7-3D966EC53D2F}"/>
              </a:ext>
            </a:extLst>
          </p:cNvPr>
          <p:cNvSpPr>
            <a:spLocks noRot="1" noChangeArrowheads="1" noTextEdit="1"/>
          </p:cNvSpPr>
          <p:nvPr>
            <p:ph type="sldImg"/>
          </p:nvPr>
        </p:nvSpPr>
        <p:spPr>
          <a:ln/>
        </p:spPr>
      </p:sp>
      <p:sp>
        <p:nvSpPr>
          <p:cNvPr id="17412" name="Rectangle 3">
            <a:extLst>
              <a:ext uri="{FF2B5EF4-FFF2-40B4-BE49-F238E27FC236}">
                <a16:creationId xmlns:a16="http://schemas.microsoft.com/office/drawing/2014/main" id="{D0F7202D-83AA-F0BB-659F-DEF757ED72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Hash functions, Tuma and properties.</a:t>
            </a:r>
          </a:p>
          <a:p>
            <a:r>
              <a:rPr lang="en-US" altLang="en-US">
                <a:latin typeface="Calibri" panose="020F0502020204030204" pitchFamily="34" charset="0"/>
                <a:ea typeface="ＭＳ Ｐゴシック" panose="020B0600070205080204" pitchFamily="34" charset="-128"/>
              </a:rPr>
              <a:t>One-wayness</a:t>
            </a:r>
          </a:p>
          <a:p>
            <a:r>
              <a:rPr lang="en-US" altLang="en-US">
                <a:latin typeface="Calibri" panose="020F0502020204030204" pitchFamily="34" charset="0"/>
                <a:ea typeface="ＭＳ Ｐゴシック" panose="020B0600070205080204" pitchFamily="34" charset="-128"/>
              </a:rPr>
              <a:t>First and second preimage resistance</a:t>
            </a:r>
          </a:p>
          <a:p>
            <a:r>
              <a:rPr lang="en-US" altLang="en-US">
                <a:latin typeface="Calibri" panose="020F0502020204030204" pitchFamily="34" charset="0"/>
                <a:ea typeface="ＭＳ Ｐゴシック" panose="020B0600070205080204" pitchFamily="34" charset="-128"/>
              </a:rPr>
              <a:t>Collision resistance</a:t>
            </a:r>
          </a:p>
          <a:p>
            <a:r>
              <a:rPr lang="en-US" altLang="en-US">
                <a:latin typeface="Calibri" panose="020F0502020204030204" pitchFamily="34" charset="0"/>
                <a:ea typeface="ＭＳ Ｐゴシック" panose="020B0600070205080204" pitchFamily="34" charset="-128"/>
              </a:rPr>
              <a:t>After a while he started to call them chewing functions</a:t>
            </a:r>
          </a:p>
          <a:p>
            <a:r>
              <a:rPr lang="en-US" altLang="en-US">
                <a:latin typeface="Calibri" panose="020F0502020204030204" pitchFamily="34" charset="0"/>
                <a:ea typeface="ＭＳ Ｐゴシック" panose="020B0600070205080204" pitchFamily="34" charset="-128"/>
              </a:rPr>
              <a:t>--&gt;</a:t>
            </a:r>
          </a:p>
          <a:p>
            <a:r>
              <a:rPr lang="en-US" altLang="en-US">
                <a:latin typeface="Calibri" panose="020F0502020204030204" pitchFamily="34" charset="0"/>
                <a:ea typeface="ＭＳ Ｐゴシック" panose="020B0600070205080204" pitchFamily="34" charset="-128"/>
              </a:rPr>
              <a:t>So here we have some classic chewing functions </a:t>
            </a:r>
            <a:endParaRPr lang="cs-CZ"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7ACD8F47-12E9-7F6F-B12E-4DBADB360B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6611A03C-FB9B-42CA-8B0C-35370117A6EA}" type="slidenum">
              <a:rPr lang="en-US" altLang="en-US" smtClean="0"/>
              <a:pPr>
                <a:spcBef>
                  <a:spcPct val="0"/>
                </a:spcBef>
              </a:pPr>
              <a:t>6</a:t>
            </a:fld>
            <a:endParaRPr lang="en-US" altLang="en-US"/>
          </a:p>
        </p:txBody>
      </p:sp>
      <p:sp>
        <p:nvSpPr>
          <p:cNvPr id="20483" name="Rectangle 2">
            <a:extLst>
              <a:ext uri="{FF2B5EF4-FFF2-40B4-BE49-F238E27FC236}">
                <a16:creationId xmlns:a16="http://schemas.microsoft.com/office/drawing/2014/main" id="{FF26E88E-0ABF-F271-6CF5-DAA41E6470C6}"/>
              </a:ext>
            </a:extLst>
          </p:cNvPr>
          <p:cNvSpPr>
            <a:spLocks noRot="1" noChangeArrowheads="1" noTextEdit="1"/>
          </p:cNvSpPr>
          <p:nvPr>
            <p:ph type="sldImg"/>
          </p:nvPr>
        </p:nvSpPr>
        <p:spPr>
          <a:ln/>
        </p:spPr>
      </p:sp>
      <p:sp>
        <p:nvSpPr>
          <p:cNvPr id="20484" name="Rectangle 3">
            <a:extLst>
              <a:ext uri="{FF2B5EF4-FFF2-40B4-BE49-F238E27FC236}">
                <a16:creationId xmlns:a16="http://schemas.microsoft.com/office/drawing/2014/main" id="{6A536F91-4EB8-D76E-C415-F2343229D8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8B64D9DC-8D8A-2C59-E946-14B60FC63B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BA8F9BF-0F4C-4CCD-84D9-1D94189B3280}" type="slidenum">
              <a:rPr lang="en-US" altLang="en-US" smtClean="0"/>
              <a:pPr>
                <a:spcBef>
                  <a:spcPct val="0"/>
                </a:spcBef>
              </a:pPr>
              <a:t>7</a:t>
            </a:fld>
            <a:endParaRPr lang="en-US" altLang="en-US"/>
          </a:p>
        </p:txBody>
      </p:sp>
      <p:sp>
        <p:nvSpPr>
          <p:cNvPr id="22531" name="Rectangle 2">
            <a:extLst>
              <a:ext uri="{FF2B5EF4-FFF2-40B4-BE49-F238E27FC236}">
                <a16:creationId xmlns:a16="http://schemas.microsoft.com/office/drawing/2014/main" id="{961E438F-E379-E9F7-0BE3-BD93E4A0156F}"/>
              </a:ext>
            </a:extLst>
          </p:cNvPr>
          <p:cNvSpPr>
            <a:spLocks noRot="1" noChangeArrowheads="1" noTextEdit="1"/>
          </p:cNvSpPr>
          <p:nvPr>
            <p:ph type="sldImg"/>
          </p:nvPr>
        </p:nvSpPr>
        <p:spPr>
          <a:ln/>
        </p:spPr>
      </p:sp>
      <p:sp>
        <p:nvSpPr>
          <p:cNvPr id="22532" name="Rectangle 3">
            <a:extLst>
              <a:ext uri="{FF2B5EF4-FFF2-40B4-BE49-F238E27FC236}">
                <a16:creationId xmlns:a16="http://schemas.microsoft.com/office/drawing/2014/main" id="{E1833248-8EBE-9C7F-6E6E-0ECD081C09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B9478245-D317-5F4C-FC00-4FCB8B3B8E06}"/>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DB2150F2-79BC-3C78-9D10-BCFCDBFA8C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ea typeface="ＭＳ Ｐゴシック" panose="020B0600070205080204" pitchFamily="34" charset="-128"/>
              </a:rPr>
              <a:t>Hash functions are commonly used to create a one-way password file. Chapter 20 explains a scheme in which a hash of a password is stored by an operating system rather than the password itself. Thus, the actual password is not retrievable by a hacker who gains access to the password file. In simple terms, when a user enters a password, the hash of that password is compared to the stored hash value for verification. This approach to password protection is used by most operating systems.  </a:t>
            </a:r>
          </a:p>
          <a:p>
            <a:pPr eaLnBrk="1" hangingPunct="1"/>
            <a:r>
              <a:rPr lang="en-US" altLang="en-US">
                <a:latin typeface="Calibri" panose="020F0502020204030204" pitchFamily="34" charset="0"/>
                <a:ea typeface="ＭＳ Ｐゴシック" panose="020B0600070205080204" pitchFamily="34" charset="-128"/>
              </a:rPr>
              <a:t>Hash functions can be used for intrusion detection and virus detection. Store H(F) for each file on a system and secure the hash values (e.g., on a CD-R that is kept secure). One can later determine if a file has been modified by recomputing H(F). An intruder would need to change F without changing H(F).  </a:t>
            </a:r>
          </a:p>
          <a:p>
            <a:pPr eaLnBrk="1" hangingPunct="1"/>
            <a:r>
              <a:rPr lang="en-US" altLang="en-US">
                <a:latin typeface="Calibri" panose="020F0502020204030204" pitchFamily="34" charset="0"/>
                <a:ea typeface="ＭＳ Ｐゴシック" panose="020B0600070205080204" pitchFamily="34" charset="-128"/>
              </a:rPr>
              <a:t>A cryptographic hash function can be used to construct a pseudorandom function (PRF) or a pseudorandom number generator (PRNG). A common application for a hash-based PRF is for the generation of symmetric keys. We discuss this application in Chapter 12.</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
        <p:nvSpPr>
          <p:cNvPr id="24580" name="Slide Number Placeholder 3">
            <a:extLst>
              <a:ext uri="{FF2B5EF4-FFF2-40B4-BE49-F238E27FC236}">
                <a16:creationId xmlns:a16="http://schemas.microsoft.com/office/drawing/2014/main" id="{6D1D9490-F611-B455-0106-EDE7581A587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46B4D00-A8CE-4B90-AC4C-F097113B7E77}" type="slidenum">
              <a:rPr lang="en-AU" altLang="en-US" smtClean="0"/>
              <a:pPr>
                <a:spcBef>
                  <a:spcPct val="0"/>
                </a:spcBef>
              </a:pPr>
              <a:t>8</a:t>
            </a:fld>
            <a:endParaRPr lang="en-AU"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8304DFA4-6AE7-F274-0511-20F80001DD57}"/>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FFB050CF-3285-2D4E-F9F5-F47F4D8271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a:latin typeface="Calibri" panose="020F0502020204030204" pitchFamily="34" charset="0"/>
                <a:ea typeface="ＭＳ Ｐゴシック" panose="020B0600070205080204" pitchFamily="34" charset="-128"/>
              </a:rPr>
              <a:t>Message authentication is a mechanism or service used to verify the integrity of a message, by assuring that the data received are exactly as sent.  Stallings Figure 11.2 illustrates a variety of ways in which a hash code can be used to provide message authentication, as follows:   </a:t>
            </a:r>
          </a:p>
          <a:p>
            <a:pPr eaLnBrk="1" hangingPunct="1">
              <a:lnSpc>
                <a:spcPct val="90000"/>
              </a:lnSpc>
              <a:buFontTx/>
              <a:buAutoNum type="alphaLcPeriod"/>
            </a:pPr>
            <a:r>
              <a:rPr lang="en-US" altLang="en-US">
                <a:latin typeface="Calibri" panose="020F0502020204030204" pitchFamily="34" charset="0"/>
                <a:ea typeface="ＭＳ Ｐゴシック" panose="020B0600070205080204" pitchFamily="34" charset="-128"/>
              </a:rPr>
              <a:t>The message plus concatenated hash code is encrypted using symmetric encryption. Since only A and B share the secret key, the message must have come from A and has not been altered. The hash code provides the structure or redundancy required to achieve authentication.</a:t>
            </a:r>
          </a:p>
          <a:p>
            <a:pPr eaLnBrk="1" hangingPunct="1">
              <a:lnSpc>
                <a:spcPct val="90000"/>
              </a:lnSpc>
              <a:buFontTx/>
              <a:buAutoNum type="alphaLcPeriod"/>
            </a:pPr>
            <a:r>
              <a:rPr lang="en-US" altLang="en-US">
                <a:latin typeface="Calibri" panose="020F0502020204030204" pitchFamily="34" charset="0"/>
                <a:ea typeface="ＭＳ Ｐゴシック" panose="020B0600070205080204" pitchFamily="34" charset="-128"/>
              </a:rPr>
              <a:t>Only the hash code is encrypted, using symmetric encryption. This reduces the processing burden for those applications not requiring confidentiality. </a:t>
            </a:r>
          </a:p>
        </p:txBody>
      </p:sp>
      <p:sp>
        <p:nvSpPr>
          <p:cNvPr id="28676" name="Slide Number Placeholder 3">
            <a:extLst>
              <a:ext uri="{FF2B5EF4-FFF2-40B4-BE49-F238E27FC236}">
                <a16:creationId xmlns:a16="http://schemas.microsoft.com/office/drawing/2014/main" id="{9189BDDB-CC0C-46AA-D87E-99E030CB44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C3030DE8-C597-4F1F-9542-D27E37D8CA69}" type="slidenum">
              <a:rPr lang="en-AU" altLang="en-US" smtClean="0"/>
              <a:pPr>
                <a:spcBef>
                  <a:spcPct val="0"/>
                </a:spcBef>
              </a:pPr>
              <a:t>11</a:t>
            </a:fld>
            <a:endParaRPr lang="en-AU"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F9BDCBFA-C883-68AA-B1A9-5CF79CC19B9A}"/>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F98EE790-C6D3-4912-C1D1-C446B1362B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a:latin typeface="Calibri" panose="020F0502020204030204" pitchFamily="34" charset="0"/>
                <a:ea typeface="ＭＳ Ｐゴシック" panose="020B0600070205080204" pitchFamily="34" charset="-128"/>
              </a:rPr>
              <a:t>(c) Shows the use of a hash function but no encryption for message authentication. The technique assumes that the two communicating parties share a common secret value S. A computes the hash value over the concatenation of M and S and appends the resulting hash value to M. Because B possesses S, it can recompute the hash value to verify. Because the secret value itself is not sent, an opponent cannot modify an intercepted message and cannot generate a false message. </a:t>
            </a:r>
          </a:p>
          <a:p>
            <a:pPr eaLnBrk="1" hangingPunct="1">
              <a:lnSpc>
                <a:spcPct val="90000"/>
              </a:lnSpc>
            </a:pPr>
            <a:endParaRPr lang="en-US" altLang="en-US">
              <a:latin typeface="Calibri" panose="020F0502020204030204" pitchFamily="34" charset="0"/>
              <a:ea typeface="ＭＳ Ｐゴシック" panose="020B0600070205080204" pitchFamily="34" charset="-128"/>
            </a:endParaRPr>
          </a:p>
          <a:p>
            <a:pPr eaLnBrk="1" hangingPunct="1">
              <a:lnSpc>
                <a:spcPct val="90000"/>
              </a:lnSpc>
            </a:pPr>
            <a:r>
              <a:rPr lang="en-US" altLang="en-US">
                <a:latin typeface="Calibri" panose="020F0502020204030204" pitchFamily="34" charset="0"/>
                <a:ea typeface="ＭＳ Ｐゴシック" panose="020B0600070205080204" pitchFamily="34" charset="-128"/>
              </a:rPr>
              <a:t>(d)  Confidentiality can be added to the approach of (c) by encrypting the entire message plus the hash code. </a:t>
            </a:r>
          </a:p>
          <a:p>
            <a:pPr eaLnBrk="1" hangingPunct="1">
              <a:lnSpc>
                <a:spcPct val="90000"/>
              </a:lnSpc>
            </a:pPr>
            <a:r>
              <a:rPr lang="en-US" altLang="en-US">
                <a:latin typeface="Calibri" panose="020F0502020204030204" pitchFamily="34" charset="0"/>
                <a:ea typeface="ＭＳ Ｐゴシック" panose="020B0600070205080204" pitchFamily="34" charset="-128"/>
              </a:rPr>
              <a:t>When confidentiality is not required, method (b) has an advantage over methods (a) and (d), which encrypts the entire message, in that less computation is required.</a:t>
            </a:r>
          </a:p>
        </p:txBody>
      </p:sp>
      <p:sp>
        <p:nvSpPr>
          <p:cNvPr id="30724" name="Slide Number Placeholder 3">
            <a:extLst>
              <a:ext uri="{FF2B5EF4-FFF2-40B4-BE49-F238E27FC236}">
                <a16:creationId xmlns:a16="http://schemas.microsoft.com/office/drawing/2014/main" id="{8524AA6B-5C95-A28D-3329-E47BC5B1F5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78BA98A1-77D7-4F56-9F57-98A58A7C0115}" type="slidenum">
              <a:rPr lang="en-AU" altLang="en-US" smtClean="0"/>
              <a:pPr>
                <a:spcBef>
                  <a:spcPct val="0"/>
                </a:spcBef>
              </a:pPr>
              <a:t>12</a:t>
            </a:fld>
            <a:endParaRPr lang="en-AU"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D78F2132-92B1-5A17-B900-79C35113C9DD}"/>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E19CAC40-6E03-3591-AFFB-19915D6166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ea typeface="ＭＳ Ｐゴシック" panose="020B0600070205080204" pitchFamily="34" charset="-128"/>
              </a:rPr>
              <a:t> Another important application, which is similar to the message authentication application, is the digital signature. The operation of the digital signature is similar to that of the MAC. In the case of the digital signature, the hash value of a message is encrypted with a user's private key. Anyone who knows the user's public key can verify the integrity of the message that is associated with the digital signature. In this case an attacker who wishes to alter the message would need to know the user's private key. As we shall see in Chapter 14, the implications of digital signatures go beyond just message authentication.   Stallings Figure 11.3 illustrates, in a simplified fashion, how a hash code is used to provide a digital signature: </a:t>
            </a:r>
          </a:p>
          <a:p>
            <a:pPr eaLnBrk="1" hangingPunct="1">
              <a:buFontTx/>
              <a:buAutoNum type="alphaLcPeriod"/>
            </a:pPr>
            <a:r>
              <a:rPr lang="en-US" altLang="en-US">
                <a:latin typeface="Calibri" panose="020F0502020204030204" pitchFamily="34" charset="0"/>
                <a:ea typeface="ＭＳ Ｐゴシック" panose="020B0600070205080204" pitchFamily="34" charset="-128"/>
              </a:rPr>
              <a:t>The hash code is encrypted, using public-key encryption and using the sender's private key. As with Figure 11.2b, this provides authentication. It also provides a digital signature, because only the sender could have produced the encrypted hash code. In fact, this is the essence of the digital signature technique.  </a:t>
            </a:r>
          </a:p>
          <a:p>
            <a:pPr eaLnBrk="1" hangingPunct="1">
              <a:buFontTx/>
              <a:buAutoNum type="alphaLcPeriod"/>
            </a:pPr>
            <a:r>
              <a:rPr lang="en-US" altLang="en-US">
                <a:latin typeface="Calibri" panose="020F0502020204030204" pitchFamily="34" charset="0"/>
                <a:ea typeface="ＭＳ Ｐゴシック" panose="020B0600070205080204" pitchFamily="34" charset="-128"/>
              </a:rPr>
              <a:t>If confidentiality as well as a digital signature is desired, then the message plus the private-key-encrypted hash code can be encrypted using a symmetric secret key. This is a common technique. </a:t>
            </a:r>
          </a:p>
          <a:p>
            <a:endParaRPr lang="en-US" altLang="en-US">
              <a:latin typeface="Calibri" panose="020F0502020204030204" pitchFamily="34" charset="0"/>
              <a:ea typeface="ＭＳ Ｐゴシック" panose="020B0600070205080204" pitchFamily="34" charset="-128"/>
            </a:endParaRPr>
          </a:p>
        </p:txBody>
      </p:sp>
      <p:sp>
        <p:nvSpPr>
          <p:cNvPr id="32772" name="Slide Number Placeholder 3">
            <a:extLst>
              <a:ext uri="{FF2B5EF4-FFF2-40B4-BE49-F238E27FC236}">
                <a16:creationId xmlns:a16="http://schemas.microsoft.com/office/drawing/2014/main" id="{A7F5C419-417C-E559-8187-BA9BCFA2C5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745D5128-5ACE-4A78-9021-B3057091BDAE}" type="slidenum">
              <a:rPr lang="en-AU" altLang="en-US" smtClean="0"/>
              <a:pPr>
                <a:spcBef>
                  <a:spcPct val="0"/>
                </a:spcBef>
              </a:pPr>
              <a:t>13</a:t>
            </a:fld>
            <a:endParaRPr lang="en-AU"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926D35F9-F745-C2AF-9BFE-A4D42337B8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AB0A459-BF18-4822-AF11-D4EC43954E4C}" type="slidenum">
              <a:rPr lang="en-US" altLang="en-US" smtClean="0"/>
              <a:pPr>
                <a:spcBef>
                  <a:spcPct val="0"/>
                </a:spcBef>
              </a:pPr>
              <a:t>15</a:t>
            </a:fld>
            <a:endParaRPr lang="en-US" altLang="en-US"/>
          </a:p>
        </p:txBody>
      </p:sp>
      <p:sp>
        <p:nvSpPr>
          <p:cNvPr id="35843" name="Rectangle 2">
            <a:extLst>
              <a:ext uri="{FF2B5EF4-FFF2-40B4-BE49-F238E27FC236}">
                <a16:creationId xmlns:a16="http://schemas.microsoft.com/office/drawing/2014/main" id="{B6670A13-9337-025D-4970-B2FD0A0FF46E}"/>
              </a:ext>
            </a:extLst>
          </p:cNvPr>
          <p:cNvSpPr>
            <a:spLocks noChangeArrowheads="1" noTextEdit="1"/>
          </p:cNvSpPr>
          <p:nvPr>
            <p:ph type="sldImg"/>
          </p:nvPr>
        </p:nvSpPr>
        <p:spPr>
          <a:ln/>
        </p:spPr>
      </p:sp>
      <p:sp>
        <p:nvSpPr>
          <p:cNvPr id="35844" name="Rectangle 3">
            <a:extLst>
              <a:ext uri="{FF2B5EF4-FFF2-40B4-BE49-F238E27FC236}">
                <a16:creationId xmlns:a16="http://schemas.microsoft.com/office/drawing/2014/main" id="{1A1485BE-B3CF-FE1F-C504-D878F2A5C8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The first properties are requirements for the practical application of a hash function. The second property, preimage (for a hash value </a:t>
            </a:r>
            <a:r>
              <a:rPr lang="en-US" altLang="en-US" i="1">
                <a:latin typeface="Calibri" panose="020F0502020204030204" pitchFamily="34" charset="0"/>
                <a:ea typeface="ＭＳ Ｐゴシック" panose="020B0600070205080204" pitchFamily="34" charset="-128"/>
              </a:rPr>
              <a:t>h = H(x), </a:t>
            </a:r>
            <a:r>
              <a:rPr lang="en-US" altLang="en-US">
                <a:latin typeface="Calibri" panose="020F0502020204030204" pitchFamily="34" charset="0"/>
                <a:ea typeface="ＭＳ Ｐゴシック" panose="020B0600070205080204" pitchFamily="34" charset="-128"/>
              </a:rPr>
              <a:t>we say that x is the </a:t>
            </a:r>
            <a:r>
              <a:rPr lang="en-US" altLang="en-US" b="1">
                <a:latin typeface="Calibri" panose="020F0502020204030204" pitchFamily="34" charset="0"/>
                <a:ea typeface="ＭＳ Ｐゴシック" panose="020B0600070205080204" pitchFamily="34" charset="-128"/>
              </a:rPr>
              <a:t>preimage </a:t>
            </a:r>
            <a:r>
              <a:rPr lang="en-US" altLang="en-US">
                <a:latin typeface="Calibri" panose="020F0502020204030204" pitchFamily="34" charset="0"/>
                <a:ea typeface="ＭＳ Ｐゴシック" panose="020B0600070205080204" pitchFamily="34" charset="-128"/>
              </a:rPr>
              <a:t>of</a:t>
            </a:r>
            <a:r>
              <a:rPr lang="en-US" altLang="en-US" b="1">
                <a:latin typeface="Calibri" panose="020F0502020204030204" pitchFamily="34" charset="0"/>
                <a:ea typeface="ＭＳ Ｐゴシック" panose="020B0600070205080204" pitchFamily="34" charset="-128"/>
              </a:rPr>
              <a:t> </a:t>
            </a:r>
            <a:r>
              <a:rPr lang="en-US" altLang="en-US" b="1" i="1">
                <a:latin typeface="Calibri" panose="020F0502020204030204" pitchFamily="34" charset="0"/>
                <a:ea typeface="ＭＳ Ｐゴシック" panose="020B0600070205080204" pitchFamily="34" charset="-128"/>
              </a:rPr>
              <a:t>h</a:t>
            </a:r>
            <a:r>
              <a:rPr lang="en-US" altLang="en-US">
                <a:latin typeface="Calibri" panose="020F0502020204030204" pitchFamily="34" charset="0"/>
                <a:ea typeface="ＭＳ Ｐゴシック" panose="020B0600070205080204" pitchFamily="34" charset="-128"/>
              </a:rPr>
              <a:t>) resistant, is the one-way property: it is easy to generate a code given a message, but virtually impossible to generate a message given a code. This property is important if the authentication technique involves the use of a secret value The fthird property, second preimage resistant, guarantees that it is impossible to find an alternative message with the same hash value as a given message. This prevents forgery when an encrypted hash code is used. If the fouth property, collision resistant, is also satisfied, then it is referred to as a strong hash function. A strong hash function protects against an attack in which one party generates a message for another party to sign. The final requirement, </a:t>
            </a:r>
            <a:r>
              <a:rPr lang="en-US" altLang="en-US" b="1">
                <a:latin typeface="Calibri" panose="020F0502020204030204" pitchFamily="34" charset="0"/>
                <a:ea typeface="ＭＳ Ｐゴシック" panose="020B0600070205080204" pitchFamily="34" charset="-128"/>
              </a:rPr>
              <a:t>pseudorandomness</a:t>
            </a:r>
            <a:r>
              <a:rPr lang="en-US" altLang="en-US">
                <a:latin typeface="Calibri" panose="020F0502020204030204" pitchFamily="34" charset="0"/>
                <a:ea typeface="ＭＳ Ｐゴシック" panose="020B0600070205080204" pitchFamily="34" charset="-128"/>
              </a:rPr>
              <a:t>, has not traditionally been listed as a requirement of cryptographic hash functions, but is more or less implied.</a:t>
            </a:r>
            <a:endParaRPr lang="en-AU"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D479EC1F-9C62-3685-B058-CF88E9CF6436}"/>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C611E8A1-AB37-7759-C544-35480EA015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Exploiting weak preimage resistance: If we are able to "work backwards" from a hash and create some text that produces the same hash, we can use this to beat hashed passwords. We won't ever know the actual input data that was used, but that doesn't matter.Looking at the flow for validating against hashed passwords, all that matters is that the hashes match, not the passwords, so if we can find</a:t>
            </a:r>
            <a:r>
              <a:rPr lang="en-US" altLang="en-US" i="1">
                <a:latin typeface="Calibri" panose="020F0502020204030204" pitchFamily="34" charset="0"/>
                <a:ea typeface="ＭＳ Ｐゴシック" panose="020B0600070205080204" pitchFamily="34" charset="-128"/>
              </a:rPr>
              <a:t>any other text that produces the stored hash, we'll be granted access. "Collisions" mean "more than one password will be accepted".</a:t>
            </a:r>
            <a:endParaRPr lang="en-US" altLang="en-US">
              <a:latin typeface="Calibri" panose="020F0502020204030204" pitchFamily="34" charset="0"/>
              <a:ea typeface="ＭＳ Ｐゴシック" panose="020B0600070205080204" pitchFamily="34" charset="-128"/>
            </a:endParaRPr>
          </a:p>
        </p:txBody>
      </p:sp>
      <p:sp>
        <p:nvSpPr>
          <p:cNvPr id="38916" name="Slide Number Placeholder 3">
            <a:extLst>
              <a:ext uri="{FF2B5EF4-FFF2-40B4-BE49-F238E27FC236}">
                <a16:creationId xmlns:a16="http://schemas.microsoft.com/office/drawing/2014/main" id="{0B2DE4A8-2332-5817-979C-0EE6B72F63F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C0ECA1C-A928-45B6-8B72-76B416950A3C}" type="slidenum">
              <a:rPr lang="en-AU" altLang="en-US" smtClean="0"/>
              <a:pPr>
                <a:spcBef>
                  <a:spcPct val="0"/>
                </a:spcBef>
              </a:pPr>
              <a:t>17</a:t>
            </a:fld>
            <a:endParaRPr lang="en-AU"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338B9186-19DB-CC69-525C-C976B0CC13D4}"/>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C5EB47CC-4BBD-2799-434A-8EC244781E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This seems like a somewhat easier case of the previous item: the goal is to produce a new input that generates the given hash, but this time we know the original text that created it. </a:t>
            </a:r>
            <a:r>
              <a:rPr lang="en-US" altLang="en-US" b="1">
                <a:latin typeface="Calibri" panose="020F0502020204030204" pitchFamily="34" charset="0"/>
                <a:ea typeface="ＭＳ Ｐゴシック" panose="020B0600070205080204" pitchFamily="34" charset="-128"/>
              </a:rPr>
              <a:t>Exploiting second weak preimage resistance: As with preimage resistance, we want to fool somebody into authenticating </a:t>
            </a:r>
            <a:r>
              <a:rPr lang="en-US" altLang="en-US" b="1" i="1">
                <a:latin typeface="Calibri" panose="020F0502020204030204" pitchFamily="34" charset="0"/>
                <a:ea typeface="ＭＳ Ｐゴシック" panose="020B0600070205080204" pitchFamily="34" charset="-128"/>
              </a:rPr>
              <a:t>our data as genuine, and we'd most likely use this when trying to introduce a corrupted software distribution.We saw that many other organizations publishes software and matching md5 checksums, and if we are able to maliciously modify the source code but nevertheless keep the same checksum, downloaders around the globe will accept  badware as genuine.</a:t>
            </a:r>
            <a:endParaRPr lang="en-US" altLang="en-US">
              <a:latin typeface="Calibri" panose="020F0502020204030204" pitchFamily="34" charset="0"/>
              <a:ea typeface="ＭＳ Ｐゴシック" panose="020B0600070205080204" pitchFamily="34" charset="-128"/>
            </a:endParaRPr>
          </a:p>
        </p:txBody>
      </p:sp>
      <p:sp>
        <p:nvSpPr>
          <p:cNvPr id="40964" name="Slide Number Placeholder 3">
            <a:extLst>
              <a:ext uri="{FF2B5EF4-FFF2-40B4-BE49-F238E27FC236}">
                <a16:creationId xmlns:a16="http://schemas.microsoft.com/office/drawing/2014/main" id="{85091CCC-9132-4D6B-7512-210B2A2BEA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5EC418CA-BAAE-4279-BFC0-8A376DA0CE2F}" type="slidenum">
              <a:rPr lang="en-AU" altLang="en-US" smtClean="0"/>
              <a:pPr>
                <a:spcBef>
                  <a:spcPct val="0"/>
                </a:spcBef>
              </a:pPr>
              <a:t>18</a:t>
            </a:fld>
            <a:endParaRPr lang="en-AU"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9937F10B-432E-B52D-9183-3E1195CA0504}"/>
              </a:ext>
            </a:extLst>
          </p:cNvPr>
          <p:cNvSpPr>
            <a:spLocks noGrp="1" noRot="1" noChangeAspect="1" noChangeArrowheads="1" noTextEdit="1"/>
          </p:cNvSpPr>
          <p:nvPr>
            <p:ph type="sldImg"/>
          </p:nvPr>
        </p:nvSpPr>
        <p:spPr>
          <a:ln/>
        </p:spPr>
      </p:sp>
      <p:sp>
        <p:nvSpPr>
          <p:cNvPr id="46083" name="Notes Placeholder 2">
            <a:extLst>
              <a:ext uri="{FF2B5EF4-FFF2-40B4-BE49-F238E27FC236}">
                <a16:creationId xmlns:a16="http://schemas.microsoft.com/office/drawing/2014/main" id="{4DAED86D-0EEA-A694-3EC6-49A85C615C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a:latin typeface="Embedded-Garamond" charset="0"/>
                <a:ea typeface="ＭＳ Ｐゴシック" panose="020B0600070205080204" pitchFamily="34" charset="-128"/>
              </a:rPr>
              <a:t>Damgard and Merkle greatly influenced cryptographic hash function design by defining a hash function in terms of what is called a </a:t>
            </a:r>
            <a:r>
              <a:rPr lang="en-US" altLang="en-US" i="1">
                <a:latin typeface="Embedded-Garamond-Italic" charset="0"/>
                <a:ea typeface="ＭＳ Ｐゴシック" panose="020B0600070205080204" pitchFamily="34" charset="-128"/>
              </a:rPr>
              <a:t>compression functio</a:t>
            </a:r>
            <a:r>
              <a:rPr lang="en-US" altLang="en-US">
                <a:latin typeface="Embedded-Garamond" charset="0"/>
                <a:ea typeface="ＭＳ Ｐゴシック" panose="020B0600070205080204" pitchFamily="34" charset="-128"/>
              </a:rPr>
              <a:t>n. </a:t>
            </a:r>
          </a:p>
          <a:p>
            <a:pPr>
              <a:lnSpc>
                <a:spcPct val="90000"/>
              </a:lnSpc>
            </a:pPr>
            <a:r>
              <a:rPr lang="en-US" altLang="en-US">
                <a:latin typeface="Embedded-Garamond" charset="0"/>
                <a:ea typeface="ＭＳ Ｐゴシック" panose="020B0600070205080204" pitchFamily="34" charset="-128"/>
              </a:rPr>
              <a:t>A compression function takes a fixed-length input and returns a shorter, fixed-length output. </a:t>
            </a:r>
          </a:p>
          <a:p>
            <a:pPr>
              <a:lnSpc>
                <a:spcPct val="90000"/>
              </a:lnSpc>
            </a:pPr>
            <a:r>
              <a:rPr lang="en-US" altLang="en-US">
                <a:latin typeface="Embedded-Garamond" charset="0"/>
                <a:ea typeface="ＭＳ Ｐゴシック" panose="020B0600070205080204" pitchFamily="34" charset="-128"/>
              </a:rPr>
              <a:t>Given a compression function, a hash function can be defined by repeated applications of the compression function until the entire message has been processed. </a:t>
            </a:r>
          </a:p>
          <a:p>
            <a:pPr>
              <a:lnSpc>
                <a:spcPct val="90000"/>
              </a:lnSpc>
            </a:pPr>
            <a:endParaRPr lang="en-US" altLang="en-US">
              <a:latin typeface="Embedded-Garamond" charset="0"/>
              <a:ea typeface="ＭＳ Ｐゴシック" panose="020B0600070205080204" pitchFamily="34" charset="-128"/>
            </a:endParaRPr>
          </a:p>
          <a:p>
            <a:r>
              <a:rPr lang="en-US" altLang="en-US">
                <a:latin typeface="Calibri" panose="020F0502020204030204" pitchFamily="34" charset="0"/>
                <a:ea typeface="ＭＳ Ｐゴシック" panose="020B0600070205080204" pitchFamily="34" charset="-128"/>
              </a:rPr>
              <a:t>Take a long message, break it into blocks</a:t>
            </a:r>
          </a:p>
          <a:p>
            <a:pPr lvl="1"/>
            <a:r>
              <a:rPr lang="en-US" altLang="en-US">
                <a:latin typeface="Calibri" panose="020F0502020204030204" pitchFamily="34" charset="0"/>
                <a:ea typeface="ＭＳ Ｐゴシック" panose="020B0600070205080204" pitchFamily="34" charset="-128"/>
              </a:rPr>
              <a:t>M</a:t>
            </a:r>
            <a:r>
              <a:rPr lang="en-US" altLang="en-US" baseline="-25000">
                <a:latin typeface="Calibri" panose="020F0502020204030204" pitchFamily="34" charset="0"/>
                <a:ea typeface="ＭＳ Ｐゴシック" panose="020B0600070205080204" pitchFamily="34" charset="-128"/>
              </a:rPr>
              <a:t>1</a:t>
            </a:r>
            <a:r>
              <a:rPr lang="en-US" altLang="en-US">
                <a:latin typeface="Calibri" panose="020F0502020204030204" pitchFamily="34" charset="0"/>
                <a:ea typeface="ＭＳ Ｐゴシック" panose="020B0600070205080204" pitchFamily="34" charset="-128"/>
              </a:rPr>
              <a:t>, M</a:t>
            </a:r>
            <a:r>
              <a:rPr lang="en-US" altLang="en-US" baseline="-25000">
                <a:latin typeface="Calibri" panose="020F0502020204030204" pitchFamily="34" charset="0"/>
                <a:ea typeface="ＭＳ Ｐゴシック" panose="020B0600070205080204" pitchFamily="34" charset="-128"/>
              </a:rPr>
              <a:t>2</a:t>
            </a:r>
            <a:r>
              <a:rPr lang="en-US" altLang="en-US">
                <a:latin typeface="Calibri" panose="020F0502020204030204" pitchFamily="34" charset="0"/>
                <a:ea typeface="ＭＳ Ｐゴシック" panose="020B0600070205080204" pitchFamily="34" charset="-128"/>
              </a:rPr>
              <a:t>, M</a:t>
            </a:r>
            <a:r>
              <a:rPr lang="en-US" altLang="en-US" baseline="-25000">
                <a:latin typeface="Calibri" panose="020F0502020204030204" pitchFamily="34" charset="0"/>
                <a:ea typeface="ＭＳ Ｐゴシック" panose="020B0600070205080204" pitchFamily="34" charset="-128"/>
              </a:rPr>
              <a:t>3</a:t>
            </a:r>
            <a:r>
              <a:rPr lang="en-US" altLang="en-US">
                <a:latin typeface="Calibri" panose="020F0502020204030204" pitchFamily="34" charset="0"/>
                <a:ea typeface="ＭＳ Ｐゴシック" panose="020B0600070205080204" pitchFamily="34" charset="-128"/>
              </a:rPr>
              <a:t>…M</a:t>
            </a:r>
            <a:r>
              <a:rPr lang="en-US" altLang="en-US" baseline="-25000">
                <a:latin typeface="Calibri" panose="020F0502020204030204" pitchFamily="34" charset="0"/>
                <a:ea typeface="ＭＳ Ｐゴシック" panose="020B0600070205080204" pitchFamily="34" charset="-128"/>
              </a:rPr>
              <a:t>k </a:t>
            </a:r>
            <a:r>
              <a:rPr lang="en-US" altLang="en-US">
                <a:latin typeface="Calibri" panose="020F0502020204030204" pitchFamily="34" charset="0"/>
                <a:ea typeface="ＭＳ Ｐゴシック" panose="020B0600070205080204" pitchFamily="34" charset="-128"/>
              </a:rPr>
              <a:t>(pad out last block)</a:t>
            </a:r>
          </a:p>
          <a:p>
            <a:r>
              <a:rPr lang="en-US" altLang="en-US">
                <a:latin typeface="Calibri" panose="020F0502020204030204" pitchFamily="34" charset="0"/>
                <a:ea typeface="ＭＳ Ｐゴシック" panose="020B0600070205080204" pitchFamily="34" charset="-128"/>
              </a:rPr>
              <a:t>Let </a:t>
            </a:r>
            <a:r>
              <a:rPr lang="en-US" altLang="en-US" i="1">
                <a:latin typeface="Calibri" panose="020F0502020204030204" pitchFamily="34" charset="0"/>
                <a:ea typeface="ＭＳ Ｐゴシック" panose="020B0600070205080204" pitchFamily="34" charset="-128"/>
              </a:rPr>
              <a:t>f</a:t>
            </a:r>
            <a:r>
              <a:rPr lang="en-US" altLang="en-US">
                <a:latin typeface="Calibri" panose="020F0502020204030204" pitchFamily="34" charset="0"/>
                <a:ea typeface="ＭＳ Ｐゴシック" panose="020B0600070205080204" pitchFamily="34" charset="-128"/>
              </a:rPr>
              <a:t> be a “compression function” that operates on a block and the current </a:t>
            </a:r>
            <a:r>
              <a:rPr lang="en-US" altLang="en-US" i="1">
                <a:latin typeface="Calibri" panose="020F0502020204030204" pitchFamily="34" charset="0"/>
                <a:ea typeface="ＭＳ Ｐゴシック" panose="020B0600070205080204" pitchFamily="34" charset="-128"/>
              </a:rPr>
              <a:t>h</a:t>
            </a:r>
            <a:r>
              <a:rPr lang="en-US" altLang="en-US">
                <a:latin typeface="Calibri" panose="020F0502020204030204" pitchFamily="34" charset="0"/>
                <a:ea typeface="ＭＳ Ｐゴシック" panose="020B0600070205080204" pitchFamily="34" charset="-128"/>
              </a:rPr>
              <a:t>-bit state and “mixes” the block into the state</a:t>
            </a:r>
          </a:p>
          <a:p>
            <a:r>
              <a:rPr lang="en-US" altLang="en-US">
                <a:latin typeface="Calibri" panose="020F0502020204030204" pitchFamily="34" charset="0"/>
                <a:ea typeface="ＭＳ Ｐゴシック" panose="020B0600070205080204" pitchFamily="34" charset="-128"/>
              </a:rPr>
              <a:t>Last output of compression function is the </a:t>
            </a:r>
            <a:r>
              <a:rPr lang="en-US" altLang="en-US" i="1">
                <a:latin typeface="Calibri" panose="020F0502020204030204" pitchFamily="34" charset="0"/>
                <a:ea typeface="ＭＳ Ｐゴシック" panose="020B0600070205080204" pitchFamily="34" charset="-128"/>
              </a:rPr>
              <a:t>h</a:t>
            </a:r>
            <a:r>
              <a:rPr lang="en-US" altLang="en-US">
                <a:latin typeface="Calibri" panose="020F0502020204030204" pitchFamily="34" charset="0"/>
                <a:ea typeface="ＭＳ Ｐゴシック" panose="020B0600070205080204" pitchFamily="34" charset="-128"/>
              </a:rPr>
              <a:t>-bit message digest.</a:t>
            </a:r>
          </a:p>
          <a:p>
            <a:pPr>
              <a:lnSpc>
                <a:spcPct val="90000"/>
              </a:lnSpc>
            </a:pPr>
            <a:endParaRPr lang="en-US" altLang="en-US">
              <a:latin typeface="Embedded-Garamond"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
        <p:nvSpPr>
          <p:cNvPr id="46084" name="Slide Number Placeholder 3">
            <a:extLst>
              <a:ext uri="{FF2B5EF4-FFF2-40B4-BE49-F238E27FC236}">
                <a16:creationId xmlns:a16="http://schemas.microsoft.com/office/drawing/2014/main" id="{7415D11E-05DD-AFEA-200E-C210B8D2515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72EF49D9-500A-454E-98DB-9D21E57E82D2}" type="slidenum">
              <a:rPr lang="en-AU" altLang="en-US" smtClean="0"/>
              <a:pPr>
                <a:spcBef>
                  <a:spcPct val="0"/>
                </a:spcBef>
              </a:pPr>
              <a:t>22</a:t>
            </a:fld>
            <a:endParaRPr lang="en-AU"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B2070C74-30B6-82AF-17AE-33FECE8A34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391563F-8E69-48B7-9F66-795771763E6E}" type="slidenum">
              <a:rPr lang="en-US" altLang="en-US" smtClean="0"/>
              <a:pPr>
                <a:spcBef>
                  <a:spcPct val="0"/>
                </a:spcBef>
              </a:pPr>
              <a:t>26</a:t>
            </a:fld>
            <a:endParaRPr lang="en-US" altLang="en-US"/>
          </a:p>
        </p:txBody>
      </p:sp>
      <p:sp>
        <p:nvSpPr>
          <p:cNvPr id="51203" name="Rectangle 2">
            <a:extLst>
              <a:ext uri="{FF2B5EF4-FFF2-40B4-BE49-F238E27FC236}">
                <a16:creationId xmlns:a16="http://schemas.microsoft.com/office/drawing/2014/main" id="{D595F072-D69E-5439-361E-2A992B885240}"/>
              </a:ext>
            </a:extLst>
          </p:cNvPr>
          <p:cNvSpPr>
            <a:spLocks noRot="1" noChangeArrowheads="1" noTextEdit="1"/>
          </p:cNvSpPr>
          <p:nvPr>
            <p:ph type="sldImg"/>
          </p:nvPr>
        </p:nvSpPr>
        <p:spPr>
          <a:ln/>
        </p:spPr>
      </p:sp>
      <p:sp>
        <p:nvSpPr>
          <p:cNvPr id="51204" name="Rectangle 3">
            <a:extLst>
              <a:ext uri="{FF2B5EF4-FFF2-40B4-BE49-F238E27FC236}">
                <a16:creationId xmlns:a16="http://schemas.microsoft.com/office/drawing/2014/main" id="{EA19902A-D241-5778-EAA8-9B2AF98DFE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Stallings Fig 12.1</a:t>
            </a:r>
            <a:endParaRPr lang="en-AU"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9B7009BF-0B8D-977A-12E1-92414DFD73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8EE3CA0-C79A-4E04-B45C-6FBC5DBF0FB4}" type="slidenum">
              <a:rPr lang="en-US" altLang="en-US" smtClean="0"/>
              <a:pPr>
                <a:spcBef>
                  <a:spcPct val="0"/>
                </a:spcBef>
              </a:pPr>
              <a:t>28</a:t>
            </a:fld>
            <a:endParaRPr lang="en-US" altLang="en-US"/>
          </a:p>
        </p:txBody>
      </p:sp>
      <p:sp>
        <p:nvSpPr>
          <p:cNvPr id="54275" name="Rectangle 2">
            <a:extLst>
              <a:ext uri="{FF2B5EF4-FFF2-40B4-BE49-F238E27FC236}">
                <a16:creationId xmlns:a16="http://schemas.microsoft.com/office/drawing/2014/main" id="{FFB80878-5FF7-8609-D8D1-D32847664656}"/>
              </a:ext>
            </a:extLst>
          </p:cNvPr>
          <p:cNvSpPr>
            <a:spLocks noRot="1" noChangeArrowheads="1" noTextEdit="1"/>
          </p:cNvSpPr>
          <p:nvPr>
            <p:ph type="sldImg"/>
          </p:nvPr>
        </p:nvSpPr>
        <p:spPr>
          <a:ln/>
        </p:spPr>
      </p:sp>
      <p:sp>
        <p:nvSpPr>
          <p:cNvPr id="54276" name="Rectangle 3">
            <a:extLst>
              <a:ext uri="{FF2B5EF4-FFF2-40B4-BE49-F238E27FC236}">
                <a16:creationId xmlns:a16="http://schemas.microsoft.com/office/drawing/2014/main" id="{ACECC47A-E950-EEAE-E7B5-CDB9F46984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A97F9030-8511-455B-0482-2582FE9F9F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E1FF375-0E5D-4725-9BC3-56FC248CF511}" type="slidenum">
              <a:rPr lang="en-US" altLang="en-US" smtClean="0"/>
              <a:pPr>
                <a:spcBef>
                  <a:spcPct val="0"/>
                </a:spcBef>
              </a:pPr>
              <a:t>29</a:t>
            </a:fld>
            <a:endParaRPr lang="en-US" altLang="en-US"/>
          </a:p>
        </p:txBody>
      </p:sp>
      <p:sp>
        <p:nvSpPr>
          <p:cNvPr id="56323" name="Rectangle 2">
            <a:extLst>
              <a:ext uri="{FF2B5EF4-FFF2-40B4-BE49-F238E27FC236}">
                <a16:creationId xmlns:a16="http://schemas.microsoft.com/office/drawing/2014/main" id="{B154C848-162E-AACC-FC0C-5BBFDFC3C7BD}"/>
              </a:ext>
            </a:extLst>
          </p:cNvPr>
          <p:cNvSpPr>
            <a:spLocks noRot="1" noChangeArrowheads="1" noTextEdit="1"/>
          </p:cNvSpPr>
          <p:nvPr>
            <p:ph type="sldImg"/>
          </p:nvPr>
        </p:nvSpPr>
        <p:spPr>
          <a:ln/>
        </p:spPr>
      </p:sp>
      <p:sp>
        <p:nvSpPr>
          <p:cNvPr id="56324" name="Rectangle 3">
            <a:extLst>
              <a:ext uri="{FF2B5EF4-FFF2-40B4-BE49-F238E27FC236}">
                <a16:creationId xmlns:a16="http://schemas.microsoft.com/office/drawing/2014/main" id="{E925A7B2-2264-3CDD-794F-FDE8C9CA4E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13C6B97E-DFD7-94AE-FCAC-3A4C9C7350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2189783-CA25-4635-A35B-4585A1FFD2BE}" type="slidenum">
              <a:rPr lang="en-US" altLang="en-US" smtClean="0"/>
              <a:pPr>
                <a:spcBef>
                  <a:spcPct val="0"/>
                </a:spcBef>
              </a:pPr>
              <a:t>30</a:t>
            </a:fld>
            <a:endParaRPr lang="en-US" altLang="en-US"/>
          </a:p>
        </p:txBody>
      </p:sp>
      <p:sp>
        <p:nvSpPr>
          <p:cNvPr id="58371" name="Rectangle 2">
            <a:extLst>
              <a:ext uri="{FF2B5EF4-FFF2-40B4-BE49-F238E27FC236}">
                <a16:creationId xmlns:a16="http://schemas.microsoft.com/office/drawing/2014/main" id="{4FEC80F0-8640-9A12-2F20-6497AC70E3A4}"/>
              </a:ext>
            </a:extLst>
          </p:cNvPr>
          <p:cNvSpPr>
            <a:spLocks noRot="1" noChangeArrowheads="1" noTextEdit="1"/>
          </p:cNvSpPr>
          <p:nvPr>
            <p:ph type="sldImg"/>
          </p:nvPr>
        </p:nvSpPr>
        <p:spPr>
          <a:ln/>
        </p:spPr>
      </p:sp>
      <p:sp>
        <p:nvSpPr>
          <p:cNvPr id="58372" name="Rectangle 3">
            <a:extLst>
              <a:ext uri="{FF2B5EF4-FFF2-40B4-BE49-F238E27FC236}">
                <a16:creationId xmlns:a16="http://schemas.microsoft.com/office/drawing/2014/main" id="{7A725972-7E0A-71A8-C1CB-A63892D21A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031">
            <a:extLst>
              <a:ext uri="{FF2B5EF4-FFF2-40B4-BE49-F238E27FC236}">
                <a16:creationId xmlns:a16="http://schemas.microsoft.com/office/drawing/2014/main" id="{3DA62DC2-1986-5283-679F-2D01B194BE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8FC4B039-B3E9-4E56-A164-8B372CF74C63}" type="slidenum">
              <a:rPr lang="en-AU" altLang="en-US" smtClean="0"/>
              <a:pPr>
                <a:spcBef>
                  <a:spcPct val="0"/>
                </a:spcBef>
              </a:pPr>
              <a:t>32</a:t>
            </a:fld>
            <a:endParaRPr lang="en-AU" altLang="en-US"/>
          </a:p>
        </p:txBody>
      </p:sp>
      <p:sp>
        <p:nvSpPr>
          <p:cNvPr id="61443" name="Rectangle 2">
            <a:extLst>
              <a:ext uri="{FF2B5EF4-FFF2-40B4-BE49-F238E27FC236}">
                <a16:creationId xmlns:a16="http://schemas.microsoft.com/office/drawing/2014/main" id="{A1A493DC-AEBC-A17E-D1BC-673A19FB3A6F}"/>
              </a:ext>
            </a:extLst>
          </p:cNvPr>
          <p:cNvSpPr>
            <a:spLocks noRot="1" noChangeArrowheads="1" noTextEdit="1"/>
          </p:cNvSpPr>
          <p:nvPr>
            <p:ph type="sldImg"/>
          </p:nvPr>
        </p:nvSpPr>
        <p:spPr>
          <a:ln/>
        </p:spPr>
      </p:sp>
      <p:sp>
        <p:nvSpPr>
          <p:cNvPr id="61444" name="Rectangle 3">
            <a:extLst>
              <a:ext uri="{FF2B5EF4-FFF2-40B4-BE49-F238E27FC236}">
                <a16:creationId xmlns:a16="http://schemas.microsoft.com/office/drawing/2014/main" id="{EBEE9897-93B7-F8A7-1357-9ADFD0F3DA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ea typeface="ＭＳ Ｐゴシック" panose="020B0600070205080204" pitchFamily="34" charset="-128"/>
              </a:rPr>
              <a:t>In recent years, the most widely used hash function has been the Secure Hash Algorithm (SHA). The Secure Hash Algorithm (SHA) was developed by the National Institute of Standards and Technology (NIST) and published as a federal information processing standard (FIPS 180) in 1993; a revised version was issued as FIPS 180-1 in 1995 and is generally referred to as SHA-1. The actual standards document is entitled Secure Hash Standard. SHA is based on the hash function MD4 and its design closely models MD4. SHA-1 produces a hash value of 160 bits. In 2005, a research team described an attack in which two separate messages could be found that deliver the same SHA-1 hash using 2^69 operations, far fewer than the 2^80 operations previously thought needed to find a collision with an SHA-1 hash [WANG05]. This result has hastened the transition to newer, longer versions of SHA.</a:t>
            </a:r>
            <a:endParaRPr lang="en-AU"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31">
            <a:extLst>
              <a:ext uri="{FF2B5EF4-FFF2-40B4-BE49-F238E27FC236}">
                <a16:creationId xmlns:a16="http://schemas.microsoft.com/office/drawing/2014/main" id="{B0681767-3B41-4580-DD57-9E50981CB6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C62BEF62-CAF1-4D4B-959C-99B03D06587D}" type="slidenum">
              <a:rPr lang="en-AU" altLang="en-US" smtClean="0"/>
              <a:pPr>
                <a:spcBef>
                  <a:spcPct val="0"/>
                </a:spcBef>
              </a:pPr>
              <a:t>33</a:t>
            </a:fld>
            <a:endParaRPr lang="en-AU" altLang="en-US"/>
          </a:p>
        </p:txBody>
      </p:sp>
      <p:sp>
        <p:nvSpPr>
          <p:cNvPr id="63491" name="Rectangle 2">
            <a:extLst>
              <a:ext uri="{FF2B5EF4-FFF2-40B4-BE49-F238E27FC236}">
                <a16:creationId xmlns:a16="http://schemas.microsoft.com/office/drawing/2014/main" id="{170BEC21-4BB5-0F80-CBD6-679CC789FB96}"/>
              </a:ext>
            </a:extLst>
          </p:cNvPr>
          <p:cNvSpPr>
            <a:spLocks noChangeArrowheads="1" noTextEdit="1"/>
          </p:cNvSpPr>
          <p:nvPr>
            <p:ph type="sldImg"/>
          </p:nvPr>
        </p:nvSpPr>
        <p:spPr>
          <a:solidFill>
            <a:srgbClr val="FFFFFF"/>
          </a:solidFill>
          <a:ln/>
        </p:spPr>
      </p:sp>
      <p:sp>
        <p:nvSpPr>
          <p:cNvPr id="63492" name="Rectangle 3">
            <a:extLst>
              <a:ext uri="{FF2B5EF4-FFF2-40B4-BE49-F238E27FC236}">
                <a16:creationId xmlns:a16="http://schemas.microsoft.com/office/drawing/2014/main" id="{7199193F-3ED3-4A5A-BFFC-4351839F86EE}"/>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ea typeface="ＭＳ Ｐゴシック" panose="020B0600070205080204" pitchFamily="34" charset="-128"/>
              </a:rPr>
              <a:t>In 2002, NIST produced a revised version of the standard, FIPS 180-2, that defined three new versions of SHA, with hash value lengths of 256, 384, and 512 bits, known as SHA-256, SHA-384, and SHA-512. Collectively,  these hash algorithms are known as SHA-2. These new versions have the same underlying structure and use the same types of modular arithmetic and logical binary operations as SHA-1, hence analyses should be similar. A revised document was issued as FIP PUB 180-3 in 2008, which added a 224-bit version. SHA-2 is also specified in RFC 4634, which essentially duplicates the material in FIPS 180-3, but adds a C code implementation. </a:t>
            </a:r>
          </a:p>
          <a:p>
            <a:pPr eaLnBrk="1" hangingPunct="1"/>
            <a:r>
              <a:rPr lang="en-US" altLang="en-US">
                <a:latin typeface="Calibri" panose="020F0502020204030204" pitchFamily="34" charset="0"/>
                <a:ea typeface="ＭＳ Ｐゴシック" panose="020B0600070205080204" pitchFamily="34" charset="-128"/>
              </a:rPr>
              <a:t>In 2005, NIST announced the intention to phase out approval of SHA-1 and move to a reliance on the other SHA versions by 2010. </a:t>
            </a:r>
            <a:endParaRPr lang="en-AU"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35632D20-81F3-0E1A-CB16-831D1E01A879}"/>
              </a:ext>
            </a:extLst>
          </p:cNvPr>
          <p:cNvSpPr>
            <a:spLocks noGrp="1" noRot="1" noChangeAspect="1" noChangeArrowheads="1" noTextEdit="1"/>
          </p:cNvSpPr>
          <p:nvPr>
            <p:ph type="sldImg"/>
          </p:nvPr>
        </p:nvSpPr>
        <p:spPr>
          <a:ln/>
        </p:spPr>
      </p:sp>
      <p:sp>
        <p:nvSpPr>
          <p:cNvPr id="65539" name="Notes Placeholder 2">
            <a:extLst>
              <a:ext uri="{FF2B5EF4-FFF2-40B4-BE49-F238E27FC236}">
                <a16:creationId xmlns:a16="http://schemas.microsoft.com/office/drawing/2014/main" id="{45E4A449-7FEF-EE52-3B95-2CAC1F4CFA6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Stallings Table 11.3 provides a comparison of the various parameters for the SHA hash functions.</a:t>
            </a:r>
          </a:p>
        </p:txBody>
      </p:sp>
      <p:sp>
        <p:nvSpPr>
          <p:cNvPr id="65540" name="Slide Number Placeholder 3">
            <a:extLst>
              <a:ext uri="{FF2B5EF4-FFF2-40B4-BE49-F238E27FC236}">
                <a16:creationId xmlns:a16="http://schemas.microsoft.com/office/drawing/2014/main" id="{2BFB2B82-B9F8-6879-2450-A245990913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FDA79D26-3DE2-4FAA-97EF-6B886427E12B}" type="slidenum">
              <a:rPr lang="en-AU" altLang="en-US" smtClean="0"/>
              <a:pPr>
                <a:spcBef>
                  <a:spcPct val="0"/>
                </a:spcBef>
              </a:pPr>
              <a:t>34</a:t>
            </a:fld>
            <a:endParaRPr lang="en-AU"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31">
            <a:extLst>
              <a:ext uri="{FF2B5EF4-FFF2-40B4-BE49-F238E27FC236}">
                <a16:creationId xmlns:a16="http://schemas.microsoft.com/office/drawing/2014/main" id="{31E79F75-0D00-EFC8-EC41-87D20860FD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461CA21-F5C3-448D-9BF0-1FB38394EDDB}" type="slidenum">
              <a:rPr lang="en-AU" altLang="en-US" smtClean="0"/>
              <a:pPr>
                <a:spcBef>
                  <a:spcPct val="0"/>
                </a:spcBef>
              </a:pPr>
              <a:t>36</a:t>
            </a:fld>
            <a:endParaRPr lang="en-AU" altLang="en-US"/>
          </a:p>
        </p:txBody>
      </p:sp>
      <p:sp>
        <p:nvSpPr>
          <p:cNvPr id="68611" name="Rectangle 2">
            <a:extLst>
              <a:ext uri="{FF2B5EF4-FFF2-40B4-BE49-F238E27FC236}">
                <a16:creationId xmlns:a16="http://schemas.microsoft.com/office/drawing/2014/main" id="{8D15EB59-900F-CA8B-7467-A6728D266CD1}"/>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B9765D64-BF6B-41D4-24BC-E0C3869184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latin typeface="Calibri" panose="020F0502020204030204" pitchFamily="34" charset="0"/>
                <a:ea typeface="ＭＳ Ｐゴシック" panose="020B0600070205080204" pitchFamily="34" charset="-128"/>
              </a:rPr>
              <a:t>Now examine the structure of </a:t>
            </a:r>
            <a:r>
              <a:rPr lang="en-US" altLang="en-US">
                <a:latin typeface="Calibri" panose="020F0502020204030204" pitchFamily="34" charset="0"/>
                <a:ea typeface="ＭＳ Ｐゴシック" panose="020B0600070205080204" pitchFamily="34" charset="-128"/>
              </a:rPr>
              <a:t>SHA-512, noting that the other versions are quite similar.</a:t>
            </a:r>
          </a:p>
          <a:p>
            <a:pPr eaLnBrk="1" hangingPunct="1"/>
            <a:r>
              <a:rPr lang="en-US" altLang="en-US">
                <a:latin typeface="Calibri" panose="020F0502020204030204" pitchFamily="34" charset="0"/>
                <a:ea typeface="ＭＳ Ｐゴシック" panose="020B0600070205080204" pitchFamily="34" charset="-128"/>
              </a:rPr>
              <a:t>SHA-512 follows the structure depicted in Stallings Figure 11.8. The processing consists of the following steps: </a:t>
            </a:r>
          </a:p>
          <a:p>
            <a:pPr eaLnBrk="1" hangingPunct="1"/>
            <a:r>
              <a:rPr lang="en-US" altLang="en-US">
                <a:latin typeface="Calibri" panose="020F0502020204030204" pitchFamily="34" charset="0"/>
                <a:ea typeface="ＭＳ Ｐゴシック" panose="020B0600070205080204" pitchFamily="34" charset="-128"/>
              </a:rPr>
              <a:t>• Step 1: Append padding bits, consists of a single 1-bit followed by the necessary number of 0-bits, so that its length is congruent to 896 modulo 1024</a:t>
            </a:r>
          </a:p>
          <a:p>
            <a:pPr eaLnBrk="1" hangingPunct="1"/>
            <a:r>
              <a:rPr lang="en-US" altLang="en-US">
                <a:latin typeface="Calibri" panose="020F0502020204030204" pitchFamily="34" charset="0"/>
                <a:ea typeface="ＭＳ Ｐゴシック" panose="020B0600070205080204" pitchFamily="34" charset="-128"/>
              </a:rPr>
              <a:t>• Step 2: Append length as an (big-endian) unsigned 128-bit integer</a:t>
            </a:r>
          </a:p>
          <a:p>
            <a:pPr eaLnBrk="1" hangingPunct="1"/>
            <a:r>
              <a:rPr lang="en-US" altLang="en-US">
                <a:latin typeface="Calibri" panose="020F0502020204030204" pitchFamily="34" charset="0"/>
                <a:ea typeface="ＭＳ Ｐゴシック" panose="020B0600070205080204" pitchFamily="34" charset="-128"/>
              </a:rPr>
              <a:t>• Step 3: Initialize hash buffer to a set of 64-bit integer constants (see text) </a:t>
            </a:r>
          </a:p>
          <a:p>
            <a:pPr eaLnBrk="1" hangingPunct="1"/>
            <a:r>
              <a:rPr lang="en-US" altLang="en-US">
                <a:latin typeface="Calibri" panose="020F0502020204030204" pitchFamily="34" charset="0"/>
                <a:ea typeface="ＭＳ Ｐゴシック" panose="020B0600070205080204" pitchFamily="34" charset="-128"/>
              </a:rPr>
              <a:t>• Step 4: Process the message in 1024-bit (128-word) blocks, which forms the heart of the algorithm. Each round takes as input the 512-bit buffer value H</a:t>
            </a:r>
            <a:r>
              <a:rPr lang="en-US" altLang="en-US" baseline="-25000">
                <a:latin typeface="Calibri" panose="020F0502020204030204" pitchFamily="34" charset="0"/>
                <a:ea typeface="ＭＳ Ｐゴシック" panose="020B0600070205080204" pitchFamily="34" charset="-128"/>
              </a:rPr>
              <a:t>i</a:t>
            </a:r>
            <a:r>
              <a:rPr lang="en-US" altLang="en-US">
                <a:latin typeface="Calibri" panose="020F0502020204030204" pitchFamily="34" charset="0"/>
                <a:ea typeface="ＭＳ Ｐゴシック" panose="020B0600070205080204" pitchFamily="34" charset="-128"/>
              </a:rPr>
              <a:t>, and updates the contents of that buffer. </a:t>
            </a:r>
          </a:p>
          <a:p>
            <a:pPr eaLnBrk="1" hangingPunct="1"/>
            <a:r>
              <a:rPr lang="en-US" altLang="en-US">
                <a:latin typeface="Calibri" panose="020F0502020204030204" pitchFamily="34" charset="0"/>
                <a:ea typeface="ＭＳ Ｐゴシック" panose="020B0600070205080204" pitchFamily="34" charset="-128"/>
              </a:rPr>
              <a:t>• Step 5: Output the final state value as the resulting hash</a:t>
            </a:r>
          </a:p>
          <a:p>
            <a:pPr eaLnBrk="1" hangingPunct="1"/>
            <a:r>
              <a:rPr lang="en-US" altLang="en-US">
                <a:latin typeface="Calibri" panose="020F0502020204030204" pitchFamily="34" charset="0"/>
                <a:ea typeface="ＭＳ Ｐゴシック" panose="020B0600070205080204" pitchFamily="34" charset="-128"/>
              </a:rPr>
              <a:t>See text for more details.</a:t>
            </a:r>
            <a:endParaRPr lang="en-AU" altLang="en-US">
              <a:latin typeface="Calibri" panose="020F0502020204030204" pitchFamily="34"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31">
            <a:extLst>
              <a:ext uri="{FF2B5EF4-FFF2-40B4-BE49-F238E27FC236}">
                <a16:creationId xmlns:a16="http://schemas.microsoft.com/office/drawing/2014/main" id="{186FB562-19D7-C82B-7A28-B4613CE5EA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3ABB85B7-66F5-49C6-A692-E7E58B034AB9}" type="slidenum">
              <a:rPr lang="en-AU" altLang="en-US" smtClean="0"/>
              <a:pPr>
                <a:spcBef>
                  <a:spcPct val="0"/>
                </a:spcBef>
              </a:pPr>
              <a:t>38</a:t>
            </a:fld>
            <a:endParaRPr lang="en-AU" altLang="en-US"/>
          </a:p>
        </p:txBody>
      </p:sp>
      <p:sp>
        <p:nvSpPr>
          <p:cNvPr id="71683" name="Rectangle 2">
            <a:extLst>
              <a:ext uri="{FF2B5EF4-FFF2-40B4-BE49-F238E27FC236}">
                <a16:creationId xmlns:a16="http://schemas.microsoft.com/office/drawing/2014/main" id="{FA645F99-0B49-11C3-F32B-DC54214C82F0}"/>
              </a:ext>
            </a:extLst>
          </p:cNvPr>
          <p:cNvSpPr>
            <a:spLocks noRot="1" noChangeArrowheads="1" noTextEdit="1"/>
          </p:cNvSpPr>
          <p:nvPr>
            <p:ph type="sldImg"/>
          </p:nvPr>
        </p:nvSpPr>
        <p:spPr>
          <a:ln/>
        </p:spPr>
      </p:sp>
      <p:sp>
        <p:nvSpPr>
          <p:cNvPr id="71684" name="Rectangle 3">
            <a:extLst>
              <a:ext uri="{FF2B5EF4-FFF2-40B4-BE49-F238E27FC236}">
                <a16:creationId xmlns:a16="http://schemas.microsoft.com/office/drawing/2014/main" id="{8A5309F8-BD9A-99A2-1B48-A6B62E6470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ea typeface="ＭＳ Ｐゴシック" panose="020B0600070205080204" pitchFamily="34" charset="-128"/>
              </a:rPr>
              <a:t>The structure of each of the 80 rounds is shown in Stallings Figure 11.10. Each 64-bit word is shuffled along one place, and in some cases manipulated using a series of simple logical functions (ANDs, NOTs, ORs, XORs, ROTates), in order to provide the avalanche &amp; completeness properties of the hash function. The elements are:</a:t>
            </a:r>
          </a:p>
          <a:p>
            <a:pPr eaLnBrk="1" hangingPunct="1"/>
            <a:r>
              <a:rPr lang="en-US" altLang="en-US">
                <a:latin typeface="Calibri" panose="020F0502020204030204" pitchFamily="34" charset="0"/>
                <a:ea typeface="ＭＳ Ｐゴシック" panose="020B0600070205080204" pitchFamily="34" charset="-128"/>
              </a:rPr>
              <a:t>Ch(e,f,g) = (e AND f) XOR (NOT e AND g)</a:t>
            </a:r>
          </a:p>
          <a:p>
            <a:pPr eaLnBrk="1" hangingPunct="1"/>
            <a:r>
              <a:rPr lang="en-US" altLang="en-US">
                <a:latin typeface="Calibri" panose="020F0502020204030204" pitchFamily="34" charset="0"/>
                <a:ea typeface="ＭＳ Ｐゴシック" panose="020B0600070205080204" pitchFamily="34" charset="-128"/>
              </a:rPr>
              <a:t>Maj(a,b,c) = (a AND b) XOR (a AND c) XOR (b AND c)</a:t>
            </a:r>
          </a:p>
          <a:p>
            <a:pPr eaLnBrk="1" hangingPunct="1"/>
            <a:r>
              <a:rPr lang="en-US" altLang="en-US">
                <a:latin typeface="Calibri" panose="020F0502020204030204" pitchFamily="34" charset="0"/>
                <a:ea typeface="ＭＳ Ｐゴシック" panose="020B0600070205080204" pitchFamily="34" charset="-128"/>
              </a:rPr>
              <a:t>∑(a) = ROTR(a,28) XOR ROTR(a,34) XOR ROTR(a,39)</a:t>
            </a:r>
          </a:p>
          <a:p>
            <a:pPr eaLnBrk="1" hangingPunct="1"/>
            <a:r>
              <a:rPr lang="en-US" altLang="en-US">
                <a:latin typeface="Calibri" panose="020F0502020204030204" pitchFamily="34" charset="0"/>
                <a:ea typeface="ＭＳ Ｐゴシック" panose="020B0600070205080204" pitchFamily="34" charset="-128"/>
              </a:rPr>
              <a:t>∑(e) = ROTR(e,14) XOR ROTR(e,18) XOR ROTR(e,41)</a:t>
            </a:r>
          </a:p>
          <a:p>
            <a:pPr eaLnBrk="1" hangingPunct="1"/>
            <a:r>
              <a:rPr lang="en-US" altLang="en-US">
                <a:latin typeface="Calibri" panose="020F0502020204030204" pitchFamily="34" charset="0"/>
                <a:ea typeface="ＭＳ Ｐゴシック" panose="020B0600070205080204" pitchFamily="34" charset="-128"/>
              </a:rPr>
              <a:t>+ = addition modulo 2^64</a:t>
            </a:r>
          </a:p>
          <a:p>
            <a:pPr eaLnBrk="1" hangingPunct="1"/>
            <a:r>
              <a:rPr lang="en-US" altLang="en-US">
                <a:latin typeface="Calibri" panose="020F0502020204030204" pitchFamily="34" charset="0"/>
                <a:ea typeface="ＭＳ Ｐゴシック" panose="020B0600070205080204" pitchFamily="34" charset="-128"/>
              </a:rPr>
              <a:t>Kt  = a 64-bit additive constant </a:t>
            </a:r>
          </a:p>
          <a:p>
            <a:pPr eaLnBrk="1" hangingPunct="1"/>
            <a:r>
              <a:rPr lang="en-US" altLang="en-US">
                <a:latin typeface="Calibri" panose="020F0502020204030204" pitchFamily="34" charset="0"/>
                <a:ea typeface="ＭＳ Ｐゴシック" panose="020B0600070205080204" pitchFamily="34" charset="-128"/>
              </a:rPr>
              <a:t>Wt = a 64-bit word derived from the current 512-bit input block.</a:t>
            </a:r>
          </a:p>
          <a:p>
            <a:pPr eaLnBrk="1" hangingPunct="1"/>
            <a:endParaRPr lang="en-US" altLang="en-US">
              <a:latin typeface="Calibri" panose="020F0502020204030204" pitchFamily="34" charset="0"/>
              <a:ea typeface="ＭＳ Ｐゴシック" panose="020B0600070205080204" pitchFamily="34" charset="-128"/>
            </a:endParaRPr>
          </a:p>
          <a:p>
            <a:pPr eaLnBrk="1" hangingPunct="1"/>
            <a:r>
              <a:rPr lang="en-US" altLang="en-US">
                <a:latin typeface="Calibri" panose="020F0502020204030204" pitchFamily="34" charset="0"/>
                <a:ea typeface="ＭＳ Ｐゴシック" panose="020B0600070205080204" pitchFamily="34" charset="-128"/>
              </a:rPr>
              <a:t>Six of the eight words of the output of the round function involve simply permutation (</a:t>
            </a:r>
            <a:r>
              <a:rPr lang="en-US" altLang="en-US" i="1">
                <a:latin typeface="Calibri" panose="020F0502020204030204" pitchFamily="34" charset="0"/>
                <a:ea typeface="ＭＳ Ｐゴシック" panose="020B0600070205080204" pitchFamily="34" charset="-128"/>
              </a:rPr>
              <a:t>b, c, d, f, g, h</a:t>
            </a:r>
            <a:r>
              <a:rPr lang="en-US" altLang="en-US">
                <a:latin typeface="Calibri" panose="020F0502020204030204" pitchFamily="34" charset="0"/>
                <a:ea typeface="ＭＳ Ｐゴシック" panose="020B0600070205080204" pitchFamily="34" charset="-128"/>
              </a:rPr>
              <a:t>) by means of rotation. This is indicated by shading in Figure 11.10. Only two of the output words (</a:t>
            </a:r>
            <a:r>
              <a:rPr lang="en-US" altLang="en-US" i="1">
                <a:latin typeface="Calibri" panose="020F0502020204030204" pitchFamily="34" charset="0"/>
                <a:ea typeface="ＭＳ Ｐゴシック" panose="020B0600070205080204" pitchFamily="34" charset="-128"/>
              </a:rPr>
              <a:t>a, e) </a:t>
            </a:r>
            <a:r>
              <a:rPr lang="en-US" altLang="en-US">
                <a:latin typeface="Calibri" panose="020F0502020204030204" pitchFamily="34" charset="0"/>
                <a:ea typeface="ＭＳ Ｐゴシック" panose="020B0600070205080204" pitchFamily="34" charset="-128"/>
              </a:rPr>
              <a:t>are generated by substitution. Word e is a function of input variables </a:t>
            </a:r>
            <a:r>
              <a:rPr lang="en-US" altLang="en-US" i="1">
                <a:latin typeface="Calibri" panose="020F0502020204030204" pitchFamily="34" charset="0"/>
                <a:ea typeface="ＭＳ Ｐゴシック" panose="020B0600070205080204" pitchFamily="34" charset="-128"/>
              </a:rPr>
              <a:t>d, e, f, g, h, </a:t>
            </a:r>
            <a:r>
              <a:rPr lang="en-US" altLang="en-US">
                <a:latin typeface="Calibri" panose="020F0502020204030204" pitchFamily="34" charset="0"/>
                <a:ea typeface="ＭＳ Ｐゴシック" panose="020B0600070205080204" pitchFamily="34" charset="-128"/>
              </a:rPr>
              <a:t>as well as the round word W t and the constant Kt. Word a is a function of all of the input variables, as well as the round word W t and the constant Kt.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953EDCC1-878D-44E2-8D38-FF37B5B79855}"/>
              </a:ext>
            </a:extLst>
          </p:cNvPr>
          <p:cNvSpPr>
            <a:spLocks noGrp="1" noRot="1" noChangeAspect="1" noChangeArrowheads="1" noTextEdit="1"/>
          </p:cNvSpPr>
          <p:nvPr>
            <p:ph type="sldImg"/>
          </p:nvPr>
        </p:nvSpPr>
        <p:spPr>
          <a:ln/>
        </p:spPr>
      </p:sp>
      <p:sp>
        <p:nvSpPr>
          <p:cNvPr id="74755" name="Notes Placeholder 2">
            <a:extLst>
              <a:ext uri="{FF2B5EF4-FFF2-40B4-BE49-F238E27FC236}">
                <a16:creationId xmlns:a16="http://schemas.microsoft.com/office/drawing/2014/main" id="{67FE8C80-BEDA-2A9C-FCDB-1FEDEB9A056C}"/>
              </a:ext>
            </a:extLst>
          </p:cNvPr>
          <p:cNvSpPr>
            <a:spLocks noGrp="1"/>
          </p:cNvSpPr>
          <p:nvPr>
            <p:ph type="body" idx="1"/>
          </p:nvPr>
        </p:nvSpPr>
        <p:spPr>
          <a:xfrm>
            <a:off x="457200" y="4343400"/>
            <a:ext cx="60198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ea typeface="ＭＳ Ｐゴシック" panose="020B0600070205080204" pitchFamily="34" charset="-128"/>
              </a:rPr>
              <a:t>As with encryption algorithms, cryptanalytic attacks on hash functions seek to exploit some property of the algorithm to perform some attack other than an exhaustive search. In recent years, have much effort, and some successes, in developing cryptanalytic attacks on hash functions. Must consider the overall structure of a typical secure hash function, referred to as an iterated hash function, as indicated in Stallings Figure 11.7. This was proposed by Merkle and is the structure of most hash functions in use today. The hash function takes an input message and partitions it into </a:t>
            </a:r>
            <a:r>
              <a:rPr lang="en-US" altLang="en-US" i="1">
                <a:latin typeface="Calibri" panose="020F0502020204030204" pitchFamily="34" charset="0"/>
                <a:ea typeface="ＭＳ Ｐゴシック" panose="020B0600070205080204" pitchFamily="34" charset="-128"/>
              </a:rPr>
              <a:t>L </a:t>
            </a:r>
            <a:r>
              <a:rPr lang="en-US" altLang="en-US">
                <a:latin typeface="Calibri" panose="020F0502020204030204" pitchFamily="34" charset="0"/>
                <a:ea typeface="ＭＳ Ｐゴシック" panose="020B0600070205080204" pitchFamily="34" charset="-128"/>
              </a:rPr>
              <a:t>fixed-sized blocks of </a:t>
            </a:r>
            <a:r>
              <a:rPr lang="en-US" altLang="en-US" i="1">
                <a:latin typeface="Calibri" panose="020F0502020204030204" pitchFamily="34" charset="0"/>
                <a:ea typeface="ＭＳ Ｐゴシック" panose="020B0600070205080204" pitchFamily="34" charset="-128"/>
              </a:rPr>
              <a:t>b </a:t>
            </a:r>
            <a:r>
              <a:rPr lang="en-US" altLang="en-US">
                <a:latin typeface="Calibri" panose="020F0502020204030204" pitchFamily="34" charset="0"/>
                <a:ea typeface="ＭＳ Ｐゴシック" panose="020B0600070205080204" pitchFamily="34" charset="-128"/>
              </a:rPr>
              <a:t>bits each. If necessary, the final block is padded to </a:t>
            </a:r>
            <a:r>
              <a:rPr lang="en-US" altLang="en-US" i="1">
                <a:latin typeface="Calibri" panose="020F0502020204030204" pitchFamily="34" charset="0"/>
                <a:ea typeface="ＭＳ Ｐゴシック" panose="020B0600070205080204" pitchFamily="34" charset="-128"/>
              </a:rPr>
              <a:t>b </a:t>
            </a:r>
            <a:r>
              <a:rPr lang="en-US" altLang="en-US">
                <a:latin typeface="Calibri" panose="020F0502020204030204" pitchFamily="34" charset="0"/>
                <a:ea typeface="ＭＳ Ｐゴシック" panose="020B0600070205080204" pitchFamily="34" charset="-128"/>
              </a:rPr>
              <a:t>bits. The final block also includes the value of the total length of the input to the hash function. The inclusion of the length makes the job of the opponent more difficult. The hash algorithm involves repeated use of a compression function, </a:t>
            </a:r>
            <a:r>
              <a:rPr lang="en-US" altLang="en-US" i="1">
                <a:latin typeface="Calibri" panose="020F0502020204030204" pitchFamily="34" charset="0"/>
                <a:ea typeface="ＭＳ Ｐゴシック" panose="020B0600070205080204" pitchFamily="34" charset="-128"/>
              </a:rPr>
              <a:t>f</a:t>
            </a:r>
            <a:r>
              <a:rPr lang="en-US" altLang="en-US">
                <a:latin typeface="Calibri" panose="020F0502020204030204" pitchFamily="34" charset="0"/>
                <a:ea typeface="ＭＳ Ｐゴシック" panose="020B0600070205080204" pitchFamily="34" charset="-128"/>
              </a:rPr>
              <a:t>, that takes two inputs (an </a:t>
            </a:r>
            <a:r>
              <a:rPr lang="en-US" altLang="en-US" i="1">
                <a:latin typeface="Calibri" panose="020F0502020204030204" pitchFamily="34" charset="0"/>
                <a:ea typeface="ＭＳ Ｐゴシック" panose="020B0600070205080204" pitchFamily="34" charset="-128"/>
              </a:rPr>
              <a:t>n</a:t>
            </a:r>
            <a:r>
              <a:rPr lang="en-US" altLang="en-US">
                <a:latin typeface="Calibri" panose="020F0502020204030204" pitchFamily="34" charset="0"/>
                <a:ea typeface="ＭＳ Ｐゴシック" panose="020B0600070205080204" pitchFamily="34" charset="-128"/>
              </a:rPr>
              <a:t>-bit input from the previous step, called the chaining variable, and a </a:t>
            </a:r>
            <a:r>
              <a:rPr lang="en-US" altLang="en-US" i="1">
                <a:latin typeface="Calibri" panose="020F0502020204030204" pitchFamily="34" charset="0"/>
                <a:ea typeface="ＭＳ Ｐゴシック" panose="020B0600070205080204" pitchFamily="34" charset="-128"/>
              </a:rPr>
              <a:t>b</a:t>
            </a:r>
            <a:r>
              <a:rPr lang="en-US" altLang="en-US">
                <a:latin typeface="Calibri" panose="020F0502020204030204" pitchFamily="34" charset="0"/>
                <a:ea typeface="ＭＳ Ｐゴシック" panose="020B0600070205080204" pitchFamily="34" charset="-128"/>
              </a:rPr>
              <a:t>-bit block) and produces an </a:t>
            </a:r>
            <a:r>
              <a:rPr lang="en-US" altLang="en-US" i="1">
                <a:latin typeface="Calibri" panose="020F0502020204030204" pitchFamily="34" charset="0"/>
                <a:ea typeface="ＭＳ Ｐゴシック" panose="020B0600070205080204" pitchFamily="34" charset="-128"/>
              </a:rPr>
              <a:t>n</a:t>
            </a:r>
            <a:r>
              <a:rPr lang="en-US" altLang="en-US">
                <a:latin typeface="Calibri" panose="020F0502020204030204" pitchFamily="34" charset="0"/>
                <a:ea typeface="ＭＳ Ｐゴシック" panose="020B0600070205080204" pitchFamily="34" charset="-128"/>
              </a:rPr>
              <a:t>-bit output. At the start of hashing, the chaining variable has an initial value that is specified as part of the algorithm. The final value of the chaining variable is the hash value. Often, </a:t>
            </a:r>
            <a:r>
              <a:rPr lang="en-US" altLang="en-US" i="1">
                <a:latin typeface="Calibri" panose="020F0502020204030204" pitchFamily="34" charset="0"/>
                <a:ea typeface="ＭＳ Ｐゴシック" panose="020B0600070205080204" pitchFamily="34" charset="-128"/>
              </a:rPr>
              <a:t>b</a:t>
            </a:r>
            <a:r>
              <a:rPr lang="en-US" altLang="en-US">
                <a:latin typeface="Calibri" panose="020F0502020204030204" pitchFamily="34" charset="0"/>
                <a:ea typeface="ＭＳ Ｐゴシック" panose="020B0600070205080204" pitchFamily="34" charset="-128"/>
              </a:rPr>
              <a:t> &gt; </a:t>
            </a:r>
            <a:r>
              <a:rPr lang="en-US" altLang="en-US" i="1">
                <a:latin typeface="Calibri" panose="020F0502020204030204" pitchFamily="34" charset="0"/>
                <a:ea typeface="ＭＳ Ｐゴシック" panose="020B0600070205080204" pitchFamily="34" charset="-128"/>
              </a:rPr>
              <a:t>n</a:t>
            </a:r>
            <a:r>
              <a:rPr lang="en-US" altLang="en-US">
                <a:latin typeface="Calibri" panose="020F0502020204030204" pitchFamily="34" charset="0"/>
                <a:ea typeface="ＭＳ Ｐゴシック" panose="020B0600070205080204" pitchFamily="34" charset="-128"/>
              </a:rPr>
              <a:t>; hence the term compression. The motivation for this iterative structure stems from the observation by Merkle and Damgard that if the compression function is collision resistant, then so is the resultant iterated hash function. Therefore, the structure can be used to produce a secure hash function to operate on a message of any length. Cryptanalysis of hash functions focuses on the internal structure of f and is based on attempts to find efficient techniques for producing collisions for a single execution of f. Once that is done, the attack must take into account the fixed value of IV. The attack on f depends on exploiting its internal structure. The attacks that have been mounted on hash functions are rather complex and beyond our scope here. </a:t>
            </a:r>
          </a:p>
        </p:txBody>
      </p:sp>
      <p:sp>
        <p:nvSpPr>
          <p:cNvPr id="74756" name="Slide Number Placeholder 3">
            <a:extLst>
              <a:ext uri="{FF2B5EF4-FFF2-40B4-BE49-F238E27FC236}">
                <a16:creationId xmlns:a16="http://schemas.microsoft.com/office/drawing/2014/main" id="{C74D50F5-5F67-F3C2-4581-9797E437F0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FBFE212-6BEA-44E5-80DE-54CEF45EDD34}" type="slidenum">
              <a:rPr lang="en-AU" altLang="en-US" smtClean="0"/>
              <a:pPr>
                <a:spcBef>
                  <a:spcPct val="0"/>
                </a:spcBef>
              </a:pPr>
              <a:t>40</a:t>
            </a:fld>
            <a:endParaRPr lang="en-AU"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59673DBB-25B8-77E1-5A3F-7C197395BE8C}"/>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DE97EE0A-1E0D-46C6-27F5-650D85A11712}"/>
              </a:ext>
            </a:extLst>
          </p:cNvPr>
          <p:cNvSpPr>
            <a:spLocks noGrp="1"/>
          </p:cNvSpPr>
          <p:nvPr>
            <p:ph type="body" idx="1"/>
          </p:nvPr>
        </p:nvSpPr>
        <p:spPr>
          <a:xfrm>
            <a:off x="457200" y="4343400"/>
            <a:ext cx="6019800" cy="4341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ea typeface="ＭＳ Ｐゴシック" panose="020B0600070205080204" pitchFamily="34" charset="-128"/>
              </a:rPr>
              <a:t>As with encryption algorithms, there are two categories of attacks on hash functions: brute-force attacks and cryptanalysis. A brute-force attack does not depend on the specific algorithm but depends only on bit length. In the case of a hash function, a brute-force attack depends only on the bit length of the hash value. A cryptanalysis, in contrast, is an attack based on weaknesses in a particular cryptographic algorithm. </a:t>
            </a:r>
          </a:p>
          <a:p>
            <a:pPr eaLnBrk="1" hangingPunct="1"/>
            <a:r>
              <a:rPr lang="en-US" altLang="en-US">
                <a:latin typeface="Calibri" panose="020F0502020204030204" pitchFamily="34" charset="0"/>
                <a:ea typeface="ＭＳ Ｐゴシック" panose="020B0600070205080204" pitchFamily="34" charset="-128"/>
              </a:rPr>
              <a:t>For a preimage or second preimage attack, an adversary wishes to find a value </a:t>
            </a:r>
            <a:r>
              <a:rPr lang="en-US" altLang="en-US" i="1">
                <a:latin typeface="Calibri" panose="020F0502020204030204" pitchFamily="34" charset="0"/>
                <a:ea typeface="ＭＳ Ｐゴシック" panose="020B0600070205080204" pitchFamily="34" charset="-128"/>
              </a:rPr>
              <a:t>y </a:t>
            </a:r>
            <a:r>
              <a:rPr lang="en-US" altLang="en-US">
                <a:latin typeface="Calibri" panose="020F0502020204030204" pitchFamily="34" charset="0"/>
                <a:ea typeface="ＭＳ Ｐゴシック" panose="020B0600070205080204" pitchFamily="34" charset="-128"/>
              </a:rPr>
              <a:t>such that </a:t>
            </a:r>
            <a:r>
              <a:rPr lang="en-US" altLang="en-US" i="1">
                <a:latin typeface="Calibri" panose="020F0502020204030204" pitchFamily="34" charset="0"/>
                <a:ea typeface="ＭＳ Ｐゴシック" panose="020B0600070205080204" pitchFamily="34" charset="-128"/>
              </a:rPr>
              <a:t>H(y) </a:t>
            </a:r>
            <a:r>
              <a:rPr lang="en-US" altLang="en-US">
                <a:latin typeface="Calibri" panose="020F0502020204030204" pitchFamily="34" charset="0"/>
                <a:ea typeface="ＭＳ Ｐゴシック" panose="020B0600070205080204" pitchFamily="34" charset="-128"/>
              </a:rPr>
              <a:t>is equal to a given hash value h. The brute force method is to pick values of y at random and try each value until a collision occurs. For an </a:t>
            </a:r>
            <a:r>
              <a:rPr lang="en-US" altLang="en-US" i="1">
                <a:latin typeface="Calibri" panose="020F0502020204030204" pitchFamily="34" charset="0"/>
                <a:ea typeface="ＭＳ Ｐゴシック" panose="020B0600070205080204" pitchFamily="34" charset="-128"/>
              </a:rPr>
              <a:t>m-bit </a:t>
            </a:r>
            <a:r>
              <a:rPr lang="en-US" altLang="en-US">
                <a:latin typeface="Calibri" panose="020F0502020204030204" pitchFamily="34" charset="0"/>
                <a:ea typeface="ＭＳ Ｐゴシック" panose="020B0600070205080204" pitchFamily="34" charset="-128"/>
              </a:rPr>
              <a:t>hash value, the level of effort is proportional to 2</a:t>
            </a:r>
            <a:r>
              <a:rPr lang="en-US" altLang="en-US" baseline="30000">
                <a:latin typeface="Calibri" panose="020F0502020204030204" pitchFamily="34" charset="0"/>
                <a:ea typeface="ＭＳ Ｐゴシック" panose="020B0600070205080204" pitchFamily="34" charset="-128"/>
              </a:rPr>
              <a:t>m</a:t>
            </a:r>
            <a:r>
              <a:rPr lang="en-US" altLang="en-US">
                <a:latin typeface="Calibri" panose="020F0502020204030204" pitchFamily="34" charset="0"/>
                <a:ea typeface="ＭＳ Ｐゴシック" panose="020B0600070205080204" pitchFamily="34" charset="-128"/>
              </a:rPr>
              <a:t>. Specifically, the adversary would have to try, on average, 2</a:t>
            </a:r>
            <a:r>
              <a:rPr lang="en-US" altLang="en-US" baseline="30000">
                <a:latin typeface="Calibri" panose="020F0502020204030204" pitchFamily="34" charset="0"/>
                <a:ea typeface="ＭＳ Ｐゴシック" panose="020B0600070205080204" pitchFamily="34" charset="-128"/>
              </a:rPr>
              <a:t>m–1 </a:t>
            </a:r>
            <a:r>
              <a:rPr lang="en-US" altLang="en-US">
                <a:latin typeface="Calibri" panose="020F0502020204030204" pitchFamily="34" charset="0"/>
                <a:ea typeface="ＭＳ Ｐゴシック" panose="020B0600070205080204" pitchFamily="34" charset="-128"/>
              </a:rPr>
              <a:t>values of y to find one that generates a given hash value h</a:t>
            </a:r>
            <a:r>
              <a:rPr lang="en-US" altLang="en-US" i="1">
                <a:latin typeface="Calibri" panose="020F0502020204030204" pitchFamily="34" charset="0"/>
                <a:ea typeface="ＭＳ Ｐゴシック" panose="020B0600070205080204" pitchFamily="34" charset="-128"/>
              </a:rPr>
              <a:t>. </a:t>
            </a:r>
          </a:p>
          <a:p>
            <a:pPr eaLnBrk="1" hangingPunct="1"/>
            <a:r>
              <a:rPr lang="en-US" altLang="en-US">
                <a:latin typeface="Calibri" panose="020F0502020204030204" pitchFamily="34" charset="0"/>
                <a:ea typeface="ＭＳ Ｐゴシック" panose="020B0600070205080204" pitchFamily="34" charset="-128"/>
              </a:rPr>
              <a:t>For a collision resistant attack, an adversary wishes to find two messages or data blocks, x and </a:t>
            </a:r>
            <a:r>
              <a:rPr lang="en-US" altLang="en-US" i="1">
                <a:latin typeface="Calibri" panose="020F0502020204030204" pitchFamily="34" charset="0"/>
                <a:ea typeface="ＭＳ Ｐゴシック" panose="020B0600070205080204" pitchFamily="34" charset="-128"/>
              </a:rPr>
              <a:t>y, </a:t>
            </a:r>
            <a:r>
              <a:rPr lang="en-US" altLang="en-US">
                <a:latin typeface="Calibri" panose="020F0502020204030204" pitchFamily="34" charset="0"/>
                <a:ea typeface="ＭＳ Ｐゴシック" panose="020B0600070205080204" pitchFamily="34" charset="-128"/>
              </a:rPr>
              <a:t>that yield the same hash function: H(x) = H(y). This requires much less effort than a preimage or second preimage attack. The effort required is explained by a mathematical result referred to as the birthday paradox (next slide).</a:t>
            </a:r>
          </a:p>
          <a:p>
            <a:pPr eaLnBrk="1" hangingPunct="1"/>
            <a:r>
              <a:rPr lang="en-US" altLang="en-US">
                <a:latin typeface="Calibri" panose="020F0502020204030204" pitchFamily="34" charset="0"/>
                <a:ea typeface="ＭＳ Ｐゴシック" panose="020B0600070205080204" pitchFamily="34" charset="-128"/>
              </a:rPr>
              <a:t>If collision resistance is required, then the value 2</a:t>
            </a:r>
            <a:r>
              <a:rPr lang="en-US" altLang="en-US" i="1" baseline="30000">
                <a:latin typeface="Calibri" panose="020F0502020204030204" pitchFamily="34" charset="0"/>
                <a:ea typeface="ＭＳ Ｐゴシック" panose="020B0600070205080204" pitchFamily="34" charset="-128"/>
              </a:rPr>
              <a:t>m/2 </a:t>
            </a:r>
            <a:r>
              <a:rPr lang="en-US" altLang="en-US">
                <a:latin typeface="Calibri" panose="020F0502020204030204" pitchFamily="34" charset="0"/>
                <a:ea typeface="ＭＳ Ｐゴシック" panose="020B0600070205080204" pitchFamily="34" charset="-128"/>
              </a:rPr>
              <a:t>determines the strength of the hash code against brute-force attacks. Van Oorschot and Wiener presented a design for a $10 million collision search machine for MD5, which has a 128-bit hash length, that could find a collision in 24 days. Thus a 128-bit code may be viewed as inadequate. The next step up, if a hash code is treated as a sequence of 32 bits, is a 160-bit hash length. With a hash length of 160 bits, the same search machine would require over four thousand years to find a collision. With today's technology, the time would be much shorter, so that 160 bits now appears suspect. </a:t>
            </a:r>
          </a:p>
        </p:txBody>
      </p:sp>
      <p:sp>
        <p:nvSpPr>
          <p:cNvPr id="76804" name="Slide Number Placeholder 3">
            <a:extLst>
              <a:ext uri="{FF2B5EF4-FFF2-40B4-BE49-F238E27FC236}">
                <a16:creationId xmlns:a16="http://schemas.microsoft.com/office/drawing/2014/main" id="{709E6125-242A-9F32-AA5F-6079CD1959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099F0F0B-5692-416A-A3F3-C06698392123}" type="slidenum">
              <a:rPr lang="en-AU" altLang="en-US" smtClean="0"/>
              <a:pPr>
                <a:spcBef>
                  <a:spcPct val="0"/>
                </a:spcBef>
              </a:pPr>
              <a:t>41</a:t>
            </a:fld>
            <a:endParaRPr lang="en-AU"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6D85C656-BA64-3AEF-3691-FBF8293B2985}"/>
              </a:ext>
            </a:extLst>
          </p:cNvPr>
          <p:cNvSpPr>
            <a:spLocks noGrp="1" noRot="1" noChangeAspect="1" noChangeArrowheads="1" noTextEdit="1"/>
          </p:cNvSpPr>
          <p:nvPr>
            <p:ph type="sldImg"/>
          </p:nvPr>
        </p:nvSpPr>
        <p:spPr>
          <a:ln/>
        </p:spPr>
      </p:sp>
      <p:sp>
        <p:nvSpPr>
          <p:cNvPr id="79875" name="Notes Placeholder 2">
            <a:extLst>
              <a:ext uri="{FF2B5EF4-FFF2-40B4-BE49-F238E27FC236}">
                <a16:creationId xmlns:a16="http://schemas.microsoft.com/office/drawing/2014/main" id="{603E5A54-2CA6-9EE6-B7F3-987247AB77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As yet, SHA-1 has not yet been "broken". That is, no one has demonstrated a technique for producing collisions in less than brute-force time. However, because SHA-1 is very similar in structure and in the basic mathematical operations used to MD5 and SHA-0, both of which have been broken, SHA-1 is considered insecure and has been phased out for SHA-2.</a:t>
            </a:r>
          </a:p>
          <a:p>
            <a:r>
              <a:rPr lang="en-US" altLang="en-US">
                <a:latin typeface="Calibri" panose="020F0502020204030204" pitchFamily="34" charset="0"/>
                <a:ea typeface="ＭＳ Ｐゴシック" panose="020B0600070205080204" pitchFamily="34" charset="-128"/>
              </a:rPr>
              <a:t>SHA-2, particularly the 512-bit version, would appear to provide unassailable security. However, SHA-2 shares the same structure and mathematical operations as its predecessors, and this is a cause for concern. Because it will take years to find a suitable replacement for SHA-2, should it become vulnerable, NIST decided to begin the process of developing a new hash standard.  Accordingly, NIST announced in 2007 a competition to produce the next generation NIST hash function, to be called SHA-3. NIST would like to have a new standard in place by the end of 2012, but emphasizes that this is not a fixed timeline.</a:t>
            </a:r>
          </a:p>
        </p:txBody>
      </p:sp>
      <p:sp>
        <p:nvSpPr>
          <p:cNvPr id="79876" name="Slide Number Placeholder 3">
            <a:extLst>
              <a:ext uri="{FF2B5EF4-FFF2-40B4-BE49-F238E27FC236}">
                <a16:creationId xmlns:a16="http://schemas.microsoft.com/office/drawing/2014/main" id="{1D302FCF-86B5-FAF5-2078-527DC75ED9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9F984C44-D16E-44E4-959B-1CA408786AB6}" type="slidenum">
              <a:rPr lang="en-AU" altLang="en-US" smtClean="0"/>
              <a:pPr>
                <a:spcBef>
                  <a:spcPct val="0"/>
                </a:spcBef>
              </a:pPr>
              <a:t>43</a:t>
            </a:fld>
            <a:endParaRPr lang="en-AU"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4FAFC813-CC12-A574-4005-E621F83F66C1}"/>
              </a:ext>
            </a:extLst>
          </p:cNvPr>
          <p:cNvSpPr>
            <a:spLocks noGrp="1" noRot="1" noChangeAspect="1" noChangeArrowheads="1" noTextEdit="1"/>
          </p:cNvSpPr>
          <p:nvPr>
            <p:ph type="sldImg"/>
          </p:nvPr>
        </p:nvSpPr>
        <p:spPr>
          <a:ln/>
        </p:spPr>
      </p:sp>
      <p:sp>
        <p:nvSpPr>
          <p:cNvPr id="81923" name="Notes Placeholder 2">
            <a:extLst>
              <a:ext uri="{FF2B5EF4-FFF2-40B4-BE49-F238E27FC236}">
                <a16:creationId xmlns:a16="http://schemas.microsoft.com/office/drawing/2014/main" id="{0C2B8A35-0415-E5C2-61B3-E705B4E02E6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The basic requirements that must be satisfied by any candidate for SHA-3 are: </a:t>
            </a:r>
          </a:p>
          <a:p>
            <a:pPr>
              <a:buFontTx/>
              <a:buAutoNum type="arabicPeriod"/>
            </a:pPr>
            <a:r>
              <a:rPr lang="en-US" altLang="en-US">
                <a:latin typeface="Calibri" panose="020F0502020204030204" pitchFamily="34" charset="0"/>
                <a:ea typeface="ＭＳ Ｐゴシック" panose="020B0600070205080204" pitchFamily="34" charset="-128"/>
              </a:rPr>
              <a:t>It must be possible to replace SHA-2 with SHA-3 in any application by a simple drop-in substitution. Therefore, SHA-3 must support hash value lengths of 224, 256, 384, and 512 bits.  </a:t>
            </a:r>
          </a:p>
          <a:p>
            <a:pPr>
              <a:buFontTx/>
              <a:buAutoNum type="arabicPeriod"/>
            </a:pPr>
            <a:r>
              <a:rPr lang="en-US" altLang="en-US">
                <a:latin typeface="Calibri" panose="020F0502020204030204" pitchFamily="34" charset="0"/>
                <a:ea typeface="ＭＳ Ｐゴシック" panose="020B0600070205080204" pitchFamily="34" charset="-128"/>
              </a:rPr>
              <a:t>SHA-3 must preserve the online nature of SHA-2. That is, the algorithm must process comparatively small blocks (512 or 1024 bits) at a time instead of requiring that the entire message be buffered in memory before </a:t>
            </a:r>
          </a:p>
          <a:p>
            <a:r>
              <a:rPr lang="en-US" altLang="en-US">
                <a:latin typeface="Calibri" panose="020F0502020204030204" pitchFamily="34" charset="0"/>
                <a:ea typeface="ＭＳ Ｐゴシック" panose="020B0600070205080204" pitchFamily="34" charset="-128"/>
              </a:rPr>
              <a:t>Beyond these basic requirements, NIST has defined a set of evaluation criteria. These criteria are designed to reflect the requirements for the main applications supported by SHA-2, and are:</a:t>
            </a:r>
          </a:p>
          <a:p>
            <a:r>
              <a:rPr lang="en-US" altLang="en-US">
                <a:latin typeface="Calibri" panose="020F0502020204030204" pitchFamily="34" charset="0"/>
                <a:ea typeface="ＭＳ Ｐゴシック" panose="020B0600070205080204" pitchFamily="34" charset="-128"/>
              </a:rPr>
              <a:t>• Security: The strength of SHA-3 should be close to the theoretical maximum for the different required hash sizes, and for both preimage resistance and collision resistance. SHA-3 algorithms must be designed to resist any potentially successful attack on SHA-2 functions</a:t>
            </a:r>
          </a:p>
          <a:p>
            <a:r>
              <a:rPr lang="en-US" altLang="en-US">
                <a:latin typeface="Calibri" panose="020F0502020204030204" pitchFamily="34" charset="0"/>
                <a:ea typeface="ＭＳ Ｐゴシック" panose="020B0600070205080204" pitchFamily="34" charset="-128"/>
              </a:rPr>
              <a:t>• Cost: be both time and memory efficient over a range of hardware platforms.</a:t>
            </a:r>
          </a:p>
          <a:p>
            <a:r>
              <a:rPr lang="en-US" altLang="en-US">
                <a:latin typeface="Calibri" panose="020F0502020204030204" pitchFamily="34" charset="0"/>
                <a:ea typeface="ＭＳ Ｐゴシック" panose="020B0600070205080204" pitchFamily="34" charset="-128"/>
              </a:rPr>
              <a:t>• Algorithm and implementation characteristics: such as flexibility (e.g., tunable parameters for security/performance tradeoffs, opportunity for parallelization, and so on), and simplicity (which makes it easier to analyze the security properties of the algorithm)</a:t>
            </a:r>
          </a:p>
        </p:txBody>
      </p:sp>
      <p:sp>
        <p:nvSpPr>
          <p:cNvPr id="81924" name="Slide Number Placeholder 3">
            <a:extLst>
              <a:ext uri="{FF2B5EF4-FFF2-40B4-BE49-F238E27FC236}">
                <a16:creationId xmlns:a16="http://schemas.microsoft.com/office/drawing/2014/main" id="{FD8D64BF-D5FB-3CBD-6447-FB50C3E1DD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1EF7966-EBA6-496E-A4B0-0A3ECC48F155}" type="slidenum">
              <a:rPr lang="en-AU" altLang="en-US" smtClean="0"/>
              <a:pPr>
                <a:spcBef>
                  <a:spcPct val="0"/>
                </a:spcBef>
              </a:pPr>
              <a:t>44</a:t>
            </a:fld>
            <a:endParaRPr lang="en-AU"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9160FE-F79C-B9C3-6442-7166ADF81773}"/>
              </a:ext>
            </a:extLst>
          </p:cNvPr>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3" name="Rectangle 2">
            <a:extLst>
              <a:ext uri="{FF2B5EF4-FFF2-40B4-BE49-F238E27FC236}">
                <a16:creationId xmlns:a16="http://schemas.microsoft.com/office/drawing/2014/main" id="{48B33B10-E07D-B6A3-A2A7-ED0F9F90CAA6}"/>
              </a:ext>
            </a:extLst>
          </p:cNvPr>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4" name="Rectangle 3">
            <a:extLst>
              <a:ext uri="{FF2B5EF4-FFF2-40B4-BE49-F238E27FC236}">
                <a16:creationId xmlns:a16="http://schemas.microsoft.com/office/drawing/2014/main" id="{8474CBCC-A5DD-6C56-1793-30A3D9ECB43D}"/>
              </a:ext>
            </a:extLst>
          </p:cNvPr>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5" name="Rectangle 4">
            <a:extLst>
              <a:ext uri="{FF2B5EF4-FFF2-40B4-BE49-F238E27FC236}">
                <a16:creationId xmlns:a16="http://schemas.microsoft.com/office/drawing/2014/main" id="{9B52C96E-AAD9-171E-6406-BFAA4351C0FE}"/>
              </a:ext>
            </a:extLst>
          </p:cNvPr>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6" name="Date Placeholder 27">
            <a:extLst>
              <a:ext uri="{FF2B5EF4-FFF2-40B4-BE49-F238E27FC236}">
                <a16:creationId xmlns:a16="http://schemas.microsoft.com/office/drawing/2014/main" id="{BDA52F0E-45F7-37C9-9752-B9976221B66D}"/>
              </a:ext>
            </a:extLst>
          </p:cNvPr>
          <p:cNvSpPr>
            <a:spLocks noGrp="1"/>
          </p:cNvSpPr>
          <p:nvPr>
            <p:ph type="dt" sz="half" idx="10"/>
          </p:nvPr>
        </p:nvSpPr>
        <p:spPr>
          <a:xfrm>
            <a:off x="6400800" y="6354763"/>
            <a:ext cx="2286000" cy="366712"/>
          </a:xfrm>
        </p:spPr>
        <p:txBody>
          <a:bodyPr/>
          <a:lstStyle>
            <a:lvl1pPr>
              <a:defRPr sz="1400"/>
            </a:lvl1pPr>
          </a:lstStyle>
          <a:p>
            <a:pPr>
              <a:defRPr/>
            </a:pPr>
            <a:endParaRPr lang="en-US"/>
          </a:p>
        </p:txBody>
      </p:sp>
      <p:sp>
        <p:nvSpPr>
          <p:cNvPr id="7" name="Footer Placeholder 16">
            <a:extLst>
              <a:ext uri="{FF2B5EF4-FFF2-40B4-BE49-F238E27FC236}">
                <a16:creationId xmlns:a16="http://schemas.microsoft.com/office/drawing/2014/main" id="{D8238098-D25A-2DFD-938F-614F95001BB9}"/>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0" name="Slide Number Placeholder 28">
            <a:extLst>
              <a:ext uri="{FF2B5EF4-FFF2-40B4-BE49-F238E27FC236}">
                <a16:creationId xmlns:a16="http://schemas.microsoft.com/office/drawing/2014/main" id="{B5A13AFC-86F2-496B-9735-9079A6A91998}"/>
              </a:ext>
            </a:extLst>
          </p:cNvPr>
          <p:cNvSpPr>
            <a:spLocks noGrp="1"/>
          </p:cNvSpPr>
          <p:nvPr>
            <p:ph type="sldNum" sz="quarter" idx="12"/>
          </p:nvPr>
        </p:nvSpPr>
        <p:spPr>
          <a:xfrm>
            <a:off x="1216025" y="6354763"/>
            <a:ext cx="1219200" cy="366712"/>
          </a:xfrm>
        </p:spPr>
        <p:txBody>
          <a:bodyPr/>
          <a:lstStyle>
            <a:lvl1pPr>
              <a:defRPr/>
            </a:lvl1pPr>
          </a:lstStyle>
          <a:p>
            <a:pPr>
              <a:defRPr/>
            </a:pPr>
            <a:fld id="{B31E6C7A-8717-4592-B7F4-C2FDF6896F41}" type="slidenum">
              <a:rPr lang="en-US" altLang="en-US"/>
              <a:pPr>
                <a:defRPr/>
              </a:pPr>
              <a:t>‹#›</a:t>
            </a:fld>
            <a:endParaRPr lang="en-US" altLang="en-US"/>
          </a:p>
        </p:txBody>
      </p:sp>
    </p:spTree>
    <p:extLst>
      <p:ext uri="{BB962C8B-B14F-4D97-AF65-F5344CB8AC3E}">
        <p14:creationId xmlns:p14="http://schemas.microsoft.com/office/powerpoint/2010/main" val="3115150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B02B4B7D-AD46-83A2-E553-A789306E2CE0}"/>
              </a:ext>
            </a:extLst>
          </p:cNvPr>
          <p:cNvSpPr>
            <a:spLocks noGrp="1"/>
          </p:cNvSpPr>
          <p:nvPr>
            <p:ph type="dt" sz="half" idx="10"/>
          </p:nvPr>
        </p:nvSpPr>
        <p:spPr/>
        <p:txBody>
          <a:bodyPr/>
          <a:lstStyle>
            <a:lvl1pPr>
              <a:defRPr/>
            </a:lvl1pPr>
          </a:lstStyle>
          <a:p>
            <a:pPr>
              <a:defRPr/>
            </a:pPr>
            <a:endParaRPr lang="en-US"/>
          </a:p>
        </p:txBody>
      </p:sp>
      <p:sp>
        <p:nvSpPr>
          <p:cNvPr id="4" name="Footer Placeholder 2">
            <a:extLst>
              <a:ext uri="{FF2B5EF4-FFF2-40B4-BE49-F238E27FC236}">
                <a16:creationId xmlns:a16="http://schemas.microsoft.com/office/drawing/2014/main" id="{D3221BE3-4036-CBB5-2F11-74F6F169C75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F618DE27-4EA9-64C3-241C-31A2CDC86669}"/>
              </a:ext>
            </a:extLst>
          </p:cNvPr>
          <p:cNvSpPr>
            <a:spLocks noGrp="1"/>
          </p:cNvSpPr>
          <p:nvPr>
            <p:ph type="sldNum" sz="quarter" idx="12"/>
          </p:nvPr>
        </p:nvSpPr>
        <p:spPr/>
        <p:txBody>
          <a:bodyPr/>
          <a:lstStyle>
            <a:lvl1pPr>
              <a:defRPr/>
            </a:lvl1pPr>
          </a:lstStyle>
          <a:p>
            <a:pPr>
              <a:defRPr/>
            </a:pPr>
            <a:fld id="{322BA0CC-28B3-45A3-9E5B-EF7A38C743CA}" type="slidenum">
              <a:rPr lang="en-US" altLang="en-US"/>
              <a:pPr>
                <a:defRPr/>
              </a:pPr>
              <a:t>‹#›</a:t>
            </a:fld>
            <a:endParaRPr lang="en-US" altLang="en-US"/>
          </a:p>
        </p:txBody>
      </p:sp>
    </p:spTree>
    <p:extLst>
      <p:ext uri="{BB962C8B-B14F-4D97-AF65-F5344CB8AC3E}">
        <p14:creationId xmlns:p14="http://schemas.microsoft.com/office/powerpoint/2010/main" val="3060755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36C3D8-50BF-E883-6E9E-CF906182F424}"/>
              </a:ext>
            </a:extLst>
          </p:cNvPr>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5" name="Rectangle 4">
            <a:extLst>
              <a:ext uri="{FF2B5EF4-FFF2-40B4-BE49-F238E27FC236}">
                <a16:creationId xmlns:a16="http://schemas.microsoft.com/office/drawing/2014/main" id="{7A5E0ECC-F18E-140F-2514-245435DB7FF5}"/>
              </a:ext>
            </a:extLst>
          </p:cNvPr>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DBFAACE7-5B1A-463A-321B-367D9D39726D}"/>
              </a:ext>
            </a:extLst>
          </p:cNvPr>
          <p:cNvSpPr>
            <a:spLocks noGrp="1"/>
          </p:cNvSpPr>
          <p:nvPr>
            <p:ph type="dt" sz="half" idx="10"/>
          </p:nvPr>
        </p:nvSpPr>
        <p:spPr>
          <a:xfrm>
            <a:off x="6400800" y="6354763"/>
            <a:ext cx="2286000" cy="366712"/>
          </a:xfrm>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14D979B3-F9D3-8BFD-1B42-CC3B9151D5BD}"/>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58C128CA-9A40-A47C-8FC1-505EAE2A4033}"/>
              </a:ext>
            </a:extLst>
          </p:cNvPr>
          <p:cNvSpPr>
            <a:spLocks noGrp="1"/>
          </p:cNvSpPr>
          <p:nvPr>
            <p:ph type="sldNum" sz="quarter" idx="12"/>
          </p:nvPr>
        </p:nvSpPr>
        <p:spPr>
          <a:xfrm>
            <a:off x="1069975" y="6354763"/>
            <a:ext cx="1520825" cy="366712"/>
          </a:xfrm>
        </p:spPr>
        <p:txBody>
          <a:bodyPr/>
          <a:lstStyle>
            <a:lvl1pPr>
              <a:defRPr/>
            </a:lvl1pPr>
          </a:lstStyle>
          <a:p>
            <a:pPr>
              <a:defRPr/>
            </a:pPr>
            <a:fld id="{95FB7C0E-7924-4608-91D6-49825F20C045}" type="slidenum">
              <a:rPr lang="en-US" altLang="en-US"/>
              <a:pPr>
                <a:defRPr/>
              </a:pPr>
              <a:t>‹#›</a:t>
            </a:fld>
            <a:endParaRPr lang="en-US" altLang="en-US"/>
          </a:p>
        </p:txBody>
      </p:sp>
    </p:spTree>
    <p:extLst>
      <p:ext uri="{BB962C8B-B14F-4D97-AF65-F5344CB8AC3E}">
        <p14:creationId xmlns:p14="http://schemas.microsoft.com/office/powerpoint/2010/main" val="53341748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111E64B1-A873-A41D-0453-AC14E40A5CB0}"/>
              </a:ext>
            </a:extLst>
          </p:cNvPr>
          <p:cNvSpPr>
            <a:spLocks noGrp="1"/>
          </p:cNvSpPr>
          <p:nvPr>
            <p:ph type="dt" sz="half" idx="10"/>
          </p:nvPr>
        </p:nvSpPr>
        <p:spPr/>
        <p:txBody>
          <a:bodyPr/>
          <a:lstStyle>
            <a:lvl1pPr>
              <a:defRPr/>
            </a:lvl1pPr>
          </a:lstStyle>
          <a:p>
            <a:pPr>
              <a:defRPr/>
            </a:pPr>
            <a:endParaRPr lang="en-US"/>
          </a:p>
        </p:txBody>
      </p:sp>
      <p:sp>
        <p:nvSpPr>
          <p:cNvPr id="4" name="Footer Placeholder 2">
            <a:extLst>
              <a:ext uri="{FF2B5EF4-FFF2-40B4-BE49-F238E27FC236}">
                <a16:creationId xmlns:a16="http://schemas.microsoft.com/office/drawing/2014/main" id="{73A8B040-328E-B6CF-A368-7D4C14DE0B5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D8C0E6BC-18DD-463C-83AA-8B4D5169A69A}"/>
              </a:ext>
            </a:extLst>
          </p:cNvPr>
          <p:cNvSpPr>
            <a:spLocks noGrp="1"/>
          </p:cNvSpPr>
          <p:nvPr>
            <p:ph type="sldNum" sz="quarter" idx="12"/>
          </p:nvPr>
        </p:nvSpPr>
        <p:spPr/>
        <p:txBody>
          <a:bodyPr/>
          <a:lstStyle>
            <a:lvl1pPr>
              <a:defRPr/>
            </a:lvl1pPr>
          </a:lstStyle>
          <a:p>
            <a:pPr>
              <a:defRPr/>
            </a:pPr>
            <a:fld id="{12945C93-485E-46BA-A8FB-594615B0FBDD}" type="slidenum">
              <a:rPr lang="en-US" altLang="en-US"/>
              <a:pPr>
                <a:defRPr/>
              </a:pPr>
              <a:t>‹#›</a:t>
            </a:fld>
            <a:endParaRPr lang="en-US" altLang="en-US"/>
          </a:p>
        </p:txBody>
      </p:sp>
    </p:spTree>
    <p:extLst>
      <p:ext uri="{BB962C8B-B14F-4D97-AF65-F5344CB8AC3E}">
        <p14:creationId xmlns:p14="http://schemas.microsoft.com/office/powerpoint/2010/main" val="1781810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2B4945FD-ED84-BC2A-0284-EBC69BB10E3D}"/>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13240CD3-CE38-BA89-FF91-2A5B2A08371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5382C5FC-9D22-52BE-11C8-4852ED66C4CA}"/>
              </a:ext>
            </a:extLst>
          </p:cNvPr>
          <p:cNvSpPr>
            <a:spLocks noGrp="1"/>
          </p:cNvSpPr>
          <p:nvPr>
            <p:ph type="sldNum" sz="quarter" idx="12"/>
          </p:nvPr>
        </p:nvSpPr>
        <p:spPr/>
        <p:txBody>
          <a:bodyPr/>
          <a:lstStyle>
            <a:lvl1pPr>
              <a:defRPr/>
            </a:lvl1pPr>
          </a:lstStyle>
          <a:p>
            <a:pPr>
              <a:defRPr/>
            </a:pPr>
            <a:fld id="{7A989FC9-6853-4454-B947-2C99EFC6D6AB}" type="slidenum">
              <a:rPr lang="en-US" altLang="en-US"/>
              <a:pPr>
                <a:defRPr/>
              </a:pPr>
              <a:t>‹#›</a:t>
            </a:fld>
            <a:endParaRPr lang="en-US" altLang="en-US"/>
          </a:p>
        </p:txBody>
      </p:sp>
    </p:spTree>
    <p:extLst>
      <p:ext uri="{BB962C8B-B14F-4D97-AF65-F5344CB8AC3E}">
        <p14:creationId xmlns:p14="http://schemas.microsoft.com/office/powerpoint/2010/main" val="350366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a:extLst>
              <a:ext uri="{FF2B5EF4-FFF2-40B4-BE49-F238E27FC236}">
                <a16:creationId xmlns:a16="http://schemas.microsoft.com/office/drawing/2014/main" id="{ACE2A73F-589A-0EE4-520A-5CAFCA110ABF}"/>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B2859A83-5539-D2B7-A245-2B4E9682D0E8}"/>
              </a:ext>
            </a:extLst>
          </p:cNvPr>
          <p:cNvSpPr>
            <a:spLocks noGrp="1"/>
          </p:cNvSpPr>
          <p:nvPr>
            <p:ph type="dt" sz="half" idx="10"/>
          </p:nvPr>
        </p:nvSpPr>
        <p:spPr/>
        <p:txBody>
          <a:bodyPr/>
          <a:lstStyle>
            <a:lvl1pPr>
              <a:defRPr/>
            </a:lvl1pPr>
          </a:lstStyle>
          <a:p>
            <a:pPr>
              <a:defRPr/>
            </a:pPr>
            <a:endParaRPr lang="en-US"/>
          </a:p>
        </p:txBody>
      </p:sp>
      <p:sp>
        <p:nvSpPr>
          <p:cNvPr id="5" name="Footer Placeholder 3">
            <a:extLst>
              <a:ext uri="{FF2B5EF4-FFF2-40B4-BE49-F238E27FC236}">
                <a16:creationId xmlns:a16="http://schemas.microsoft.com/office/drawing/2014/main" id="{ED031704-DC90-408D-72B8-3800C5FEDD7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916C61DD-B89E-5761-559B-42D4E7ED571F}"/>
              </a:ext>
            </a:extLst>
          </p:cNvPr>
          <p:cNvSpPr>
            <a:spLocks noGrp="1"/>
          </p:cNvSpPr>
          <p:nvPr>
            <p:ph type="sldNum" sz="quarter" idx="12"/>
          </p:nvPr>
        </p:nvSpPr>
        <p:spPr/>
        <p:txBody>
          <a:bodyPr/>
          <a:lstStyle>
            <a:lvl1pPr>
              <a:defRPr/>
            </a:lvl1pPr>
          </a:lstStyle>
          <a:p>
            <a:pPr>
              <a:defRPr/>
            </a:pPr>
            <a:fld id="{9DC9F309-860B-4420-AEF1-51423D62E94F}" type="slidenum">
              <a:rPr lang="en-US" altLang="en-US"/>
              <a:pPr>
                <a:defRPr/>
              </a:pPr>
              <a:t>‹#›</a:t>
            </a:fld>
            <a:endParaRPr lang="en-US" altLang="en-US"/>
          </a:p>
        </p:txBody>
      </p:sp>
    </p:spTree>
    <p:extLst>
      <p:ext uri="{BB962C8B-B14F-4D97-AF65-F5344CB8AC3E}">
        <p14:creationId xmlns:p14="http://schemas.microsoft.com/office/powerpoint/2010/main" val="3022986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0">
            <a:extLst>
              <a:ext uri="{FF2B5EF4-FFF2-40B4-BE49-F238E27FC236}">
                <a16:creationId xmlns:a16="http://schemas.microsoft.com/office/drawing/2014/main" id="{84101FC8-53FB-F153-AFA8-5437E0418A1B}"/>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3" name="Isosceles Triangle 2">
            <a:extLst>
              <a:ext uri="{FF2B5EF4-FFF2-40B4-BE49-F238E27FC236}">
                <a16:creationId xmlns:a16="http://schemas.microsoft.com/office/drawing/2014/main" id="{4BF57233-66FF-1B40-53C7-409150F0C7FC}"/>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4" name="Date Placeholder 1">
            <a:extLst>
              <a:ext uri="{FF2B5EF4-FFF2-40B4-BE49-F238E27FC236}">
                <a16:creationId xmlns:a16="http://schemas.microsoft.com/office/drawing/2014/main" id="{F4AC13BF-7E5F-F0C0-EBC9-2A53EAEE4498}"/>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40774B5D-F254-D9E2-F966-BCB3981EBB6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C1D3CD0A-B599-D77A-F6EB-5A86C67E047A}"/>
              </a:ext>
            </a:extLst>
          </p:cNvPr>
          <p:cNvSpPr>
            <a:spLocks noGrp="1"/>
          </p:cNvSpPr>
          <p:nvPr>
            <p:ph type="sldNum" sz="quarter" idx="12"/>
          </p:nvPr>
        </p:nvSpPr>
        <p:spPr/>
        <p:txBody>
          <a:bodyPr/>
          <a:lstStyle>
            <a:lvl1pPr>
              <a:defRPr/>
            </a:lvl1pPr>
          </a:lstStyle>
          <a:p>
            <a:pPr>
              <a:defRPr/>
            </a:pPr>
            <a:fld id="{A6560F99-9DFF-4996-B733-D18E18776E90}" type="slidenum">
              <a:rPr lang="en-US" altLang="en-US"/>
              <a:pPr>
                <a:defRPr/>
              </a:pPr>
              <a:t>‹#›</a:t>
            </a:fld>
            <a:endParaRPr lang="en-US" altLang="en-US"/>
          </a:p>
        </p:txBody>
      </p:sp>
    </p:spTree>
    <p:extLst>
      <p:ext uri="{BB962C8B-B14F-4D97-AF65-F5344CB8AC3E}">
        <p14:creationId xmlns:p14="http://schemas.microsoft.com/office/powerpoint/2010/main" val="406246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10">
            <a:extLst>
              <a:ext uri="{FF2B5EF4-FFF2-40B4-BE49-F238E27FC236}">
                <a16:creationId xmlns:a16="http://schemas.microsoft.com/office/drawing/2014/main" id="{E5A3B231-4943-448A-8159-5A43C6EC9429}"/>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5" name="Straight Connector 11">
            <a:extLst>
              <a:ext uri="{FF2B5EF4-FFF2-40B4-BE49-F238E27FC236}">
                <a16:creationId xmlns:a16="http://schemas.microsoft.com/office/drawing/2014/main" id="{6BA57B34-5598-C504-7ED5-17DEE5D23560}"/>
              </a:ext>
            </a:extLst>
          </p:cNvPr>
          <p:cNvSpPr>
            <a:spLocks noChangeShapeType="1"/>
          </p:cNvSpPr>
          <p:nvPr/>
        </p:nvSpPr>
        <p:spPr bwMode="auto">
          <a:xfrm rot="5400000">
            <a:off x="3160712" y="3324226"/>
            <a:ext cx="6035675"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 name="Isosceles Triangle 5">
            <a:extLst>
              <a:ext uri="{FF2B5EF4-FFF2-40B4-BE49-F238E27FC236}">
                <a16:creationId xmlns:a16="http://schemas.microsoft.com/office/drawing/2014/main" id="{89D31C1E-7CB1-EDCE-5B6E-DD4C6A26AE79}"/>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Calibri"/>
                <a:ea typeface="+mn-ea"/>
                <a:cs typeface="+mn-cs"/>
              </a:defRPr>
            </a:lvl1pPr>
          </a:lstStyle>
          <a:p>
            <a:r>
              <a:rPr lang="en-US" dirty="0"/>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AEC0CCE2-2BF8-A7DB-60BB-1399662E6369}"/>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476CD1EC-056E-C79E-F725-D7F9359C2BC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6D6B86A2-4B9B-4FDA-976A-B4580D42F2CA}"/>
              </a:ext>
            </a:extLst>
          </p:cNvPr>
          <p:cNvSpPr>
            <a:spLocks noGrp="1"/>
          </p:cNvSpPr>
          <p:nvPr>
            <p:ph type="sldNum" sz="quarter" idx="12"/>
          </p:nvPr>
        </p:nvSpPr>
        <p:spPr/>
        <p:txBody>
          <a:bodyPr/>
          <a:lstStyle>
            <a:lvl1pPr>
              <a:defRPr/>
            </a:lvl1pPr>
          </a:lstStyle>
          <a:p>
            <a:pPr>
              <a:defRPr/>
            </a:pPr>
            <a:fld id="{E778D8BA-81E7-4A71-873D-62F86CBD107E}" type="slidenum">
              <a:rPr lang="en-US" altLang="en-US"/>
              <a:pPr>
                <a:defRPr/>
              </a:pPr>
              <a:t>‹#›</a:t>
            </a:fld>
            <a:endParaRPr lang="en-US" altLang="en-US"/>
          </a:p>
        </p:txBody>
      </p:sp>
    </p:spTree>
    <p:extLst>
      <p:ext uri="{BB962C8B-B14F-4D97-AF65-F5344CB8AC3E}">
        <p14:creationId xmlns:p14="http://schemas.microsoft.com/office/powerpoint/2010/main" val="2693401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10">
            <a:extLst>
              <a:ext uri="{FF2B5EF4-FFF2-40B4-BE49-F238E27FC236}">
                <a16:creationId xmlns:a16="http://schemas.microsoft.com/office/drawing/2014/main" id="{A86923DD-17BE-BD09-25E0-AD9F09C8A4BD}"/>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 name="Isosceles Triangle 5">
            <a:extLst>
              <a:ext uri="{FF2B5EF4-FFF2-40B4-BE49-F238E27FC236}">
                <a16:creationId xmlns:a16="http://schemas.microsoft.com/office/drawing/2014/main" id="{D739B931-F66F-5501-A2DE-BE939761EAEA}"/>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7" name="Rectangle 6">
            <a:extLst>
              <a:ext uri="{FF2B5EF4-FFF2-40B4-BE49-F238E27FC236}">
                <a16:creationId xmlns:a16="http://schemas.microsoft.com/office/drawing/2014/main" id="{3712C04C-8068-8534-1730-4DC8B2E1E844}"/>
              </a:ext>
            </a:extLst>
          </p:cNvPr>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a:extLst>
              <a:ext uri="{FF2B5EF4-FFF2-40B4-BE49-F238E27FC236}">
                <a16:creationId xmlns:a16="http://schemas.microsoft.com/office/drawing/2014/main" id="{7C5C10CF-F880-2ACA-A952-DE58D428E9F6}"/>
              </a:ext>
            </a:extLst>
          </p:cNvPr>
          <p:cNvSpPr>
            <a:spLocks noGrp="1"/>
          </p:cNvSpPr>
          <p:nvPr>
            <p:ph type="dt" sz="half" idx="10"/>
          </p:nvPr>
        </p:nvSpPr>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CDF4DDDA-E4B9-6192-99E3-9F627CD70958}"/>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E0FCA216-CFB2-CF35-DFBC-D6E91AC11BB2}"/>
              </a:ext>
            </a:extLst>
          </p:cNvPr>
          <p:cNvSpPr>
            <a:spLocks noGrp="1"/>
          </p:cNvSpPr>
          <p:nvPr>
            <p:ph type="sldNum" sz="quarter" idx="12"/>
          </p:nvPr>
        </p:nvSpPr>
        <p:spPr/>
        <p:txBody>
          <a:bodyPr/>
          <a:lstStyle>
            <a:lvl1pPr>
              <a:defRPr/>
            </a:lvl1pPr>
          </a:lstStyle>
          <a:p>
            <a:pPr>
              <a:defRPr/>
            </a:pPr>
            <a:fld id="{1E9E5746-90B6-408F-9AC1-8541CDBE88DA}" type="slidenum">
              <a:rPr lang="en-US" altLang="en-US"/>
              <a:pPr>
                <a:defRPr/>
              </a:pPr>
              <a:t>‹#›</a:t>
            </a:fld>
            <a:endParaRPr lang="en-US" altLang="en-US"/>
          </a:p>
        </p:txBody>
      </p:sp>
    </p:spTree>
    <p:extLst>
      <p:ext uri="{BB962C8B-B14F-4D97-AF65-F5344CB8AC3E}">
        <p14:creationId xmlns:p14="http://schemas.microsoft.com/office/powerpoint/2010/main" val="238797017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95607361-CF4A-02B6-EF60-18A41345DA5B}"/>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C42271CF-2D51-27AD-7869-71CB4F9559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48BD284A-9AEE-55F9-A8B0-F3E25FAAF5DD}"/>
              </a:ext>
            </a:extLst>
          </p:cNvPr>
          <p:cNvSpPr>
            <a:spLocks noGrp="1"/>
          </p:cNvSpPr>
          <p:nvPr>
            <p:ph type="sldNum" sz="quarter" idx="12"/>
          </p:nvPr>
        </p:nvSpPr>
        <p:spPr/>
        <p:txBody>
          <a:bodyPr/>
          <a:lstStyle>
            <a:lvl1pPr>
              <a:defRPr/>
            </a:lvl1pPr>
          </a:lstStyle>
          <a:p>
            <a:pPr>
              <a:defRPr/>
            </a:pPr>
            <a:fld id="{A1820555-D64E-4E9C-AE9F-73E462967913}" type="slidenum">
              <a:rPr lang="en-US" altLang="en-US"/>
              <a:pPr>
                <a:defRPr/>
              </a:pPr>
              <a:t>‹#›</a:t>
            </a:fld>
            <a:endParaRPr lang="en-US" altLang="en-US"/>
          </a:p>
        </p:txBody>
      </p:sp>
    </p:spTree>
    <p:extLst>
      <p:ext uri="{BB962C8B-B14F-4D97-AF65-F5344CB8AC3E}">
        <p14:creationId xmlns:p14="http://schemas.microsoft.com/office/powerpoint/2010/main" val="116792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10">
            <a:extLst>
              <a:ext uri="{FF2B5EF4-FFF2-40B4-BE49-F238E27FC236}">
                <a16:creationId xmlns:a16="http://schemas.microsoft.com/office/drawing/2014/main" id="{08B5939D-15E7-5C6B-8F34-5498B15A8E49}"/>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5" name="Isosceles Triangle 4">
            <a:extLst>
              <a:ext uri="{FF2B5EF4-FFF2-40B4-BE49-F238E27FC236}">
                <a16:creationId xmlns:a16="http://schemas.microsoft.com/office/drawing/2014/main" id="{82E0A5C7-05A6-926A-A86F-03E7E2FD94A2}"/>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
        <p:nvSpPr>
          <p:cNvPr id="6" name="Straight Connector 12">
            <a:extLst>
              <a:ext uri="{FF2B5EF4-FFF2-40B4-BE49-F238E27FC236}">
                <a16:creationId xmlns:a16="http://schemas.microsoft.com/office/drawing/2014/main" id="{108107E4-BF90-A90E-0089-3A640DE6E679}"/>
              </a:ext>
            </a:extLst>
          </p:cNvPr>
          <p:cNvSpPr>
            <a:spLocks noChangeShapeType="1"/>
          </p:cNvSpPr>
          <p:nvPr/>
        </p:nvSpPr>
        <p:spPr bwMode="auto">
          <a:xfrm rot="5400000">
            <a:off x="3630612" y="3201988"/>
            <a:ext cx="5851525"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6D1F6D3-719B-29AB-FD3D-7BADCBBBDC57}"/>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0B6793B4-0583-4C45-912C-E06F261B9D0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6070267-A3A7-7A96-5DA4-B1F58CCEAF20}"/>
              </a:ext>
            </a:extLst>
          </p:cNvPr>
          <p:cNvSpPr>
            <a:spLocks noGrp="1"/>
          </p:cNvSpPr>
          <p:nvPr>
            <p:ph type="sldNum" sz="quarter" idx="12"/>
          </p:nvPr>
        </p:nvSpPr>
        <p:spPr/>
        <p:txBody>
          <a:bodyPr/>
          <a:lstStyle>
            <a:lvl1pPr>
              <a:defRPr/>
            </a:lvl1pPr>
          </a:lstStyle>
          <a:p>
            <a:pPr>
              <a:defRPr/>
            </a:pPr>
            <a:fld id="{14646972-F595-4C93-A233-EFEFFA4B437A}" type="slidenum">
              <a:rPr lang="en-US" altLang="en-US"/>
              <a:pPr>
                <a:defRPr/>
              </a:pPr>
              <a:t>‹#›</a:t>
            </a:fld>
            <a:endParaRPr lang="en-US" altLang="en-US"/>
          </a:p>
        </p:txBody>
      </p:sp>
    </p:spTree>
    <p:extLst>
      <p:ext uri="{BB962C8B-B14F-4D97-AF65-F5344CB8AC3E}">
        <p14:creationId xmlns:p14="http://schemas.microsoft.com/office/powerpoint/2010/main" val="3213840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1C807EB2-D725-A35A-E78B-C26533D64147}"/>
              </a:ext>
            </a:extLst>
          </p:cNvPr>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12">
            <a:extLst>
              <a:ext uri="{FF2B5EF4-FFF2-40B4-BE49-F238E27FC236}">
                <a16:creationId xmlns:a16="http://schemas.microsoft.com/office/drawing/2014/main" id="{03024416-6C14-6D31-02BE-1D28BF9FA1CC}"/>
              </a:ext>
            </a:extLst>
          </p:cNvPr>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D2338AF3-3F8B-905F-62C3-4F849883334B}"/>
              </a:ext>
            </a:extLst>
          </p:cNvPr>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latin typeface="Calibri"/>
                <a:ea typeface="ＭＳ Ｐゴシック" charset="-128"/>
                <a:cs typeface="ＭＳ Ｐゴシック" charset="-128"/>
              </a:defRPr>
            </a:lvl1pPr>
          </a:lstStyle>
          <a:p>
            <a:pPr>
              <a:defRPr/>
            </a:pPr>
            <a:endParaRPr lang="en-US"/>
          </a:p>
        </p:txBody>
      </p:sp>
      <p:sp>
        <p:nvSpPr>
          <p:cNvPr id="3" name="Footer Placeholder 2">
            <a:extLst>
              <a:ext uri="{FF2B5EF4-FFF2-40B4-BE49-F238E27FC236}">
                <a16:creationId xmlns:a16="http://schemas.microsoft.com/office/drawing/2014/main" id="{C4D1F7B0-A588-EF49-D405-4F6232B29C3C}"/>
              </a:ext>
            </a:extLst>
          </p:cNvPr>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Calibri"/>
                <a:ea typeface="ＭＳ Ｐゴシック" charset="-128"/>
                <a:cs typeface="ＭＳ Ｐゴシック" charset="-128"/>
              </a:defRPr>
            </a:lvl1pPr>
          </a:lstStyle>
          <a:p>
            <a:pPr>
              <a:defRPr/>
            </a:pPr>
            <a:endParaRPr lang="en-US"/>
          </a:p>
        </p:txBody>
      </p:sp>
      <p:sp>
        <p:nvSpPr>
          <p:cNvPr id="23" name="Slide Number Placeholder 22">
            <a:extLst>
              <a:ext uri="{FF2B5EF4-FFF2-40B4-BE49-F238E27FC236}">
                <a16:creationId xmlns:a16="http://schemas.microsoft.com/office/drawing/2014/main" id="{CFC7A922-243A-0C88-8752-3D123319A481}"/>
              </a:ext>
            </a:extLst>
          </p:cNvPr>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400">
                <a:solidFill>
                  <a:schemeClr val="tx2"/>
                </a:solidFill>
                <a:latin typeface="Calibri" panose="020F0502020204030204" pitchFamily="34" charset="0"/>
              </a:defRPr>
            </a:lvl1pPr>
          </a:lstStyle>
          <a:p>
            <a:pPr>
              <a:defRPr/>
            </a:pPr>
            <a:fld id="{D7D3C2F9-AA31-4362-AFA9-086F7529D9E6}" type="slidenum">
              <a:rPr lang="en-US" altLang="en-US"/>
              <a:pPr>
                <a:defRPr/>
              </a:pPr>
              <a:t>‹#›</a:t>
            </a:fld>
            <a:endParaRPr lang="en-US" altLang="en-US"/>
          </a:p>
        </p:txBody>
      </p:sp>
      <p:sp>
        <p:nvSpPr>
          <p:cNvPr id="1031" name="Straight Connector 27">
            <a:extLst>
              <a:ext uri="{FF2B5EF4-FFF2-40B4-BE49-F238E27FC236}">
                <a16:creationId xmlns:a16="http://schemas.microsoft.com/office/drawing/2014/main" id="{963B3F13-91AE-0650-7905-92C68B16EEE4}"/>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1032" name="Straight Connector 28">
            <a:extLst>
              <a:ext uri="{FF2B5EF4-FFF2-40B4-BE49-F238E27FC236}">
                <a16:creationId xmlns:a16="http://schemas.microsoft.com/office/drawing/2014/main" id="{242F0C57-1A7B-95FF-E3DD-91B93C2575B2}"/>
              </a:ext>
            </a:extLst>
          </p:cNvPr>
          <p:cNvSpPr>
            <a:spLocks noChangeShapeType="1"/>
          </p:cNvSpPr>
          <p:nvPr/>
        </p:nvSpPr>
        <p:spPr bwMode="auto">
          <a:xfrm>
            <a:off x="457200" y="1143000"/>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Isosceles Triangle 9">
            <a:extLst>
              <a:ext uri="{FF2B5EF4-FFF2-40B4-BE49-F238E27FC236}">
                <a16:creationId xmlns:a16="http://schemas.microsoft.com/office/drawing/2014/main" id="{6068DCA8-2FA4-C26E-590D-77860BCC0107}"/>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Calibri"/>
            </a:endParaRPr>
          </a:p>
        </p:txBody>
      </p:sp>
    </p:spTree>
  </p:cSld>
  <p:clrMap bg1="lt1" tx1="dk1" bg2="lt2" tx2="dk2" accent1="accent1" accent2="accent2" accent3="accent3" accent4="accent4" accent5="accent5" accent6="accent6" hlink="hlink" folHlink="folHlink"/>
  <p:sldLayoutIdLst>
    <p:sldLayoutId id="2147483948" r:id="rId1"/>
    <p:sldLayoutId id="2147483944" r:id="rId2"/>
    <p:sldLayoutId id="2147483949" r:id="rId3"/>
    <p:sldLayoutId id="2147483945" r:id="rId4"/>
    <p:sldLayoutId id="2147483946" r:id="rId5"/>
    <p:sldLayoutId id="2147483950" r:id="rId6"/>
    <p:sldLayoutId id="2147483951" r:id="rId7"/>
    <p:sldLayoutId id="2147483952" r:id="rId8"/>
    <p:sldLayoutId id="2147483953" r:id="rId9"/>
    <p:sldLayoutId id="2147483947" r:id="rId10"/>
    <p:sldLayoutId id="2147483954" r:id="rId11"/>
  </p:sldLayoutIdLst>
  <p:txStyles>
    <p:titleStyle>
      <a:lvl1pPr algn="l" rtl="0" eaLnBrk="0" fontAlgn="base" hangingPunct="0">
        <a:spcBef>
          <a:spcPct val="0"/>
        </a:spcBef>
        <a:spcAft>
          <a:spcPct val="0"/>
        </a:spcAft>
        <a:defRPr sz="3200" b="1" kern="1200">
          <a:solidFill>
            <a:schemeClr val="tx2"/>
          </a:solidFill>
          <a:latin typeface="Calibri"/>
          <a:ea typeface="ＭＳ Ｐゴシック" charset="-128"/>
          <a:cs typeface="Calibri"/>
        </a:defRPr>
      </a:lvl1pPr>
      <a:lvl2pPr algn="l" rtl="0" eaLnBrk="0" fontAlgn="base" hangingPunct="0">
        <a:spcBef>
          <a:spcPct val="0"/>
        </a:spcBef>
        <a:spcAft>
          <a:spcPct val="0"/>
        </a:spcAft>
        <a:defRPr sz="3200" b="1">
          <a:solidFill>
            <a:schemeClr val="tx2"/>
          </a:solidFill>
          <a:latin typeface="Calibri" charset="0"/>
          <a:ea typeface="ＭＳ Ｐゴシック" charset="-128"/>
          <a:cs typeface="Calibri" panose="020F0502020204030204" pitchFamily="34" charset="0"/>
        </a:defRPr>
      </a:lvl2pPr>
      <a:lvl3pPr algn="l" rtl="0" eaLnBrk="0" fontAlgn="base" hangingPunct="0">
        <a:spcBef>
          <a:spcPct val="0"/>
        </a:spcBef>
        <a:spcAft>
          <a:spcPct val="0"/>
        </a:spcAft>
        <a:defRPr sz="3200" b="1">
          <a:solidFill>
            <a:schemeClr val="tx2"/>
          </a:solidFill>
          <a:latin typeface="Calibri" charset="0"/>
          <a:ea typeface="ＭＳ Ｐゴシック" charset="-128"/>
          <a:cs typeface="Calibri" panose="020F0502020204030204" pitchFamily="34" charset="0"/>
        </a:defRPr>
      </a:lvl3pPr>
      <a:lvl4pPr algn="l" rtl="0" eaLnBrk="0" fontAlgn="base" hangingPunct="0">
        <a:spcBef>
          <a:spcPct val="0"/>
        </a:spcBef>
        <a:spcAft>
          <a:spcPct val="0"/>
        </a:spcAft>
        <a:defRPr sz="3200" b="1">
          <a:solidFill>
            <a:schemeClr val="tx2"/>
          </a:solidFill>
          <a:latin typeface="Calibri" charset="0"/>
          <a:ea typeface="ＭＳ Ｐゴシック" charset="-128"/>
          <a:cs typeface="Calibri" panose="020F0502020204030204" pitchFamily="34" charset="0"/>
        </a:defRPr>
      </a:lvl4pPr>
      <a:lvl5pPr algn="l" rtl="0" eaLnBrk="0" fontAlgn="base" hangingPunct="0">
        <a:spcBef>
          <a:spcPct val="0"/>
        </a:spcBef>
        <a:spcAft>
          <a:spcPct val="0"/>
        </a:spcAft>
        <a:defRPr sz="3200" b="1">
          <a:solidFill>
            <a:schemeClr val="tx2"/>
          </a:solidFill>
          <a:latin typeface="Calibri" charset="0"/>
          <a:ea typeface="ＭＳ Ｐゴシック" charset="-128"/>
          <a:cs typeface="Calibri" panose="020F0502020204030204" pitchFamily="34" charset="0"/>
        </a:defRPr>
      </a:lvl5pPr>
      <a:lvl6pPr marL="4572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6pPr>
      <a:lvl7pPr marL="9144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7pPr>
      <a:lvl8pPr marL="13716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8pPr>
      <a:lvl9pPr marL="18288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Calibri"/>
          <a:ea typeface="ＭＳ Ｐゴシック" charset="-128"/>
          <a:cs typeface="ＭＳ Ｐゴシック" charset="-128"/>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Calibri"/>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Calibri"/>
          <a:ea typeface="ＭＳ Ｐゴシック" charset="-128"/>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Calibri"/>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Calibri"/>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slides/_rels/slide3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7AD74DB-AF03-0268-0F30-35F85466AA91}"/>
              </a:ext>
            </a:extLst>
          </p:cNvPr>
          <p:cNvSpPr>
            <a:spLocks noGrp="1"/>
          </p:cNvSpPr>
          <p:nvPr>
            <p:ph type="ctrTitle"/>
          </p:nvPr>
        </p:nvSpPr>
        <p:spPr>
          <a:xfrm>
            <a:off x="304800" y="3810000"/>
            <a:ext cx="7848600" cy="860425"/>
          </a:xfrm>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Cryptographic Hash Functions</a:t>
            </a:r>
            <a:endParaRPr lang="en-AU" altLang="en-US">
              <a:latin typeface="Calibri" panose="020F0502020204030204" pitchFamily="34" charset="0"/>
              <a:ea typeface="ＭＳ Ｐゴシック" panose="020B0600070205080204" pitchFamily="34" charset="-128"/>
              <a:cs typeface="Calibri" panose="020F0502020204030204" pitchFamily="3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E5BCAF6-63B4-703D-776D-8AD446B60901}"/>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Topics</a:t>
            </a:r>
          </a:p>
        </p:txBody>
      </p:sp>
      <p:sp>
        <p:nvSpPr>
          <p:cNvPr id="13315" name="Content Placeholder 2">
            <a:extLst>
              <a:ext uri="{FF2B5EF4-FFF2-40B4-BE49-F238E27FC236}">
                <a16:creationId xmlns:a16="http://schemas.microsoft.com/office/drawing/2014/main" id="{6FD69076-751B-564F-0DAC-FEC633A59DAD}"/>
              </a:ext>
            </a:extLst>
          </p:cNvPr>
          <p:cNvSpPr>
            <a:spLocks noGrp="1"/>
          </p:cNvSpPr>
          <p:nvPr>
            <p:ph sz="quarter" idx="1"/>
          </p:nvPr>
        </p:nvSpPr>
        <p:spPr>
          <a:xfrm>
            <a:off x="457200" y="1219200"/>
            <a:ext cx="8229600" cy="4937125"/>
          </a:xfrm>
        </p:spPr>
        <p:txBody>
          <a:bodyPr/>
          <a:lstStyle/>
          <a:p>
            <a:r>
              <a:rPr lang="en-US" altLang="en-US" b="1">
                <a:latin typeface="Calibri" panose="020F0502020204030204" pitchFamily="34" charset="0"/>
                <a:ea typeface="ＭＳ Ｐゴシック" panose="020B0600070205080204" pitchFamily="34" charset="-128"/>
              </a:rPr>
              <a:t>Overview of Cryptography Hash Function</a:t>
            </a:r>
          </a:p>
          <a:p>
            <a:r>
              <a:rPr lang="en-US" altLang="en-US">
                <a:latin typeface="Calibri" panose="020F0502020204030204" pitchFamily="34" charset="0"/>
                <a:ea typeface="ＭＳ Ｐゴシック" panose="020B0600070205080204" pitchFamily="34" charset="-128"/>
              </a:rPr>
              <a:t>Usages</a:t>
            </a:r>
          </a:p>
          <a:p>
            <a:r>
              <a:rPr lang="en-US" altLang="en-US">
                <a:latin typeface="Calibri" panose="020F0502020204030204" pitchFamily="34" charset="0"/>
                <a:ea typeface="ＭＳ Ｐゴシック" panose="020B0600070205080204" pitchFamily="34" charset="-128"/>
              </a:rPr>
              <a:t>Properties</a:t>
            </a:r>
          </a:p>
          <a:p>
            <a:r>
              <a:rPr lang="en-US" altLang="en-US">
                <a:latin typeface="Calibri" panose="020F0502020204030204" pitchFamily="34" charset="0"/>
                <a:ea typeface="ＭＳ Ｐゴシック" panose="020B0600070205080204" pitchFamily="34" charset="-128"/>
              </a:rPr>
              <a:t>Hashing Function Structure</a:t>
            </a:r>
          </a:p>
          <a:p>
            <a:r>
              <a:rPr lang="en-US" altLang="en-US">
                <a:latin typeface="Calibri" panose="020F0502020204030204" pitchFamily="34" charset="0"/>
                <a:ea typeface="ＭＳ Ｐゴシック" panose="020B0600070205080204" pitchFamily="34" charset="-128"/>
              </a:rPr>
              <a:t>Attack on Hash Function </a:t>
            </a:r>
          </a:p>
          <a:p>
            <a:r>
              <a:rPr lang="en-US" altLang="en-US">
                <a:latin typeface="Calibri" panose="020F0502020204030204" pitchFamily="34" charset="0"/>
                <a:ea typeface="ＭＳ Ｐゴシック" panose="020B0600070205080204" pitchFamily="34" charset="-128"/>
              </a:rPr>
              <a:t>The Road to new Secure Hash Standard</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9C29DF58-ED45-CB43-911F-63655CCB930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a:spcBef>
                <a:spcPct val="0"/>
              </a:spcBef>
              <a:buClrTx/>
              <a:buSzTx/>
              <a:buFontTx/>
              <a:buNone/>
            </a:pPr>
            <a:fld id="{7931C95E-FA28-4D44-BCC9-6B0762900950}" type="slidenum">
              <a:rPr lang="en-US" altLang="en-US" sz="1400" smtClean="0">
                <a:solidFill>
                  <a:schemeClr val="tx2"/>
                </a:solidFill>
              </a:rPr>
              <a:pPr>
                <a:spcBef>
                  <a:spcPct val="0"/>
                </a:spcBef>
                <a:buClrTx/>
                <a:buSzTx/>
                <a:buFontTx/>
                <a:buNone/>
              </a:pPr>
              <a:t>3</a:t>
            </a:fld>
            <a:endParaRPr lang="en-US" altLang="en-US" sz="1400">
              <a:solidFill>
                <a:schemeClr val="tx2"/>
              </a:solidFill>
            </a:endParaRPr>
          </a:p>
        </p:txBody>
      </p:sp>
      <p:sp>
        <p:nvSpPr>
          <p:cNvPr id="14339" name="Rectangle 2">
            <a:extLst>
              <a:ext uri="{FF2B5EF4-FFF2-40B4-BE49-F238E27FC236}">
                <a16:creationId xmlns:a16="http://schemas.microsoft.com/office/drawing/2014/main" id="{E1253638-D0BC-7050-BBD6-21B1187740C8}"/>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 Function</a:t>
            </a:r>
          </a:p>
        </p:txBody>
      </p:sp>
      <p:sp>
        <p:nvSpPr>
          <p:cNvPr id="14340" name="Rectangle 3">
            <a:extLst>
              <a:ext uri="{FF2B5EF4-FFF2-40B4-BE49-F238E27FC236}">
                <a16:creationId xmlns:a16="http://schemas.microsoft.com/office/drawing/2014/main" id="{691103D9-C16F-A10B-0267-7BE31E9A2D13}"/>
              </a:ext>
            </a:extLst>
          </p:cNvPr>
          <p:cNvSpPr>
            <a:spLocks noGrp="1"/>
          </p:cNvSpPr>
          <p:nvPr>
            <p:ph type="body" idx="1"/>
          </p:nvPr>
        </p:nvSpPr>
        <p:spPr>
          <a:xfrm>
            <a:off x="4800600" y="1600200"/>
            <a:ext cx="4114800" cy="3048000"/>
          </a:xfrm>
        </p:spPr>
        <p:txBody>
          <a:bodyPr/>
          <a:lstStyle/>
          <a:p>
            <a:pPr eaLnBrk="1" hangingPunct="1">
              <a:lnSpc>
                <a:spcPct val="90000"/>
              </a:lnSpc>
            </a:pPr>
            <a:r>
              <a:rPr lang="en-US" altLang="en-US" sz="2400">
                <a:latin typeface="Calibri" panose="020F0502020204030204" pitchFamily="34" charset="0"/>
                <a:ea typeface="ＭＳ Ｐゴシック" panose="020B0600070205080204" pitchFamily="34" charset="-128"/>
                <a:cs typeface="Calibri" panose="020F0502020204030204" pitchFamily="34" charset="0"/>
              </a:rPr>
              <a:t>The hash value represents concisely the longer message</a:t>
            </a:r>
          </a:p>
          <a:p>
            <a:pPr lvl="1" eaLnBrk="1" hangingPunct="1">
              <a:lnSpc>
                <a:spcPct val="90000"/>
              </a:lnSpc>
            </a:pPr>
            <a:r>
              <a:rPr lang="en-US" altLang="en-US" sz="2000">
                <a:latin typeface="Calibri" panose="020F0502020204030204" pitchFamily="34" charset="0"/>
                <a:ea typeface="ＭＳ Ｐゴシック" panose="020B0600070205080204" pitchFamily="34" charset="-128"/>
                <a:cs typeface="Calibri" panose="020F0502020204030204" pitchFamily="34" charset="0"/>
              </a:rPr>
              <a:t>may called the </a:t>
            </a:r>
            <a:r>
              <a:rPr lang="en-US" altLang="en-US" sz="2000" i="1">
                <a:latin typeface="Calibri" panose="020F0502020204030204" pitchFamily="34" charset="0"/>
                <a:ea typeface="ＭＳ Ｐゴシック" panose="020B0600070205080204" pitchFamily="34" charset="-128"/>
                <a:cs typeface="Calibri" panose="020F0502020204030204" pitchFamily="34" charset="0"/>
              </a:rPr>
              <a:t>message diges</a:t>
            </a:r>
            <a:r>
              <a:rPr lang="en-US" altLang="en-US" sz="2000">
                <a:latin typeface="Calibri" panose="020F0502020204030204" pitchFamily="34" charset="0"/>
                <a:ea typeface="ＭＳ Ｐゴシック" panose="020B0600070205080204" pitchFamily="34" charset="-128"/>
                <a:cs typeface="Calibri" panose="020F0502020204030204" pitchFamily="34" charset="0"/>
              </a:rPr>
              <a:t>t</a:t>
            </a:r>
          </a:p>
          <a:p>
            <a:pPr eaLnBrk="1" hangingPunct="1">
              <a:lnSpc>
                <a:spcPct val="90000"/>
              </a:lnSpc>
            </a:pPr>
            <a:endParaRPr lang="en-US" altLang="en-US" sz="2400">
              <a:latin typeface="Calibri" panose="020F0502020204030204" pitchFamily="34" charset="0"/>
              <a:ea typeface="ＭＳ Ｐゴシック" panose="020B0600070205080204" pitchFamily="34" charset="-128"/>
              <a:cs typeface="Calibri" panose="020F0502020204030204" pitchFamily="34" charset="0"/>
            </a:endParaRPr>
          </a:p>
          <a:p>
            <a:pPr eaLnBrk="1" hangingPunct="1">
              <a:lnSpc>
                <a:spcPct val="90000"/>
              </a:lnSpc>
            </a:pPr>
            <a:r>
              <a:rPr lang="en-US" altLang="en-US" sz="2400">
                <a:latin typeface="Calibri" panose="020F0502020204030204" pitchFamily="34" charset="0"/>
                <a:ea typeface="ＭＳ Ｐゴシック" panose="020B0600070205080204" pitchFamily="34" charset="-128"/>
                <a:cs typeface="Calibri" panose="020F0502020204030204" pitchFamily="34" charset="0"/>
              </a:rPr>
              <a:t>A message digest is as a ``digital fingerprint'' of the original document</a:t>
            </a:r>
          </a:p>
        </p:txBody>
      </p:sp>
      <p:pic>
        <p:nvPicPr>
          <p:cNvPr id="14341" name="Picture 3">
            <a:extLst>
              <a:ext uri="{FF2B5EF4-FFF2-40B4-BE49-F238E27FC236}">
                <a16:creationId xmlns:a16="http://schemas.microsoft.com/office/drawing/2014/main" id="{5F7938F3-EAD8-88D7-6867-77D4064B84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71600"/>
            <a:ext cx="4114800" cy="49149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5">
            <a:extLst>
              <a:ext uri="{FF2B5EF4-FFF2-40B4-BE49-F238E27FC236}">
                <a16:creationId xmlns:a16="http://schemas.microsoft.com/office/drawing/2014/main" id="{F9C3D7F4-1316-AAF3-EC95-DBE12BA084F0}"/>
              </a:ext>
            </a:extLst>
          </p:cNvPr>
          <p:cNvSpPr>
            <a:spLocks noChangeArrowheads="1"/>
          </p:cNvSpPr>
          <p:nvPr/>
        </p:nvSpPr>
        <p:spPr bwMode="auto">
          <a:xfrm>
            <a:off x="3276600" y="5029200"/>
            <a:ext cx="4572000" cy="708025"/>
          </a:xfrm>
          <a:prstGeom prst="rect">
            <a:avLst/>
          </a:prstGeom>
          <a:solidFill>
            <a:srgbClr val="00760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ClrTx/>
              <a:buSzTx/>
              <a:buFontTx/>
              <a:buNone/>
            </a:pPr>
            <a:r>
              <a:rPr lang="en-AU" altLang="en-US" sz="2000">
                <a:solidFill>
                  <a:schemeClr val="bg1"/>
                </a:solidFill>
                <a:cs typeface="Calibri" panose="020F0502020204030204" pitchFamily="34" charset="0"/>
              </a:rPr>
              <a:t>condenses arbitrary message to fixed size</a:t>
            </a:r>
          </a:p>
          <a:p>
            <a:pPr lvl="1" algn="ctr" eaLnBrk="1" hangingPunct="1">
              <a:spcBef>
                <a:spcPct val="0"/>
              </a:spcBef>
              <a:buClrTx/>
              <a:buSzTx/>
              <a:buFont typeface="Wingdings" panose="05000000000000000000" pitchFamily="2" charset="2"/>
              <a:buNone/>
            </a:pPr>
            <a:r>
              <a:rPr lang="en-US" altLang="en-US" sz="2000" i="1">
                <a:solidFill>
                  <a:schemeClr val="bg1"/>
                </a:solidFill>
                <a:latin typeface="Times New Roman" panose="02020603050405020304" pitchFamily="18" charset="0"/>
                <a:cs typeface="Times New Roman" panose="02020603050405020304" pitchFamily="18" charset="0"/>
              </a:rPr>
              <a:t>h</a:t>
            </a:r>
            <a:r>
              <a:rPr lang="en-US" altLang="en-US" sz="2000">
                <a:solidFill>
                  <a:schemeClr val="bg1"/>
                </a:solidFill>
                <a:latin typeface="Times New Roman" panose="02020603050405020304" pitchFamily="18" charset="0"/>
                <a:cs typeface="Times New Roman" panose="02020603050405020304" pitchFamily="18" charset="0"/>
              </a:rPr>
              <a:t>  =</a:t>
            </a:r>
            <a:r>
              <a:rPr lang="en-US" altLang="en-US" sz="2000" i="1">
                <a:solidFill>
                  <a:schemeClr val="bg1"/>
                </a:solidFill>
                <a:latin typeface="Times New Roman" panose="02020603050405020304" pitchFamily="18" charset="0"/>
                <a:cs typeface="Times New Roman" panose="02020603050405020304" pitchFamily="18" charset="0"/>
              </a:rPr>
              <a:t>  H</a:t>
            </a:r>
            <a:r>
              <a:rPr lang="en-US" altLang="en-US" sz="2000">
                <a:solidFill>
                  <a:schemeClr val="bg1"/>
                </a:solidFill>
                <a:latin typeface="Times New Roman" panose="02020603050405020304" pitchFamily="18" charset="0"/>
                <a:cs typeface="Times New Roman" panose="02020603050405020304" pitchFamily="18" charset="0"/>
              </a:rPr>
              <a:t>(</a:t>
            </a:r>
            <a:r>
              <a:rPr lang="en-US" altLang="en-US" sz="2000" i="1">
                <a:solidFill>
                  <a:schemeClr val="bg1"/>
                </a:solidFill>
                <a:latin typeface="Times New Roman" panose="02020603050405020304" pitchFamily="18" charset="0"/>
                <a:cs typeface="Times New Roman" panose="02020603050405020304" pitchFamily="18" charset="0"/>
              </a:rPr>
              <a:t>M</a:t>
            </a:r>
            <a:r>
              <a:rPr lang="en-US" altLang="en-US" sz="2000">
                <a:solidFill>
                  <a:schemeClr val="bg1"/>
                </a:solidFill>
                <a:latin typeface="Times New Roman" panose="02020603050405020304" pitchFamily="18" charset="0"/>
                <a:cs typeface="Times New Roman" panose="02020603050405020304" pitchFamily="18" charset="0"/>
              </a:rPr>
              <a:t>)</a:t>
            </a:r>
          </a:p>
        </p:txBody>
      </p:sp>
      <p:pic>
        <p:nvPicPr>
          <p:cNvPr id="14343" name="Picture 7">
            <a:extLst>
              <a:ext uri="{FF2B5EF4-FFF2-40B4-BE49-F238E27FC236}">
                <a16:creationId xmlns:a16="http://schemas.microsoft.com/office/drawing/2014/main" id="{65A1F100-A637-BACA-AE6B-3EFB1DB0B828}"/>
              </a:ext>
            </a:extLst>
          </p:cNvPr>
          <p:cNvPicPr>
            <a:picLocks noChangeAspect="1"/>
          </p:cNvPicPr>
          <p:nvPr/>
        </p:nvPicPr>
        <p:blipFill>
          <a:blip r:embed="rId4">
            <a:lum bright="-28000" contrast="40000"/>
            <a:extLst>
              <a:ext uri="{28A0092B-C50C-407E-A947-70E740481C1C}">
                <a14:useLocalDpi xmlns:a14="http://schemas.microsoft.com/office/drawing/2010/main" val="0"/>
              </a:ext>
            </a:extLst>
          </a:blip>
          <a:srcRect/>
          <a:stretch>
            <a:fillRect/>
          </a:stretch>
        </p:blipFill>
        <p:spPr bwMode="auto">
          <a:xfrm>
            <a:off x="0" y="4421188"/>
            <a:ext cx="1350963" cy="1838325"/>
          </a:xfrm>
          <a:prstGeom prst="rect">
            <a:avLst/>
          </a:prstGeom>
          <a:noFill/>
          <a:ln>
            <a:noFill/>
          </a:ln>
          <a:extLst>
            <a:ext uri="{909E8E84-426E-40DD-AFC4-6F175D3DCCD1}">
              <a14:hiddenFill xmlns:a14="http://schemas.microsoft.com/office/drawing/2010/main">
                <a:solidFill>
                  <a:srgbClr val="FFFFFF">
                    <a:alpha val="14902"/>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1AD405A-CC18-B2E7-85B0-F4DA0521DC1D}"/>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Chewing functions</a:t>
            </a:r>
            <a:endParaRPr lang="cs-CZ" altLang="en-US">
              <a:latin typeface="Calibri" panose="020F0502020204030204" pitchFamily="34" charset="0"/>
              <a:ea typeface="ＭＳ Ｐゴシック" panose="020B0600070205080204" pitchFamily="34" charset="-128"/>
              <a:cs typeface="Calibri" panose="020F0502020204030204" pitchFamily="34" charset="0"/>
            </a:endParaRPr>
          </a:p>
        </p:txBody>
      </p:sp>
      <p:pic>
        <p:nvPicPr>
          <p:cNvPr id="19459" name="Picture 10">
            <a:extLst>
              <a:ext uri="{FF2B5EF4-FFF2-40B4-BE49-F238E27FC236}">
                <a16:creationId xmlns:a16="http://schemas.microsoft.com/office/drawing/2014/main" id="{940C26CD-3BFE-FCB2-D8C5-B07B177F85A7}"/>
              </a:ext>
            </a:extLst>
          </p:cNvPr>
          <p:cNvPicPr>
            <a:picLocks noChangeAspect="1"/>
          </p:cNvPicPr>
          <p:nvPr/>
        </p:nvPicPr>
        <p:blipFill>
          <a:blip r:embed="rId3"/>
          <a:srcRect/>
          <a:stretch>
            <a:fillRect/>
          </a:stretch>
        </p:blipFill>
        <p:spPr bwMode="auto">
          <a:xfrm>
            <a:off x="1219200" y="2286000"/>
            <a:ext cx="2540000" cy="2832100"/>
          </a:xfrm>
          <a:prstGeom prst="rect">
            <a:avLst/>
          </a:prstGeom>
          <a:noFill/>
          <a:ln>
            <a:noFill/>
          </a:ln>
          <a:effectLst>
            <a:outerShdw blurRad="444500" dist="38100" dir="2700000" rotWithShape="0">
              <a:srgbClr val="808080">
                <a:alpha val="42999"/>
              </a:srgbClr>
            </a:outerShdw>
          </a:effectLst>
        </p:spPr>
      </p:pic>
      <p:pic>
        <p:nvPicPr>
          <p:cNvPr id="16388" name="Picture 11">
            <a:extLst>
              <a:ext uri="{FF2B5EF4-FFF2-40B4-BE49-F238E27FC236}">
                <a16:creationId xmlns:a16="http://schemas.microsoft.com/office/drawing/2014/main" id="{ED6CA6AA-5777-07C0-44B2-50A3B200FD9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2209800"/>
            <a:ext cx="38735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3">
            <a:extLst>
              <a:ext uri="{FF2B5EF4-FFF2-40B4-BE49-F238E27FC236}">
                <a16:creationId xmlns:a16="http://schemas.microsoft.com/office/drawing/2014/main" id="{6B671F2E-5F8B-041D-2F4A-B633EF584423}"/>
              </a:ext>
            </a:extLst>
          </p:cNvPr>
          <p:cNvSpPr txBox="1">
            <a:spLocks noChangeArrowheads="1"/>
          </p:cNvSpPr>
          <p:nvPr/>
        </p:nvSpPr>
        <p:spPr bwMode="auto">
          <a:xfrm>
            <a:off x="1066800" y="1600200"/>
            <a:ext cx="7848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lnSpc>
                <a:spcPct val="90000"/>
              </a:lnSpc>
            </a:pPr>
            <a:r>
              <a:rPr lang="en-US" altLang="en-US" sz="2400">
                <a:cs typeface="Calibri" panose="020F0502020204030204" pitchFamily="34" charset="0"/>
              </a:rPr>
              <a:t>Hashing function as “chewing” or “digest” function </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39ECA29C-7AF6-A8D6-57A7-4FEB628B87F0}"/>
              </a:ext>
            </a:extLst>
          </p:cNvPr>
          <p:cNvSpPr/>
          <p:nvPr/>
        </p:nvSpPr>
        <p:spPr>
          <a:xfrm>
            <a:off x="533400" y="4191000"/>
            <a:ext cx="8305800" cy="2057400"/>
          </a:xfrm>
          <a:prstGeom prst="rect">
            <a:avLst/>
          </a:prstGeom>
          <a:solidFill>
            <a:schemeClr val="bg1">
              <a:lumMod val="95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latin typeface="Calibri"/>
            </a:endParaRPr>
          </a:p>
        </p:txBody>
      </p:sp>
      <p:sp>
        <p:nvSpPr>
          <p:cNvPr id="39" name="Rectangle 38">
            <a:extLst>
              <a:ext uri="{FF2B5EF4-FFF2-40B4-BE49-F238E27FC236}">
                <a16:creationId xmlns:a16="http://schemas.microsoft.com/office/drawing/2014/main" id="{F0D7245E-0ED9-CADF-D81F-EB18B76E1FD1}"/>
              </a:ext>
            </a:extLst>
          </p:cNvPr>
          <p:cNvSpPr/>
          <p:nvPr/>
        </p:nvSpPr>
        <p:spPr>
          <a:xfrm>
            <a:off x="533400" y="1219200"/>
            <a:ext cx="8305800" cy="2819400"/>
          </a:xfrm>
          <a:prstGeom prst="rect">
            <a:avLst/>
          </a:prstGeom>
          <a:solidFill>
            <a:schemeClr val="bg1">
              <a:lumMod val="95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latin typeface="Calibri"/>
            </a:endParaRPr>
          </a:p>
        </p:txBody>
      </p:sp>
      <p:sp>
        <p:nvSpPr>
          <p:cNvPr id="18440" name="Title 1">
            <a:extLst>
              <a:ext uri="{FF2B5EF4-FFF2-40B4-BE49-F238E27FC236}">
                <a16:creationId xmlns:a16="http://schemas.microsoft.com/office/drawing/2014/main" id="{DA21AC52-77A7-A7BF-0733-54E76D705CBD}"/>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Hashing V.S. Encryption</a:t>
            </a:r>
          </a:p>
        </p:txBody>
      </p:sp>
      <p:sp>
        <p:nvSpPr>
          <p:cNvPr id="22537" name="Content Placeholder 2">
            <a:extLst>
              <a:ext uri="{FF2B5EF4-FFF2-40B4-BE49-F238E27FC236}">
                <a16:creationId xmlns:a16="http://schemas.microsoft.com/office/drawing/2014/main" id="{74275E8F-3019-5A67-3DFE-E9133544F845}"/>
              </a:ext>
            </a:extLst>
          </p:cNvPr>
          <p:cNvSpPr>
            <a:spLocks noGrp="1"/>
          </p:cNvSpPr>
          <p:nvPr>
            <p:ph idx="1"/>
          </p:nvPr>
        </p:nvSpPr>
        <p:spPr>
          <a:xfrm>
            <a:off x="457200" y="5791200"/>
            <a:ext cx="8229600" cy="457200"/>
          </a:xfrm>
        </p:spPr>
        <p:txBody>
          <a:bodyPr/>
          <a:lstStyle/>
          <a:p>
            <a:pPr lvl="1" eaLnBrk="1" hangingPunct="1"/>
            <a:r>
              <a:rPr lang="en-US" altLang="en-US" sz="2000">
                <a:latin typeface="Calibri" panose="020F0502020204030204" pitchFamily="34" charset="0"/>
                <a:ea typeface="ＭＳ Ｐゴシック" panose="020B0600070205080204" pitchFamily="34" charset="-128"/>
              </a:rPr>
              <a:t>Hashing is one-way.  There is no 'de-hashing’</a:t>
            </a:r>
          </a:p>
        </p:txBody>
      </p:sp>
      <p:grpSp>
        <p:nvGrpSpPr>
          <p:cNvPr id="18442" name="Group 27">
            <a:extLst>
              <a:ext uri="{FF2B5EF4-FFF2-40B4-BE49-F238E27FC236}">
                <a16:creationId xmlns:a16="http://schemas.microsoft.com/office/drawing/2014/main" id="{F1036C0D-4CB9-982F-1213-A0A4F36B3A8C}"/>
              </a:ext>
            </a:extLst>
          </p:cNvPr>
          <p:cNvGrpSpPr>
            <a:grpSpLocks/>
          </p:cNvGrpSpPr>
          <p:nvPr/>
        </p:nvGrpSpPr>
        <p:grpSpPr bwMode="auto">
          <a:xfrm>
            <a:off x="838200" y="1295400"/>
            <a:ext cx="7772400" cy="990600"/>
            <a:chOff x="838200" y="1295400"/>
            <a:chExt cx="7772400" cy="990600"/>
          </a:xfrm>
        </p:grpSpPr>
        <p:cxnSp>
          <p:nvCxnSpPr>
            <p:cNvPr id="10" name="Straight Arrow Connector 9">
              <a:extLst>
                <a:ext uri="{FF2B5EF4-FFF2-40B4-BE49-F238E27FC236}">
                  <a16:creationId xmlns:a16="http://schemas.microsoft.com/office/drawing/2014/main" id="{B6AE2120-B5F8-32DB-D65D-273F24F97C1F}"/>
                </a:ext>
              </a:extLst>
            </p:cNvPr>
            <p:cNvCxnSpPr>
              <a:cxnSpLocks noChangeShapeType="1"/>
            </p:cNvCxnSpPr>
            <p:nvPr/>
          </p:nvCxnSpPr>
          <p:spPr bwMode="auto">
            <a:xfrm>
              <a:off x="2819400" y="1828800"/>
              <a:ext cx="12954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cxnSp>
          <p:nvCxnSpPr>
            <p:cNvPr id="11" name="Straight Arrow Connector 10">
              <a:extLst>
                <a:ext uri="{FF2B5EF4-FFF2-40B4-BE49-F238E27FC236}">
                  <a16:creationId xmlns:a16="http://schemas.microsoft.com/office/drawing/2014/main" id="{35242B15-293A-FAAA-D49F-DD2BFD3FD47F}"/>
                </a:ext>
              </a:extLst>
            </p:cNvPr>
            <p:cNvCxnSpPr>
              <a:cxnSpLocks noChangeShapeType="1"/>
            </p:cNvCxnSpPr>
            <p:nvPr/>
          </p:nvCxnSpPr>
          <p:spPr bwMode="auto">
            <a:xfrm>
              <a:off x="5105400" y="1752600"/>
              <a:ext cx="11430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sp>
          <p:nvSpPr>
            <p:cNvPr id="13" name="Rectangle 12">
              <a:extLst>
                <a:ext uri="{FF2B5EF4-FFF2-40B4-BE49-F238E27FC236}">
                  <a16:creationId xmlns:a16="http://schemas.microsoft.com/office/drawing/2014/main" id="{5D7CCD8F-47FA-922B-6551-C44924CFB446}"/>
                </a:ext>
              </a:extLst>
            </p:cNvPr>
            <p:cNvSpPr/>
            <p:nvPr/>
          </p:nvSpPr>
          <p:spPr>
            <a:xfrm>
              <a:off x="838200" y="1295400"/>
              <a:ext cx="2133600" cy="9906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600">
                  <a:solidFill>
                    <a:srgbClr val="FFFFFF"/>
                  </a:solidFill>
                  <a:latin typeface="Calibri" charset="0"/>
                  <a:ea typeface="ＭＳ Ｐゴシック" charset="-128"/>
                  <a:cs typeface="ＭＳ Ｐゴシック" charset="-128"/>
                </a:rPr>
                <a:t>Hello, world.</a:t>
              </a:r>
            </a:p>
            <a:p>
              <a:pPr algn="ctr" eaLnBrk="1" hangingPunct="1">
                <a:defRPr/>
              </a:pPr>
              <a:r>
                <a:rPr lang="en-US" sz="1600">
                  <a:solidFill>
                    <a:srgbClr val="FFFFFF"/>
                  </a:solidFill>
                  <a:latin typeface="Calibri" charset="0"/>
                  <a:ea typeface="ＭＳ Ｐゴシック" charset="-128"/>
                  <a:cs typeface="ＭＳ Ｐゴシック" charset="-128"/>
                </a:rPr>
                <a:t>A sample sentence to show encryption.</a:t>
              </a:r>
            </a:p>
          </p:txBody>
        </p:sp>
        <p:sp>
          <p:nvSpPr>
            <p:cNvPr id="16" name="Rectangle 15">
              <a:extLst>
                <a:ext uri="{FF2B5EF4-FFF2-40B4-BE49-F238E27FC236}">
                  <a16:creationId xmlns:a16="http://schemas.microsoft.com/office/drawing/2014/main" id="{DA44BD9E-24E3-AA19-562E-1EC4C29F48AF}"/>
                </a:ext>
              </a:extLst>
            </p:cNvPr>
            <p:cNvSpPr/>
            <p:nvPr/>
          </p:nvSpPr>
          <p:spPr>
            <a:xfrm>
              <a:off x="4114800" y="1371600"/>
              <a:ext cx="990600" cy="7620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600" dirty="0">
                  <a:latin typeface="Calibri"/>
                </a:rPr>
                <a:t>E</a:t>
              </a:r>
            </a:p>
          </p:txBody>
        </p:sp>
        <p:sp>
          <p:nvSpPr>
            <p:cNvPr id="17" name="Rectangle 16">
              <a:extLst>
                <a:ext uri="{FF2B5EF4-FFF2-40B4-BE49-F238E27FC236}">
                  <a16:creationId xmlns:a16="http://schemas.microsoft.com/office/drawing/2014/main" id="{00CC71A8-EC52-9EFE-DC65-1F95AD6038AF}"/>
                </a:ext>
              </a:extLst>
            </p:cNvPr>
            <p:cNvSpPr/>
            <p:nvPr/>
          </p:nvSpPr>
          <p:spPr>
            <a:xfrm>
              <a:off x="6248400" y="1295400"/>
              <a:ext cx="2362200" cy="9906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600" dirty="0">
                  <a:latin typeface="Calibri"/>
                </a:rPr>
                <a:t>NhbXBsZSBzZW50ZW5jZSB0byBzaG93IEVuY3J5cHRpb24KsZSBzZ</a:t>
              </a:r>
            </a:p>
          </p:txBody>
        </p:sp>
        <p:sp>
          <p:nvSpPr>
            <p:cNvPr id="30" name="Rectangle 29">
              <a:extLst>
                <a:ext uri="{FF2B5EF4-FFF2-40B4-BE49-F238E27FC236}">
                  <a16:creationId xmlns:a16="http://schemas.microsoft.com/office/drawing/2014/main" id="{99845C89-CE1E-3444-4E5B-DB5E48DBC1EA}"/>
                </a:ext>
              </a:extLst>
            </p:cNvPr>
            <p:cNvSpPr/>
            <p:nvPr/>
          </p:nvSpPr>
          <p:spPr>
            <a:xfrm>
              <a:off x="3276600" y="1371600"/>
              <a:ext cx="381000" cy="304800"/>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anchor="b"/>
            <a:lstStyle/>
            <a:p>
              <a:pPr algn="ctr" eaLnBrk="1" hangingPunct="1">
                <a:defRPr/>
              </a:pPr>
              <a:r>
                <a:rPr lang="en-US" sz="1600" dirty="0" err="1">
                  <a:latin typeface="Calibri"/>
                </a:rPr>
                <a:t>k</a:t>
              </a:r>
              <a:endParaRPr lang="en-US" sz="1600" dirty="0">
                <a:latin typeface="Calibri"/>
              </a:endParaRPr>
            </a:p>
          </p:txBody>
        </p:sp>
        <p:cxnSp>
          <p:nvCxnSpPr>
            <p:cNvPr id="31" name="Straight Arrow Connector 30">
              <a:extLst>
                <a:ext uri="{FF2B5EF4-FFF2-40B4-BE49-F238E27FC236}">
                  <a16:creationId xmlns:a16="http://schemas.microsoft.com/office/drawing/2014/main" id="{33339CC4-2455-2B57-171A-E000238368DA}"/>
                </a:ext>
              </a:extLst>
            </p:cNvPr>
            <p:cNvCxnSpPr>
              <a:cxnSpLocks noChangeShapeType="1"/>
            </p:cNvCxnSpPr>
            <p:nvPr/>
          </p:nvCxnSpPr>
          <p:spPr bwMode="auto">
            <a:xfrm>
              <a:off x="3657600" y="1524000"/>
              <a:ext cx="457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grpSp>
      <p:grpSp>
        <p:nvGrpSpPr>
          <p:cNvPr id="3" name="Group 28">
            <a:extLst>
              <a:ext uri="{FF2B5EF4-FFF2-40B4-BE49-F238E27FC236}">
                <a16:creationId xmlns:a16="http://schemas.microsoft.com/office/drawing/2014/main" id="{322DB196-AF26-9C19-4828-58A97C48EA18}"/>
              </a:ext>
            </a:extLst>
          </p:cNvPr>
          <p:cNvGrpSpPr>
            <a:grpSpLocks/>
          </p:cNvGrpSpPr>
          <p:nvPr/>
        </p:nvGrpSpPr>
        <p:grpSpPr bwMode="auto">
          <a:xfrm>
            <a:off x="838200" y="2514600"/>
            <a:ext cx="7772400" cy="1066800"/>
            <a:chOff x="838200" y="2514600"/>
            <a:chExt cx="7772400" cy="1066800"/>
          </a:xfrm>
        </p:grpSpPr>
        <p:cxnSp>
          <p:nvCxnSpPr>
            <p:cNvPr id="19" name="Straight Arrow Connector 18">
              <a:extLst>
                <a:ext uri="{FF2B5EF4-FFF2-40B4-BE49-F238E27FC236}">
                  <a16:creationId xmlns:a16="http://schemas.microsoft.com/office/drawing/2014/main" id="{D1BD1AC1-2706-8FEE-3949-2F026DE2CE66}"/>
                </a:ext>
              </a:extLst>
            </p:cNvPr>
            <p:cNvCxnSpPr>
              <a:cxnSpLocks noChangeShapeType="1"/>
            </p:cNvCxnSpPr>
            <p:nvPr/>
          </p:nvCxnSpPr>
          <p:spPr bwMode="auto">
            <a:xfrm rot="10800000">
              <a:off x="2971800" y="2971800"/>
              <a:ext cx="11430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cxnSp>
          <p:nvCxnSpPr>
            <p:cNvPr id="20" name="Straight Arrow Connector 19">
              <a:extLst>
                <a:ext uri="{FF2B5EF4-FFF2-40B4-BE49-F238E27FC236}">
                  <a16:creationId xmlns:a16="http://schemas.microsoft.com/office/drawing/2014/main" id="{8AB1096E-AF98-846A-9BD8-6BB5DEC097E2}"/>
                </a:ext>
              </a:extLst>
            </p:cNvPr>
            <p:cNvCxnSpPr>
              <a:cxnSpLocks noChangeShapeType="1"/>
            </p:cNvCxnSpPr>
            <p:nvPr/>
          </p:nvCxnSpPr>
          <p:spPr bwMode="auto">
            <a:xfrm rot="10800000">
              <a:off x="5105400" y="3124200"/>
              <a:ext cx="1219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sp>
          <p:nvSpPr>
            <p:cNvPr id="21" name="Rectangle 20">
              <a:extLst>
                <a:ext uri="{FF2B5EF4-FFF2-40B4-BE49-F238E27FC236}">
                  <a16:creationId xmlns:a16="http://schemas.microsoft.com/office/drawing/2014/main" id="{F32C48BC-8E70-5649-6568-2664DA874D7A}"/>
                </a:ext>
              </a:extLst>
            </p:cNvPr>
            <p:cNvSpPr/>
            <p:nvPr/>
          </p:nvSpPr>
          <p:spPr>
            <a:xfrm>
              <a:off x="838200" y="2514600"/>
              <a:ext cx="2133600" cy="9906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600" dirty="0">
                  <a:solidFill>
                    <a:srgbClr val="FFFFFF"/>
                  </a:solidFill>
                  <a:latin typeface="Calibri" charset="0"/>
                  <a:ea typeface="ＭＳ Ｐゴシック" charset="-128"/>
                  <a:cs typeface="ＭＳ Ｐゴシック" charset="-128"/>
                </a:rPr>
                <a:t>Hello, world.</a:t>
              </a:r>
            </a:p>
            <a:p>
              <a:pPr algn="ctr" eaLnBrk="1" hangingPunct="1">
                <a:defRPr/>
              </a:pPr>
              <a:r>
                <a:rPr lang="en-US" sz="1600" dirty="0">
                  <a:solidFill>
                    <a:srgbClr val="FFFFFF"/>
                  </a:solidFill>
                  <a:latin typeface="Calibri" charset="0"/>
                  <a:ea typeface="ＭＳ Ｐゴシック" charset="-128"/>
                  <a:cs typeface="ＭＳ Ｐゴシック" charset="-128"/>
                </a:rPr>
                <a:t>A sample sentence to show encryption.</a:t>
              </a:r>
            </a:p>
          </p:txBody>
        </p:sp>
        <p:sp>
          <p:nvSpPr>
            <p:cNvPr id="22" name="Rectangle 21">
              <a:extLst>
                <a:ext uri="{FF2B5EF4-FFF2-40B4-BE49-F238E27FC236}">
                  <a16:creationId xmlns:a16="http://schemas.microsoft.com/office/drawing/2014/main" id="{404CF2B2-8EB6-63CC-CD25-C490F75E80FF}"/>
                </a:ext>
              </a:extLst>
            </p:cNvPr>
            <p:cNvSpPr/>
            <p:nvPr/>
          </p:nvSpPr>
          <p:spPr>
            <a:xfrm>
              <a:off x="4114800" y="2590800"/>
              <a:ext cx="990600" cy="7620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600" dirty="0">
                  <a:latin typeface="Calibri"/>
                </a:rPr>
                <a:t>D</a:t>
              </a:r>
            </a:p>
          </p:txBody>
        </p:sp>
        <p:sp>
          <p:nvSpPr>
            <p:cNvPr id="23" name="Rectangle 22">
              <a:extLst>
                <a:ext uri="{FF2B5EF4-FFF2-40B4-BE49-F238E27FC236}">
                  <a16:creationId xmlns:a16="http://schemas.microsoft.com/office/drawing/2014/main" id="{CDD0888B-B205-A186-4626-18910E7DD369}"/>
                </a:ext>
              </a:extLst>
            </p:cNvPr>
            <p:cNvSpPr/>
            <p:nvPr/>
          </p:nvSpPr>
          <p:spPr>
            <a:xfrm>
              <a:off x="6248400" y="2590800"/>
              <a:ext cx="2362200" cy="9906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600" dirty="0">
                  <a:latin typeface="Calibri"/>
                </a:rPr>
                <a:t>NhbXBsZSBzZW50ZW5jZSB0byBzaG93IEVuY3J5cHRpb24KsZSBzZ</a:t>
              </a:r>
            </a:p>
          </p:txBody>
        </p:sp>
        <p:sp>
          <p:nvSpPr>
            <p:cNvPr id="33" name="Rectangle 32">
              <a:extLst>
                <a:ext uri="{FF2B5EF4-FFF2-40B4-BE49-F238E27FC236}">
                  <a16:creationId xmlns:a16="http://schemas.microsoft.com/office/drawing/2014/main" id="{9C0FCC5B-5A1C-ABF3-0B11-A7EBE3FF008A}"/>
                </a:ext>
              </a:extLst>
            </p:cNvPr>
            <p:cNvSpPr/>
            <p:nvPr/>
          </p:nvSpPr>
          <p:spPr>
            <a:xfrm>
              <a:off x="5486400" y="2590800"/>
              <a:ext cx="381000" cy="304800"/>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anchor="b"/>
            <a:lstStyle/>
            <a:p>
              <a:pPr algn="ctr" eaLnBrk="1" hangingPunct="1">
                <a:defRPr/>
              </a:pPr>
              <a:r>
                <a:rPr lang="en-US" sz="1600" dirty="0" err="1">
                  <a:latin typeface="Calibri"/>
                </a:rPr>
                <a:t>k</a:t>
              </a:r>
              <a:endParaRPr lang="en-US" sz="1600" dirty="0">
                <a:latin typeface="Calibri"/>
              </a:endParaRPr>
            </a:p>
          </p:txBody>
        </p:sp>
        <p:cxnSp>
          <p:nvCxnSpPr>
            <p:cNvPr id="34" name="Straight Arrow Connector 33">
              <a:extLst>
                <a:ext uri="{FF2B5EF4-FFF2-40B4-BE49-F238E27FC236}">
                  <a16:creationId xmlns:a16="http://schemas.microsoft.com/office/drawing/2014/main" id="{E862B5F5-4F5E-4349-5D6A-51EF22164D0B}"/>
                </a:ext>
              </a:extLst>
            </p:cNvPr>
            <p:cNvCxnSpPr>
              <a:cxnSpLocks noChangeShapeType="1"/>
            </p:cNvCxnSpPr>
            <p:nvPr/>
          </p:nvCxnSpPr>
          <p:spPr bwMode="auto">
            <a:xfrm rot="10800000">
              <a:off x="5105400" y="2743200"/>
              <a:ext cx="3810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grpSp>
      <p:sp>
        <p:nvSpPr>
          <p:cNvPr id="41" name="Content Placeholder 2">
            <a:extLst>
              <a:ext uri="{FF2B5EF4-FFF2-40B4-BE49-F238E27FC236}">
                <a16:creationId xmlns:a16="http://schemas.microsoft.com/office/drawing/2014/main" id="{CA3685D9-FC11-36A3-EFC1-2CC04D8861CE}"/>
              </a:ext>
            </a:extLst>
          </p:cNvPr>
          <p:cNvSpPr txBox="1">
            <a:spLocks/>
          </p:cNvSpPr>
          <p:nvPr/>
        </p:nvSpPr>
        <p:spPr bwMode="auto">
          <a:xfrm>
            <a:off x="457200" y="3581400"/>
            <a:ext cx="8229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547688" indent="-2730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lvl="1" eaLnBrk="1" hangingPunct="1"/>
            <a:r>
              <a:rPr lang="en-US" altLang="en-US" sz="2000"/>
              <a:t>Encryption is two way, and requires a key to encrypt/decrypt</a:t>
            </a:r>
          </a:p>
          <a:p>
            <a:pPr eaLnBrk="1" hangingPunct="1"/>
            <a:endParaRPr lang="en-US" altLang="en-US" sz="2400"/>
          </a:p>
        </p:txBody>
      </p:sp>
      <p:grpSp>
        <p:nvGrpSpPr>
          <p:cNvPr id="9" name="Group 31">
            <a:extLst>
              <a:ext uri="{FF2B5EF4-FFF2-40B4-BE49-F238E27FC236}">
                <a16:creationId xmlns:a16="http://schemas.microsoft.com/office/drawing/2014/main" id="{4C0CC5E7-19C4-43EB-974D-22D14AD624D3}"/>
              </a:ext>
            </a:extLst>
          </p:cNvPr>
          <p:cNvGrpSpPr>
            <a:grpSpLocks/>
          </p:cNvGrpSpPr>
          <p:nvPr/>
        </p:nvGrpSpPr>
        <p:grpSpPr bwMode="auto">
          <a:xfrm>
            <a:off x="838200" y="4343400"/>
            <a:ext cx="7620000" cy="1447800"/>
            <a:chOff x="838200" y="4343400"/>
            <a:chExt cx="7620000" cy="1447800"/>
          </a:xfrm>
        </p:grpSpPr>
        <p:sp>
          <p:nvSpPr>
            <p:cNvPr id="4" name="Trapezoid 3">
              <a:extLst>
                <a:ext uri="{FF2B5EF4-FFF2-40B4-BE49-F238E27FC236}">
                  <a16:creationId xmlns:a16="http://schemas.microsoft.com/office/drawing/2014/main" id="{123D24E0-3931-7E7A-5D21-9AD476D4530D}"/>
                </a:ext>
              </a:extLst>
            </p:cNvPr>
            <p:cNvSpPr/>
            <p:nvPr/>
          </p:nvSpPr>
          <p:spPr>
            <a:xfrm rot="5400000">
              <a:off x="3962400" y="4495800"/>
              <a:ext cx="1219200" cy="914400"/>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vert="vert270" anchor="ctr"/>
            <a:lstStyle/>
            <a:p>
              <a:pPr algn="ctr" eaLnBrk="1" hangingPunct="1">
                <a:defRPr/>
              </a:pPr>
              <a:r>
                <a:rPr lang="en-US" dirty="0" err="1">
                  <a:latin typeface="Calibri"/>
                </a:rPr>
                <a:t>h</a:t>
              </a:r>
              <a:endParaRPr lang="en-US" dirty="0">
                <a:latin typeface="Calibri"/>
              </a:endParaRPr>
            </a:p>
          </p:txBody>
        </p:sp>
        <p:cxnSp>
          <p:nvCxnSpPr>
            <p:cNvPr id="5" name="Straight Arrow Connector 4">
              <a:extLst>
                <a:ext uri="{FF2B5EF4-FFF2-40B4-BE49-F238E27FC236}">
                  <a16:creationId xmlns:a16="http://schemas.microsoft.com/office/drawing/2014/main" id="{90716624-0276-DB60-FB84-A63EB47F3CAB}"/>
                </a:ext>
              </a:extLst>
            </p:cNvPr>
            <p:cNvCxnSpPr>
              <a:cxnSpLocks noChangeShapeType="1"/>
            </p:cNvCxnSpPr>
            <p:nvPr/>
          </p:nvCxnSpPr>
          <p:spPr bwMode="auto">
            <a:xfrm>
              <a:off x="2819400" y="4876800"/>
              <a:ext cx="12954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cxnSp>
          <p:nvCxnSpPr>
            <p:cNvPr id="6" name="Straight Arrow Connector 5">
              <a:extLst>
                <a:ext uri="{FF2B5EF4-FFF2-40B4-BE49-F238E27FC236}">
                  <a16:creationId xmlns:a16="http://schemas.microsoft.com/office/drawing/2014/main" id="{53A518EE-A277-170F-2CC8-D9A805FB1D34}"/>
                </a:ext>
              </a:extLst>
            </p:cNvPr>
            <p:cNvCxnSpPr>
              <a:cxnSpLocks noChangeShapeType="1"/>
            </p:cNvCxnSpPr>
            <p:nvPr/>
          </p:nvCxnSpPr>
          <p:spPr bwMode="auto">
            <a:xfrm>
              <a:off x="5029200" y="4876800"/>
              <a:ext cx="1219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sp>
          <p:nvSpPr>
            <p:cNvPr id="7" name="Rectangle 6">
              <a:extLst>
                <a:ext uri="{FF2B5EF4-FFF2-40B4-BE49-F238E27FC236}">
                  <a16:creationId xmlns:a16="http://schemas.microsoft.com/office/drawing/2014/main" id="{A24CEDB1-99FF-36E0-87D5-42B90D710960}"/>
                </a:ext>
              </a:extLst>
            </p:cNvPr>
            <p:cNvSpPr/>
            <p:nvPr/>
          </p:nvSpPr>
          <p:spPr>
            <a:xfrm>
              <a:off x="6248400" y="4648200"/>
              <a:ext cx="2209800" cy="6096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600" dirty="0">
                  <a:latin typeface="Calibri"/>
                </a:rPr>
                <a:t>52f21cf7c7034a20</a:t>
              </a:r>
              <a:br>
                <a:rPr lang="en-US" sz="1600" dirty="0">
                  <a:latin typeface="Calibri"/>
                </a:rPr>
              </a:br>
              <a:r>
                <a:rPr lang="en-US" sz="1600" dirty="0">
                  <a:latin typeface="Calibri"/>
                </a:rPr>
                <a:t>17a21e17e061a863</a:t>
              </a:r>
            </a:p>
          </p:txBody>
        </p:sp>
        <p:sp>
          <p:nvSpPr>
            <p:cNvPr id="8" name="Rectangle 7">
              <a:extLst>
                <a:ext uri="{FF2B5EF4-FFF2-40B4-BE49-F238E27FC236}">
                  <a16:creationId xmlns:a16="http://schemas.microsoft.com/office/drawing/2014/main" id="{4F4F57DF-025B-00B3-84E4-F591A24AF6CF}"/>
                </a:ext>
              </a:extLst>
            </p:cNvPr>
            <p:cNvSpPr/>
            <p:nvPr/>
          </p:nvSpPr>
          <p:spPr>
            <a:xfrm>
              <a:off x="838200" y="4343400"/>
              <a:ext cx="2133600" cy="14478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600" dirty="0">
                  <a:latin typeface="Calibri"/>
                </a:rPr>
                <a:t>This is a clear text that can easily read without using the key.  The sentence is longer than the text above.</a:t>
              </a:r>
            </a:p>
          </p:txBody>
        </p:sp>
        <p:cxnSp>
          <p:nvCxnSpPr>
            <p:cNvPr id="26" name="Straight Arrow Connector 25">
              <a:extLst>
                <a:ext uri="{FF2B5EF4-FFF2-40B4-BE49-F238E27FC236}">
                  <a16:creationId xmlns:a16="http://schemas.microsoft.com/office/drawing/2014/main" id="{53F01040-F1E3-9D89-5BE2-4A12D9DC0ED1}"/>
                </a:ext>
              </a:extLst>
            </p:cNvPr>
            <p:cNvCxnSpPr>
              <a:cxnSpLocks noChangeShapeType="1"/>
            </p:cNvCxnSpPr>
            <p:nvPr/>
          </p:nvCxnSpPr>
          <p:spPr bwMode="auto">
            <a:xfrm rot="10800000">
              <a:off x="5029200" y="5105400"/>
              <a:ext cx="1219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sp>
          <p:nvSpPr>
            <p:cNvPr id="27" name="&quot;No&quot; Symbol 26">
              <a:extLst>
                <a:ext uri="{FF2B5EF4-FFF2-40B4-BE49-F238E27FC236}">
                  <a16:creationId xmlns:a16="http://schemas.microsoft.com/office/drawing/2014/main" id="{D29CC7BA-4EC4-9ADB-8DAA-0A75BCCA1DFF}"/>
                </a:ext>
              </a:extLst>
            </p:cNvPr>
            <p:cNvSpPr/>
            <p:nvPr/>
          </p:nvSpPr>
          <p:spPr>
            <a:xfrm>
              <a:off x="5410200" y="4953000"/>
              <a:ext cx="381000" cy="381000"/>
            </a:xfrm>
            <a:prstGeom prst="noSmoking">
              <a:avLst>
                <a:gd name="adj" fmla="val 15418"/>
              </a:avLst>
            </a:prstGeom>
            <a:solidFill>
              <a:srgbClr val="800000"/>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chemeClr val="tx1"/>
                </a:solidFill>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2000"/>
                                        <p:tgtEl>
                                          <p:spTgt spid="4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2000"/>
                                        <p:tgtEl>
                                          <p:spTgt spid="40"/>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22537">
                                            <p:txEl>
                                              <p:pRg st="0" end="0"/>
                                            </p:txEl>
                                          </p:spTgt>
                                        </p:tgtEl>
                                        <p:attrNameLst>
                                          <p:attrName>style.visibility</p:attrName>
                                        </p:attrNameLst>
                                      </p:cBhvr>
                                      <p:to>
                                        <p:strVal val="visible"/>
                                      </p:to>
                                    </p:set>
                                    <p:animEffect transition="in" filter="fade">
                                      <p:cBhvr>
                                        <p:cTn id="21" dur="2000"/>
                                        <p:tgtEl>
                                          <p:spTgt spid="225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7" grpId="0" build="p"/>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42FAB40-98F2-FD67-7A8B-C19377B93246}"/>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Motivation for Hash Algorithms</a:t>
            </a:r>
          </a:p>
        </p:txBody>
      </p:sp>
      <p:sp>
        <p:nvSpPr>
          <p:cNvPr id="19459" name="Rectangle 3" descr="Rectangle: Click to edit Master text styles&#10;Second level&#10;Third level&#10;Fourth level&#10;Fifth level">
            <a:extLst>
              <a:ext uri="{FF2B5EF4-FFF2-40B4-BE49-F238E27FC236}">
                <a16:creationId xmlns:a16="http://schemas.microsoft.com/office/drawing/2014/main" id="{68FE42C2-B6F6-CCE7-C473-E003E6E17ACD}"/>
              </a:ext>
            </a:extLst>
          </p:cNvPr>
          <p:cNvSpPr>
            <a:spLocks noGrp="1"/>
          </p:cNvSpPr>
          <p:nvPr>
            <p:ph type="body" idx="1"/>
          </p:nvPr>
        </p:nvSpPr>
        <p:spPr>
          <a:xfrm>
            <a:off x="457200" y="1219200"/>
            <a:ext cx="8229600" cy="4937125"/>
          </a:xfrm>
        </p:spPr>
        <p:txBody>
          <a:bodyPr/>
          <a:lstStyle/>
          <a:p>
            <a:pPr eaLnBrk="1" hangingPunct="1"/>
            <a:r>
              <a:rPr lang="en-US" altLang="en-US">
                <a:latin typeface="Calibri" panose="020F0502020204030204" pitchFamily="34" charset="0"/>
                <a:ea typeface="ＭＳ Ｐゴシック" panose="020B0600070205080204" pitchFamily="34" charset="-128"/>
              </a:rPr>
              <a:t>Intuition</a:t>
            </a:r>
          </a:p>
          <a:p>
            <a:pPr lvl="1" eaLnBrk="1" hangingPunct="1"/>
            <a:r>
              <a:rPr lang="en-US" altLang="en-US">
                <a:latin typeface="Calibri" panose="020F0502020204030204" pitchFamily="34" charset="0"/>
                <a:ea typeface="ＭＳ Ｐゴシック" panose="020B0600070205080204" pitchFamily="34" charset="-128"/>
              </a:rPr>
              <a:t>Limitation on non-cryptographic checksum</a:t>
            </a:r>
          </a:p>
          <a:p>
            <a:pPr lvl="1" eaLnBrk="1" hangingPunct="1"/>
            <a:r>
              <a:rPr lang="en-US" altLang="en-US">
                <a:latin typeface="Calibri" panose="020F0502020204030204" pitchFamily="34" charset="0"/>
                <a:ea typeface="ＭＳ Ｐゴシック" panose="020B0600070205080204" pitchFamily="34" charset="-128"/>
              </a:rPr>
              <a:t>Very possible to construct a message that matches the checksum</a:t>
            </a:r>
          </a:p>
          <a:p>
            <a:pPr eaLnBrk="1" hangingPunct="1"/>
            <a:r>
              <a:rPr lang="en-US" altLang="en-US">
                <a:latin typeface="Calibri" panose="020F0502020204030204" pitchFamily="34" charset="0"/>
                <a:ea typeface="ＭＳ Ｐゴシック" panose="020B0600070205080204" pitchFamily="34" charset="-128"/>
              </a:rPr>
              <a:t>Goal</a:t>
            </a:r>
          </a:p>
          <a:p>
            <a:pPr lvl="1" eaLnBrk="1" hangingPunct="1"/>
            <a:r>
              <a:rPr lang="en-US" altLang="en-US">
                <a:latin typeface="Calibri" panose="020F0502020204030204" pitchFamily="34" charset="0"/>
                <a:ea typeface="ＭＳ Ｐゴシック" panose="020B0600070205080204" pitchFamily="34" charset="-128"/>
              </a:rPr>
              <a:t>Design a code where the original message can not be inferred based on its checksum</a:t>
            </a:r>
          </a:p>
          <a:p>
            <a:pPr lvl="1" eaLnBrk="1" hangingPunct="1"/>
            <a:r>
              <a:rPr lang="en-US" altLang="en-US">
                <a:latin typeface="Calibri" panose="020F0502020204030204" pitchFamily="34" charset="0"/>
                <a:ea typeface="ＭＳ Ｐゴシック" panose="020B0600070205080204" pitchFamily="34" charset="-128"/>
              </a:rPr>
              <a:t>such that an accidental or intentional change to the message will change the hash value</a:t>
            </a:r>
          </a:p>
          <a:p>
            <a:pPr eaLnBrk="1" hangingPunct="1"/>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4A7492B-50CC-E8CA-CE0C-2D5EF3B27D97}"/>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 Function Applications</a:t>
            </a:r>
          </a:p>
        </p:txBody>
      </p:sp>
      <p:sp>
        <p:nvSpPr>
          <p:cNvPr id="21507" name="Rectangle 3" descr="Rectangle: Click to edit Master text styles&#10;Second level&#10;Third level&#10;Fourth level&#10;Fifth level">
            <a:extLst>
              <a:ext uri="{FF2B5EF4-FFF2-40B4-BE49-F238E27FC236}">
                <a16:creationId xmlns:a16="http://schemas.microsoft.com/office/drawing/2014/main" id="{3C7DC304-3FFE-468E-0EB4-3121722723A6}"/>
              </a:ext>
            </a:extLst>
          </p:cNvPr>
          <p:cNvSpPr>
            <a:spLocks noGrp="1"/>
          </p:cNvSpPr>
          <p:nvPr>
            <p:ph type="body" idx="1"/>
          </p:nvPr>
        </p:nvSpPr>
        <p:spPr>
          <a:xfrm>
            <a:off x="457200" y="1219200"/>
            <a:ext cx="8229600" cy="4937125"/>
          </a:xfrm>
        </p:spPr>
        <p:txBody>
          <a:bodyPr/>
          <a:lstStyle/>
          <a:p>
            <a:pPr eaLnBrk="1" hangingPunct="1"/>
            <a:r>
              <a:rPr lang="en-US" altLang="en-US" sz="2400">
                <a:latin typeface="Calibri" panose="020F0502020204030204" pitchFamily="34" charset="0"/>
                <a:ea typeface="ＭＳ Ｐゴシック" panose="020B0600070205080204" pitchFamily="34" charset="-128"/>
              </a:rPr>
              <a:t>Used Alone</a:t>
            </a:r>
          </a:p>
          <a:p>
            <a:pPr lvl="1" eaLnBrk="1" hangingPunct="1"/>
            <a:r>
              <a:rPr lang="en-US" altLang="en-US">
                <a:latin typeface="Calibri" panose="020F0502020204030204" pitchFamily="34" charset="0"/>
                <a:ea typeface="ＭＳ Ｐゴシック" panose="020B0600070205080204" pitchFamily="34" charset="-128"/>
              </a:rPr>
              <a:t>Fingerprint -- file integrity verification, public key fingerprint</a:t>
            </a:r>
          </a:p>
          <a:p>
            <a:pPr lvl="1" eaLnBrk="1" hangingPunct="1"/>
            <a:r>
              <a:rPr lang="en-US" altLang="en-US">
                <a:latin typeface="Calibri" panose="020F0502020204030204" pitchFamily="34" charset="0"/>
                <a:ea typeface="ＭＳ Ｐゴシック" panose="020B0600070205080204" pitchFamily="34" charset="-128"/>
              </a:rPr>
              <a:t>Password storage (one-way encryption)</a:t>
            </a:r>
          </a:p>
          <a:p>
            <a:pPr eaLnBrk="1" hangingPunct="1"/>
            <a:endParaRPr lang="en-US" altLang="en-US" sz="2400">
              <a:latin typeface="Calibri" panose="020F0502020204030204" pitchFamily="34" charset="0"/>
              <a:ea typeface="ＭＳ Ｐゴシック" panose="020B0600070205080204" pitchFamily="34" charset="-128"/>
            </a:endParaRPr>
          </a:p>
          <a:p>
            <a:pPr eaLnBrk="1" hangingPunct="1"/>
            <a:r>
              <a:rPr lang="en-US" altLang="en-US" sz="2400">
                <a:latin typeface="Calibri" panose="020F0502020204030204" pitchFamily="34" charset="0"/>
                <a:ea typeface="ＭＳ Ｐゴシック" panose="020B0600070205080204" pitchFamily="34" charset="-128"/>
              </a:rPr>
              <a:t>Combined with encryption functions</a:t>
            </a:r>
          </a:p>
          <a:p>
            <a:pPr lvl="1" eaLnBrk="1" hangingPunct="1"/>
            <a:r>
              <a:rPr lang="en-US" altLang="en-US">
                <a:latin typeface="Calibri" panose="020F0502020204030204" pitchFamily="34" charset="0"/>
                <a:ea typeface="ＭＳ Ｐゴシック" panose="020B0600070205080204" pitchFamily="34" charset="-128"/>
              </a:rPr>
              <a:t>Hash based Message Authentication Code (HMAC)</a:t>
            </a:r>
          </a:p>
          <a:p>
            <a:pPr lvl="2" eaLnBrk="1" hangingPunct="1"/>
            <a:r>
              <a:rPr lang="en-US" altLang="en-US">
                <a:latin typeface="Calibri" panose="020F0502020204030204" pitchFamily="34" charset="0"/>
                <a:ea typeface="ＭＳ Ｐゴシック" panose="020B0600070205080204" pitchFamily="34" charset="-128"/>
              </a:rPr>
              <a:t>protects both a message's integrity and confideltaility</a:t>
            </a:r>
          </a:p>
          <a:p>
            <a:pPr lvl="1" eaLnBrk="1" hangingPunct="1"/>
            <a:r>
              <a:rPr lang="en-US" altLang="en-US">
                <a:latin typeface="Calibri" panose="020F0502020204030204" pitchFamily="34" charset="0"/>
                <a:ea typeface="ＭＳ Ｐゴシック" panose="020B0600070205080204" pitchFamily="34" charset="-128"/>
              </a:rPr>
              <a:t>Digital signature</a:t>
            </a:r>
          </a:p>
          <a:p>
            <a:pPr lvl="2" eaLnBrk="1" hangingPunct="1"/>
            <a:r>
              <a:rPr lang="en-US" altLang="en-US">
                <a:latin typeface="Calibri" panose="020F0502020204030204" pitchFamily="34" charset="0"/>
                <a:ea typeface="ＭＳ Ｐゴシック" panose="020B0600070205080204" pitchFamily="34" charset="-128"/>
              </a:rPr>
              <a:t>Ensuring Non-repudiation</a:t>
            </a:r>
          </a:p>
          <a:p>
            <a:pPr lvl="2" eaLnBrk="1" hangingPunct="1"/>
            <a:r>
              <a:rPr lang="en-US" altLang="en-US">
                <a:latin typeface="Calibri" panose="020F0502020204030204" pitchFamily="34" charset="0"/>
                <a:ea typeface="ＭＳ Ｐゴシック" panose="020B0600070205080204" pitchFamily="34" charset="-128"/>
              </a:rPr>
              <a:t>Encrypt hash with private (signing) key and verify with public (verification) key</a:t>
            </a:r>
          </a:p>
          <a:p>
            <a:pPr eaLnBrk="1" hangingPunct="1"/>
            <a:endParaRPr lang="en-US" altLang="en-US" sz="2400">
              <a:latin typeface="Calibri" panose="020F0502020204030204" pitchFamily="34" charset="0"/>
              <a:ea typeface="ＭＳ Ｐゴシック" panose="020B0600070205080204" pitchFamily="34" charset="-128"/>
            </a:endParaRPr>
          </a:p>
          <a:p>
            <a:pPr lvl="2" eaLnBrk="1" hangingPunct="1"/>
            <a:endParaRPr lang="en-US" altLang="en-US" sz="2400">
              <a:latin typeface="Calibri" panose="020F0502020204030204" pitchFamily="34" charset="0"/>
              <a:ea typeface="ＭＳ Ｐゴシック" panose="020B0600070205080204" pitchFamily="34" charset="-128"/>
            </a:endParaRPr>
          </a:p>
          <a:p>
            <a:pPr eaLnBrk="1" hangingPunct="1"/>
            <a:endParaRPr lang="en-US" altLang="en-US" sz="2400">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F22D5A1D-96B4-CC43-B3DD-ADBDEE616185}"/>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Integrity</a:t>
            </a:r>
          </a:p>
        </p:txBody>
      </p:sp>
      <p:sp>
        <p:nvSpPr>
          <p:cNvPr id="23555" name="Content Placeholder 2">
            <a:extLst>
              <a:ext uri="{FF2B5EF4-FFF2-40B4-BE49-F238E27FC236}">
                <a16:creationId xmlns:a16="http://schemas.microsoft.com/office/drawing/2014/main" id="{E656110C-C8FF-FEBC-3835-42F3A8553319}"/>
              </a:ext>
            </a:extLst>
          </p:cNvPr>
          <p:cNvSpPr>
            <a:spLocks noGrp="1"/>
          </p:cNvSpPr>
          <p:nvPr>
            <p:ph sz="quarter" idx="1"/>
          </p:nvPr>
        </p:nvSpPr>
        <p:spPr>
          <a:xfrm>
            <a:off x="533400" y="3733800"/>
            <a:ext cx="8229600" cy="2133600"/>
          </a:xfrm>
        </p:spPr>
        <p:txBody>
          <a:bodyPr/>
          <a:lstStyle/>
          <a:p>
            <a:pPr eaLnBrk="1" hangingPunct="1"/>
            <a:r>
              <a:rPr lang="en-US" altLang="en-US">
                <a:latin typeface="Calibri" panose="020F0502020204030204" pitchFamily="34" charset="0"/>
                <a:ea typeface="ＭＳ Ｐゴシック" panose="020B0600070205080204" pitchFamily="34" charset="-128"/>
              </a:rPr>
              <a:t>to create a one-way password file</a:t>
            </a:r>
          </a:p>
          <a:p>
            <a:pPr lvl="1" eaLnBrk="1" hangingPunct="1"/>
            <a:r>
              <a:rPr lang="en-US" altLang="en-US">
                <a:latin typeface="Calibri" panose="020F0502020204030204" pitchFamily="34" charset="0"/>
                <a:ea typeface="ＭＳ Ｐゴシック" panose="020B0600070205080204" pitchFamily="34" charset="-128"/>
              </a:rPr>
              <a:t>store hash of password not actual </a:t>
            </a:r>
            <a:r>
              <a:rPr lang="en-US" altLang="en-US" sz="2400">
                <a:latin typeface="Calibri" panose="020F0502020204030204" pitchFamily="34" charset="0"/>
                <a:ea typeface="ＭＳ Ｐゴシック" panose="020B0600070205080204" pitchFamily="34" charset="-128"/>
              </a:rPr>
              <a:t>password</a:t>
            </a:r>
          </a:p>
          <a:p>
            <a:pPr eaLnBrk="1" hangingPunct="1"/>
            <a:r>
              <a:rPr lang="en-US" altLang="en-US">
                <a:latin typeface="Calibri" panose="020F0502020204030204" pitchFamily="34" charset="0"/>
                <a:ea typeface="ＭＳ Ｐゴシック" panose="020B0600070205080204" pitchFamily="34" charset="-128"/>
              </a:rPr>
              <a:t>for intrusion detection and virus detection</a:t>
            </a:r>
          </a:p>
          <a:p>
            <a:pPr lvl="1" eaLnBrk="1" hangingPunct="1"/>
            <a:r>
              <a:rPr lang="en-US" altLang="en-US">
                <a:latin typeface="Calibri" panose="020F0502020204030204" pitchFamily="34" charset="0"/>
                <a:ea typeface="ＭＳ Ｐゴシック" panose="020B0600070205080204" pitchFamily="34" charset="-128"/>
              </a:rPr>
              <a:t>keep &amp; check hash of files on system</a:t>
            </a:r>
          </a:p>
          <a:p>
            <a:pPr eaLnBrk="1" hangingPunct="1"/>
            <a:endParaRPr lang="en-US" altLang="en-US">
              <a:latin typeface="Calibri" panose="020F0502020204030204" pitchFamily="34" charset="0"/>
              <a:ea typeface="ＭＳ Ｐゴシック" panose="020B0600070205080204" pitchFamily="34" charset="-128"/>
            </a:endParaRPr>
          </a:p>
        </p:txBody>
      </p:sp>
      <p:pic>
        <p:nvPicPr>
          <p:cNvPr id="23556" name="Picture 12">
            <a:extLst>
              <a:ext uri="{FF2B5EF4-FFF2-40B4-BE49-F238E27FC236}">
                <a16:creationId xmlns:a16="http://schemas.microsoft.com/office/drawing/2014/main" id="{2CDD6297-8523-B20B-EE8C-9045AB477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219200"/>
            <a:ext cx="6324600" cy="233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8AE558EC-C881-96B0-C46B-346F3A2F95F7}"/>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Password Verification</a:t>
            </a:r>
          </a:p>
        </p:txBody>
      </p:sp>
      <p:grpSp>
        <p:nvGrpSpPr>
          <p:cNvPr id="25603" name="Group 32">
            <a:extLst>
              <a:ext uri="{FF2B5EF4-FFF2-40B4-BE49-F238E27FC236}">
                <a16:creationId xmlns:a16="http://schemas.microsoft.com/office/drawing/2014/main" id="{E1FE361A-4370-F073-AB80-BC897F19B124}"/>
              </a:ext>
            </a:extLst>
          </p:cNvPr>
          <p:cNvGrpSpPr>
            <a:grpSpLocks/>
          </p:cNvGrpSpPr>
          <p:nvPr/>
        </p:nvGrpSpPr>
        <p:grpSpPr bwMode="auto">
          <a:xfrm>
            <a:off x="381000" y="1219200"/>
            <a:ext cx="2667000" cy="5029200"/>
            <a:chOff x="381000" y="1219200"/>
            <a:chExt cx="2667000" cy="5029200"/>
          </a:xfrm>
        </p:grpSpPr>
        <p:sp>
          <p:nvSpPr>
            <p:cNvPr id="92" name="Rectangle 91">
              <a:extLst>
                <a:ext uri="{FF2B5EF4-FFF2-40B4-BE49-F238E27FC236}">
                  <a16:creationId xmlns:a16="http://schemas.microsoft.com/office/drawing/2014/main" id="{351A99BC-6908-EA52-3293-A9B7C17D7A1D}"/>
                </a:ext>
              </a:extLst>
            </p:cNvPr>
            <p:cNvSpPr/>
            <p:nvPr/>
          </p:nvSpPr>
          <p:spPr>
            <a:xfrm>
              <a:off x="381000" y="1219200"/>
              <a:ext cx="2667000" cy="5029200"/>
            </a:xfrm>
            <a:prstGeom prst="rect">
              <a:avLst/>
            </a:prstGeom>
            <a:solidFill>
              <a:schemeClr val="bg1">
                <a:lumMod val="95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latin typeface="Calibri"/>
              </a:endParaRPr>
            </a:p>
          </p:txBody>
        </p:sp>
        <p:sp>
          <p:nvSpPr>
            <p:cNvPr id="8" name="Trapezoid 7">
              <a:extLst>
                <a:ext uri="{FF2B5EF4-FFF2-40B4-BE49-F238E27FC236}">
                  <a16:creationId xmlns:a16="http://schemas.microsoft.com/office/drawing/2014/main" id="{3EF448E8-4F71-2D16-1089-1A4F5E0B5409}"/>
                </a:ext>
              </a:extLst>
            </p:cNvPr>
            <p:cNvSpPr/>
            <p:nvPr/>
          </p:nvSpPr>
          <p:spPr>
            <a:xfrm rot="10800000">
              <a:off x="762000" y="2819400"/>
              <a:ext cx="1371600" cy="609600"/>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latin typeface="Calibri"/>
              </a:endParaRPr>
            </a:p>
          </p:txBody>
        </p:sp>
        <p:cxnSp>
          <p:nvCxnSpPr>
            <p:cNvPr id="9" name="Straight Arrow Connector 8">
              <a:extLst>
                <a:ext uri="{FF2B5EF4-FFF2-40B4-BE49-F238E27FC236}">
                  <a16:creationId xmlns:a16="http://schemas.microsoft.com/office/drawing/2014/main" id="{E637F396-E344-C900-2C7A-471D2467CEA6}"/>
                </a:ext>
              </a:extLst>
            </p:cNvPr>
            <p:cNvCxnSpPr>
              <a:cxnSpLocks noChangeShapeType="1"/>
            </p:cNvCxnSpPr>
            <p:nvPr/>
          </p:nvCxnSpPr>
          <p:spPr bwMode="auto">
            <a:xfrm rot="5400000">
              <a:off x="1181101" y="2552700"/>
              <a:ext cx="533400" cy="3175"/>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cxnSp>
          <p:nvCxnSpPr>
            <p:cNvPr id="10" name="Straight Arrow Connector 9">
              <a:extLst>
                <a:ext uri="{FF2B5EF4-FFF2-40B4-BE49-F238E27FC236}">
                  <a16:creationId xmlns:a16="http://schemas.microsoft.com/office/drawing/2014/main" id="{52878190-4137-CCFF-2A26-632287E22C62}"/>
                </a:ext>
              </a:extLst>
            </p:cNvPr>
            <p:cNvCxnSpPr>
              <a:cxnSpLocks noChangeShapeType="1"/>
            </p:cNvCxnSpPr>
            <p:nvPr/>
          </p:nvCxnSpPr>
          <p:spPr bwMode="auto">
            <a:xfrm rot="5400000">
              <a:off x="1182687" y="3694113"/>
              <a:ext cx="531813"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sp>
          <p:nvSpPr>
            <p:cNvPr id="12" name="Rectangle 11">
              <a:extLst>
                <a:ext uri="{FF2B5EF4-FFF2-40B4-BE49-F238E27FC236}">
                  <a16:creationId xmlns:a16="http://schemas.microsoft.com/office/drawing/2014/main" id="{AD6C993C-3EB1-3466-7909-EE2D7E90555A}"/>
                </a:ext>
              </a:extLst>
            </p:cNvPr>
            <p:cNvSpPr/>
            <p:nvPr/>
          </p:nvSpPr>
          <p:spPr>
            <a:xfrm>
              <a:off x="609600" y="1905000"/>
              <a:ext cx="1828800" cy="3810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Iam#4VKU</a:t>
              </a:r>
            </a:p>
          </p:txBody>
        </p:sp>
        <p:sp>
          <p:nvSpPr>
            <p:cNvPr id="25654" name="Rectangle 15">
              <a:extLst>
                <a:ext uri="{FF2B5EF4-FFF2-40B4-BE49-F238E27FC236}">
                  <a16:creationId xmlns:a16="http://schemas.microsoft.com/office/drawing/2014/main" id="{5FFCF292-E7F7-9849-64BB-4991C8DB1B5F}"/>
                </a:ext>
              </a:extLst>
            </p:cNvPr>
            <p:cNvSpPr>
              <a:spLocks noChangeArrowheads="1"/>
            </p:cNvSpPr>
            <p:nvPr/>
          </p:nvSpPr>
          <p:spPr bwMode="auto">
            <a:xfrm>
              <a:off x="1066800" y="2895600"/>
              <a:ext cx="690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chemeClr val="bg1"/>
                  </a:solidFill>
                </a:rPr>
                <a:t>h</a:t>
              </a:r>
            </a:p>
          </p:txBody>
        </p:sp>
        <p:sp>
          <p:nvSpPr>
            <p:cNvPr id="17" name="Rectangle 16">
              <a:extLst>
                <a:ext uri="{FF2B5EF4-FFF2-40B4-BE49-F238E27FC236}">
                  <a16:creationId xmlns:a16="http://schemas.microsoft.com/office/drawing/2014/main" id="{F2AD4BFB-D17E-08C9-96C1-E93E19DCDFEB}"/>
                </a:ext>
              </a:extLst>
            </p:cNvPr>
            <p:cNvSpPr/>
            <p:nvPr/>
          </p:nvSpPr>
          <p:spPr>
            <a:xfrm>
              <a:off x="533400" y="3962400"/>
              <a:ext cx="2057400" cy="609600"/>
            </a:xfrm>
            <a:prstGeom prst="rect">
              <a:avLst/>
            </a:prstGeom>
            <a:solidFill>
              <a:srgbClr val="1577F2"/>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661dce0da2bcb2d8</a:t>
              </a:r>
              <a:br>
                <a:rPr lang="en-US" dirty="0">
                  <a:latin typeface="Calibri"/>
                </a:rPr>
              </a:br>
              <a:r>
                <a:rPr lang="en-US" dirty="0">
                  <a:latin typeface="Calibri"/>
                </a:rPr>
                <a:t>2884e0162acf8194</a:t>
              </a:r>
            </a:p>
          </p:txBody>
        </p:sp>
        <p:sp>
          <p:nvSpPr>
            <p:cNvPr id="20" name="Can 19">
              <a:extLst>
                <a:ext uri="{FF2B5EF4-FFF2-40B4-BE49-F238E27FC236}">
                  <a16:creationId xmlns:a16="http://schemas.microsoft.com/office/drawing/2014/main" id="{59973E06-4F84-06A6-F896-B6120F2BF120}"/>
                </a:ext>
              </a:extLst>
            </p:cNvPr>
            <p:cNvSpPr/>
            <p:nvPr/>
          </p:nvSpPr>
          <p:spPr>
            <a:xfrm>
              <a:off x="838200" y="5105400"/>
              <a:ext cx="1295400" cy="990600"/>
            </a:xfrm>
            <a:prstGeom prst="can">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defRPr/>
              </a:pPr>
              <a:r>
                <a:rPr lang="en-US" dirty="0">
                  <a:solidFill>
                    <a:schemeClr val="tx1">
                      <a:lumMod val="65000"/>
                      <a:lumOff val="35000"/>
                    </a:schemeClr>
                  </a:solidFill>
                  <a:latin typeface="Calibri"/>
                </a:rPr>
                <a:t>Password store</a:t>
              </a:r>
            </a:p>
          </p:txBody>
        </p:sp>
        <p:cxnSp>
          <p:nvCxnSpPr>
            <p:cNvPr id="21" name="Straight Arrow Connector 20">
              <a:extLst>
                <a:ext uri="{FF2B5EF4-FFF2-40B4-BE49-F238E27FC236}">
                  <a16:creationId xmlns:a16="http://schemas.microsoft.com/office/drawing/2014/main" id="{5E18E776-16B9-A34C-D574-19A817A0BB7B}"/>
                </a:ext>
              </a:extLst>
            </p:cNvPr>
            <p:cNvCxnSpPr>
              <a:cxnSpLocks noChangeShapeType="1"/>
            </p:cNvCxnSpPr>
            <p:nvPr/>
          </p:nvCxnSpPr>
          <p:spPr bwMode="auto">
            <a:xfrm rot="5400000">
              <a:off x="1179513" y="4838700"/>
              <a:ext cx="534988" cy="1587"/>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sp>
          <p:nvSpPr>
            <p:cNvPr id="25662" name="Rectangle 97">
              <a:extLst>
                <a:ext uri="{FF2B5EF4-FFF2-40B4-BE49-F238E27FC236}">
                  <a16:creationId xmlns:a16="http://schemas.microsoft.com/office/drawing/2014/main" id="{41F42D16-CCE0-1BA1-3A8C-81A6F635814A}"/>
                </a:ext>
              </a:extLst>
            </p:cNvPr>
            <p:cNvSpPr>
              <a:spLocks noChangeArrowheads="1"/>
            </p:cNvSpPr>
            <p:nvPr/>
          </p:nvSpPr>
          <p:spPr bwMode="auto">
            <a:xfrm>
              <a:off x="381000" y="1295400"/>
              <a:ext cx="2219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600" b="1">
                  <a:solidFill>
                    <a:srgbClr val="595959"/>
                  </a:solidFill>
                </a:rPr>
                <a:t>Store Hashing Password</a:t>
              </a:r>
              <a:endParaRPr lang="en-US" altLang="en-US" sz="1600" b="1"/>
            </a:p>
          </p:txBody>
        </p:sp>
      </p:grpSp>
      <p:grpSp>
        <p:nvGrpSpPr>
          <p:cNvPr id="3" name="Group 33">
            <a:extLst>
              <a:ext uri="{FF2B5EF4-FFF2-40B4-BE49-F238E27FC236}">
                <a16:creationId xmlns:a16="http://schemas.microsoft.com/office/drawing/2014/main" id="{234C80AB-02CC-0508-3DD5-87D21601E342}"/>
              </a:ext>
            </a:extLst>
          </p:cNvPr>
          <p:cNvGrpSpPr>
            <a:grpSpLocks/>
          </p:cNvGrpSpPr>
          <p:nvPr/>
        </p:nvGrpSpPr>
        <p:grpSpPr bwMode="auto">
          <a:xfrm>
            <a:off x="3200400" y="1219200"/>
            <a:ext cx="6096000" cy="5029200"/>
            <a:chOff x="3200400" y="1219200"/>
            <a:chExt cx="6096000" cy="5029200"/>
          </a:xfrm>
        </p:grpSpPr>
        <p:sp>
          <p:nvSpPr>
            <p:cNvPr id="93" name="Rectangle 92">
              <a:extLst>
                <a:ext uri="{FF2B5EF4-FFF2-40B4-BE49-F238E27FC236}">
                  <a16:creationId xmlns:a16="http://schemas.microsoft.com/office/drawing/2014/main" id="{62F95C85-CDB2-1EB6-1F32-10BA6502494D}"/>
                </a:ext>
              </a:extLst>
            </p:cNvPr>
            <p:cNvSpPr/>
            <p:nvPr/>
          </p:nvSpPr>
          <p:spPr>
            <a:xfrm>
              <a:off x="3200400" y="1219200"/>
              <a:ext cx="5715000" cy="5029200"/>
            </a:xfrm>
            <a:prstGeom prst="rect">
              <a:avLst/>
            </a:prstGeom>
            <a:solidFill>
              <a:schemeClr val="bg1">
                <a:lumMod val="95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latin typeface="Calibri"/>
              </a:endParaRPr>
            </a:p>
          </p:txBody>
        </p:sp>
        <p:cxnSp>
          <p:nvCxnSpPr>
            <p:cNvPr id="51" name="Elbow Connector 50">
              <a:extLst>
                <a:ext uri="{FF2B5EF4-FFF2-40B4-BE49-F238E27FC236}">
                  <a16:creationId xmlns:a16="http://schemas.microsoft.com/office/drawing/2014/main" id="{DC40F7D9-AE2F-C0B0-43A6-967CB7905E5C}"/>
                </a:ext>
              </a:extLst>
            </p:cNvPr>
            <p:cNvCxnSpPr>
              <a:cxnSpLocks noChangeShapeType="1"/>
            </p:cNvCxnSpPr>
            <p:nvPr/>
          </p:nvCxnSpPr>
          <p:spPr bwMode="auto">
            <a:xfrm rot="5400000">
              <a:off x="7010400" y="4267200"/>
              <a:ext cx="762000" cy="762000"/>
            </a:xfrm>
            <a:prstGeom prst="bentConnector3">
              <a:avLst>
                <a:gd name="adj1" fmla="val 100000"/>
              </a:avLst>
            </a:prstGeom>
            <a:noFill/>
            <a:ln w="50800">
              <a:solidFill>
                <a:schemeClr val="accent1"/>
              </a:solidFill>
              <a:miter lim="800000"/>
              <a:headEnd/>
              <a:tailEnd type="triangle" w="lg" len="med"/>
            </a:ln>
            <a:effectLst>
              <a:outerShdw blurRad="38100" dist="25400" dir="5400000" rotWithShape="0">
                <a:srgbClr val="808080">
                  <a:alpha val="39999"/>
                </a:srgbClr>
              </a:outerShdw>
            </a:effectLst>
          </p:spPr>
        </p:cxnSp>
        <p:cxnSp>
          <p:nvCxnSpPr>
            <p:cNvPr id="49" name="Shape 48">
              <a:extLst>
                <a:ext uri="{FF2B5EF4-FFF2-40B4-BE49-F238E27FC236}">
                  <a16:creationId xmlns:a16="http://schemas.microsoft.com/office/drawing/2014/main" id="{2242BEA3-9046-CEA9-08D9-EE13A39CA0B8}"/>
                </a:ext>
              </a:extLst>
            </p:cNvPr>
            <p:cNvCxnSpPr>
              <a:cxnSpLocks noChangeShapeType="1"/>
            </p:cNvCxnSpPr>
            <p:nvPr/>
          </p:nvCxnSpPr>
          <p:spPr bwMode="auto">
            <a:xfrm>
              <a:off x="4191000" y="4267200"/>
              <a:ext cx="914400" cy="762000"/>
            </a:xfrm>
            <a:prstGeom prst="bentConnector3">
              <a:avLst>
                <a:gd name="adj1" fmla="val 2778"/>
              </a:avLst>
            </a:prstGeom>
            <a:noFill/>
            <a:ln w="50800">
              <a:solidFill>
                <a:schemeClr val="accent1"/>
              </a:solidFill>
              <a:miter lim="800000"/>
              <a:headEnd/>
              <a:tailEnd type="triangle" w="lg" len="med"/>
            </a:ln>
            <a:effectLst>
              <a:outerShdw blurRad="38100" dist="25400" dir="5400000" rotWithShape="0">
                <a:srgbClr val="808080">
                  <a:alpha val="39999"/>
                </a:srgbClr>
              </a:outerShdw>
            </a:effectLst>
          </p:spPr>
        </p:cxnSp>
        <p:sp>
          <p:nvSpPr>
            <p:cNvPr id="23" name="Trapezoid 22">
              <a:extLst>
                <a:ext uri="{FF2B5EF4-FFF2-40B4-BE49-F238E27FC236}">
                  <a16:creationId xmlns:a16="http://schemas.microsoft.com/office/drawing/2014/main" id="{6B872B87-6366-6833-E63A-50A0831BCA64}"/>
                </a:ext>
              </a:extLst>
            </p:cNvPr>
            <p:cNvSpPr/>
            <p:nvPr/>
          </p:nvSpPr>
          <p:spPr>
            <a:xfrm rot="10800000">
              <a:off x="3581400" y="2819400"/>
              <a:ext cx="1371600" cy="609599"/>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latin typeface="Calibri"/>
              </a:endParaRPr>
            </a:p>
          </p:txBody>
        </p:sp>
        <p:cxnSp>
          <p:nvCxnSpPr>
            <p:cNvPr id="24" name="Straight Arrow Connector 23">
              <a:extLst>
                <a:ext uri="{FF2B5EF4-FFF2-40B4-BE49-F238E27FC236}">
                  <a16:creationId xmlns:a16="http://schemas.microsoft.com/office/drawing/2014/main" id="{DBA6A1F4-54F5-A1C6-7901-716638F42815}"/>
                </a:ext>
              </a:extLst>
            </p:cNvPr>
            <p:cNvCxnSpPr>
              <a:cxnSpLocks noChangeShapeType="1"/>
            </p:cNvCxnSpPr>
            <p:nvPr/>
          </p:nvCxnSpPr>
          <p:spPr bwMode="auto">
            <a:xfrm rot="5400000">
              <a:off x="3963194" y="2513806"/>
              <a:ext cx="6096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cxnSp>
          <p:nvCxnSpPr>
            <p:cNvPr id="25" name="Straight Arrow Connector 24">
              <a:extLst>
                <a:ext uri="{FF2B5EF4-FFF2-40B4-BE49-F238E27FC236}">
                  <a16:creationId xmlns:a16="http://schemas.microsoft.com/office/drawing/2014/main" id="{525D0CF2-F118-A740-09C7-6852710112F9}"/>
                </a:ext>
              </a:extLst>
            </p:cNvPr>
            <p:cNvCxnSpPr>
              <a:cxnSpLocks noChangeShapeType="1"/>
            </p:cNvCxnSpPr>
            <p:nvPr/>
          </p:nvCxnSpPr>
          <p:spPr bwMode="auto">
            <a:xfrm rot="5400000">
              <a:off x="4002087" y="3694113"/>
              <a:ext cx="531813"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sp>
          <p:nvSpPr>
            <p:cNvPr id="26" name="Rectangle 25">
              <a:extLst>
                <a:ext uri="{FF2B5EF4-FFF2-40B4-BE49-F238E27FC236}">
                  <a16:creationId xmlns:a16="http://schemas.microsoft.com/office/drawing/2014/main" id="{9FF956D2-0055-D8D5-3325-BCCF4A5A7D61}"/>
                </a:ext>
              </a:extLst>
            </p:cNvPr>
            <p:cNvSpPr/>
            <p:nvPr/>
          </p:nvSpPr>
          <p:spPr>
            <a:xfrm>
              <a:off x="3429000" y="1905000"/>
              <a:ext cx="1828800" cy="3810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Iam#4VKU</a:t>
              </a:r>
            </a:p>
          </p:txBody>
        </p:sp>
        <p:sp>
          <p:nvSpPr>
            <p:cNvPr id="25618" name="Rectangle 26">
              <a:extLst>
                <a:ext uri="{FF2B5EF4-FFF2-40B4-BE49-F238E27FC236}">
                  <a16:creationId xmlns:a16="http://schemas.microsoft.com/office/drawing/2014/main" id="{05E64F72-1543-8485-8DBB-6184B9B7293C}"/>
                </a:ext>
              </a:extLst>
            </p:cNvPr>
            <p:cNvSpPr>
              <a:spLocks noChangeArrowheads="1"/>
            </p:cNvSpPr>
            <p:nvPr/>
          </p:nvSpPr>
          <p:spPr bwMode="auto">
            <a:xfrm>
              <a:off x="3886200" y="2895600"/>
              <a:ext cx="690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chemeClr val="bg1"/>
                  </a:solidFill>
                </a:rPr>
                <a:t>h</a:t>
              </a:r>
            </a:p>
          </p:txBody>
        </p:sp>
        <p:sp>
          <p:nvSpPr>
            <p:cNvPr id="28" name="Rectangle 27">
              <a:extLst>
                <a:ext uri="{FF2B5EF4-FFF2-40B4-BE49-F238E27FC236}">
                  <a16:creationId xmlns:a16="http://schemas.microsoft.com/office/drawing/2014/main" id="{049ED023-1AB1-CB17-F656-7D1277CF315F}"/>
                </a:ext>
              </a:extLst>
            </p:cNvPr>
            <p:cNvSpPr/>
            <p:nvPr/>
          </p:nvSpPr>
          <p:spPr>
            <a:xfrm>
              <a:off x="3352800" y="3962400"/>
              <a:ext cx="2057400" cy="609600"/>
            </a:xfrm>
            <a:prstGeom prst="rect">
              <a:avLst/>
            </a:prstGeom>
            <a:solidFill>
              <a:srgbClr val="1577F2"/>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661dce0da2bcb2d8</a:t>
              </a:r>
              <a:br>
                <a:rPr lang="en-US" dirty="0">
                  <a:latin typeface="Calibri"/>
                </a:rPr>
              </a:br>
              <a:r>
                <a:rPr lang="en-US" dirty="0">
                  <a:latin typeface="Calibri"/>
                </a:rPr>
                <a:t>2884e0162acf8194</a:t>
              </a:r>
            </a:p>
          </p:txBody>
        </p:sp>
        <p:sp>
          <p:nvSpPr>
            <p:cNvPr id="30" name="Rectangle 29">
              <a:extLst>
                <a:ext uri="{FF2B5EF4-FFF2-40B4-BE49-F238E27FC236}">
                  <a16:creationId xmlns:a16="http://schemas.microsoft.com/office/drawing/2014/main" id="{7379C98F-B1AA-DFA7-5364-C3B0E73792B8}"/>
                </a:ext>
              </a:extLst>
            </p:cNvPr>
            <p:cNvSpPr/>
            <p:nvPr/>
          </p:nvSpPr>
          <p:spPr>
            <a:xfrm>
              <a:off x="6705600" y="3961606"/>
              <a:ext cx="2057400" cy="609600"/>
            </a:xfrm>
            <a:prstGeom prst="rect">
              <a:avLst/>
            </a:prstGeom>
            <a:solidFill>
              <a:srgbClr val="1577F2"/>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661dce0da2bcb2d8</a:t>
              </a:r>
              <a:br>
                <a:rPr lang="en-US" dirty="0">
                  <a:latin typeface="Calibri"/>
                </a:rPr>
              </a:br>
              <a:r>
                <a:rPr lang="en-US" dirty="0">
                  <a:latin typeface="Calibri"/>
                </a:rPr>
                <a:t>2884e0162acf8194</a:t>
              </a:r>
            </a:p>
          </p:txBody>
        </p:sp>
        <p:cxnSp>
          <p:nvCxnSpPr>
            <p:cNvPr id="31" name="Straight Arrow Connector 30">
              <a:extLst>
                <a:ext uri="{FF2B5EF4-FFF2-40B4-BE49-F238E27FC236}">
                  <a16:creationId xmlns:a16="http://schemas.microsoft.com/office/drawing/2014/main" id="{DF39C9C9-A77A-C201-6EA8-BA45558EDDCA}"/>
                </a:ext>
              </a:extLst>
            </p:cNvPr>
            <p:cNvCxnSpPr>
              <a:cxnSpLocks noChangeShapeType="1"/>
            </p:cNvCxnSpPr>
            <p:nvPr/>
          </p:nvCxnSpPr>
          <p:spPr bwMode="auto">
            <a:xfrm rot="5400000">
              <a:off x="6934201" y="3046412"/>
              <a:ext cx="1676400" cy="3175"/>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sp>
          <p:nvSpPr>
            <p:cNvPr id="29" name="Can 28">
              <a:extLst>
                <a:ext uri="{FF2B5EF4-FFF2-40B4-BE49-F238E27FC236}">
                  <a16:creationId xmlns:a16="http://schemas.microsoft.com/office/drawing/2014/main" id="{D1A6B5C0-AD8C-11F6-90FA-D337DB17DD59}"/>
                </a:ext>
              </a:extLst>
            </p:cNvPr>
            <p:cNvSpPr/>
            <p:nvPr/>
          </p:nvSpPr>
          <p:spPr>
            <a:xfrm>
              <a:off x="7086600" y="1905000"/>
              <a:ext cx="1295400" cy="990600"/>
            </a:xfrm>
            <a:prstGeom prst="can">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defRPr/>
              </a:pPr>
              <a:r>
                <a:rPr lang="en-US" dirty="0">
                  <a:solidFill>
                    <a:schemeClr val="tx1">
                      <a:lumMod val="65000"/>
                      <a:lumOff val="35000"/>
                    </a:schemeClr>
                  </a:solidFill>
                  <a:latin typeface="Calibri"/>
                </a:rPr>
                <a:t>Password store</a:t>
              </a:r>
            </a:p>
          </p:txBody>
        </p:sp>
        <p:cxnSp>
          <p:nvCxnSpPr>
            <p:cNvPr id="64" name="Elbow Connector 63">
              <a:extLst>
                <a:ext uri="{FF2B5EF4-FFF2-40B4-BE49-F238E27FC236}">
                  <a16:creationId xmlns:a16="http://schemas.microsoft.com/office/drawing/2014/main" id="{F7725030-F60B-AE28-A4ED-9893ECD43B74}"/>
                </a:ext>
              </a:extLst>
            </p:cNvPr>
            <p:cNvCxnSpPr>
              <a:cxnSpLocks noChangeShapeType="1"/>
            </p:cNvCxnSpPr>
            <p:nvPr/>
          </p:nvCxnSpPr>
          <p:spPr bwMode="auto">
            <a:xfrm rot="10800000" flipV="1">
              <a:off x="5029200" y="5410200"/>
              <a:ext cx="914400" cy="533400"/>
            </a:xfrm>
            <a:prstGeom prst="bentConnector3">
              <a:avLst>
                <a:gd name="adj1" fmla="val 1389"/>
              </a:avLst>
            </a:prstGeom>
            <a:noFill/>
            <a:ln w="50800">
              <a:solidFill>
                <a:schemeClr val="accent1"/>
              </a:solidFill>
              <a:miter lim="800000"/>
              <a:headEnd/>
              <a:tailEnd type="triangle" w="lg" len="med"/>
            </a:ln>
            <a:effectLst>
              <a:outerShdw blurRad="38100" dist="25400" dir="5400000" rotWithShape="0">
                <a:srgbClr val="808080">
                  <a:alpha val="39999"/>
                </a:srgbClr>
              </a:outerShdw>
            </a:effectLst>
          </p:spPr>
        </p:cxnSp>
        <p:cxnSp>
          <p:nvCxnSpPr>
            <p:cNvPr id="79" name="Elbow Connector 78">
              <a:extLst>
                <a:ext uri="{FF2B5EF4-FFF2-40B4-BE49-F238E27FC236}">
                  <a16:creationId xmlns:a16="http://schemas.microsoft.com/office/drawing/2014/main" id="{E20FAD50-24C9-EC66-9C40-170F59BDA577}"/>
                </a:ext>
              </a:extLst>
            </p:cNvPr>
            <p:cNvCxnSpPr>
              <a:cxnSpLocks noChangeShapeType="1"/>
            </p:cNvCxnSpPr>
            <p:nvPr/>
          </p:nvCxnSpPr>
          <p:spPr bwMode="auto">
            <a:xfrm>
              <a:off x="6248400" y="5334000"/>
              <a:ext cx="838200" cy="609600"/>
            </a:xfrm>
            <a:prstGeom prst="bentConnector3">
              <a:avLst>
                <a:gd name="adj1" fmla="val -3028"/>
              </a:avLst>
            </a:prstGeom>
            <a:noFill/>
            <a:ln w="50800">
              <a:solidFill>
                <a:schemeClr val="accent1"/>
              </a:solidFill>
              <a:miter lim="800000"/>
              <a:headEnd/>
              <a:tailEnd type="triangle" w="lg" len="med"/>
            </a:ln>
            <a:effectLst>
              <a:outerShdw blurRad="38100" dist="25400" dir="5400000" rotWithShape="0">
                <a:srgbClr val="808080">
                  <a:alpha val="39999"/>
                </a:srgbClr>
              </a:outerShdw>
            </a:effectLst>
          </p:spPr>
        </p:cxnSp>
        <p:sp>
          <p:nvSpPr>
            <p:cNvPr id="47" name="Hexagon 46">
              <a:extLst>
                <a:ext uri="{FF2B5EF4-FFF2-40B4-BE49-F238E27FC236}">
                  <a16:creationId xmlns:a16="http://schemas.microsoft.com/office/drawing/2014/main" id="{9E503708-F1A2-C4C1-F8CB-E72A71EE8E56}"/>
                </a:ext>
              </a:extLst>
            </p:cNvPr>
            <p:cNvSpPr/>
            <p:nvPr/>
          </p:nvSpPr>
          <p:spPr>
            <a:xfrm>
              <a:off x="5105400" y="4800600"/>
              <a:ext cx="1905000" cy="609600"/>
            </a:xfrm>
            <a:prstGeom prst="hexagon">
              <a:avLst/>
            </a:prstGeom>
          </p:spPr>
          <p:style>
            <a:lnRef idx="1">
              <a:schemeClr val="accent2"/>
            </a:lnRef>
            <a:fillRef idx="3">
              <a:schemeClr val="accent2"/>
            </a:fillRef>
            <a:effectRef idx="2">
              <a:schemeClr val="accent2"/>
            </a:effectRef>
            <a:fontRef idx="minor">
              <a:schemeClr val="lt1"/>
            </a:fontRef>
          </p:style>
          <p:txBody>
            <a:bodyPr anchor="ctr"/>
            <a:lstStyle/>
            <a:p>
              <a:pPr algn="ctr" eaLnBrk="1" hangingPunct="1">
                <a:defRPr/>
              </a:pPr>
              <a:r>
                <a:rPr lang="en-US" sz="1600" dirty="0">
                  <a:latin typeface="Calibri"/>
                </a:rPr>
                <a:t>Hash Matching Exactly?</a:t>
              </a:r>
            </a:p>
          </p:txBody>
        </p:sp>
        <p:sp>
          <p:nvSpPr>
            <p:cNvPr id="87" name="Rectangle 86">
              <a:extLst>
                <a:ext uri="{FF2B5EF4-FFF2-40B4-BE49-F238E27FC236}">
                  <a16:creationId xmlns:a16="http://schemas.microsoft.com/office/drawing/2014/main" id="{3DA30E9E-15D0-F44F-2634-92803EE0F9E8}"/>
                </a:ext>
              </a:extLst>
            </p:cNvPr>
            <p:cNvSpPr/>
            <p:nvPr/>
          </p:nvSpPr>
          <p:spPr>
            <a:xfrm>
              <a:off x="3886200" y="5791200"/>
              <a:ext cx="1143000" cy="381000"/>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Grant</a:t>
              </a:r>
            </a:p>
          </p:txBody>
        </p:sp>
        <p:sp>
          <p:nvSpPr>
            <p:cNvPr id="88" name="Rectangle 87">
              <a:extLst>
                <a:ext uri="{FF2B5EF4-FFF2-40B4-BE49-F238E27FC236}">
                  <a16:creationId xmlns:a16="http://schemas.microsoft.com/office/drawing/2014/main" id="{330E1A4B-0283-A1B2-F8F3-7E56449566A2}"/>
                </a:ext>
              </a:extLst>
            </p:cNvPr>
            <p:cNvSpPr/>
            <p:nvPr/>
          </p:nvSpPr>
          <p:spPr>
            <a:xfrm>
              <a:off x="7086600" y="5715000"/>
              <a:ext cx="1143000" cy="381000"/>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Deny</a:t>
              </a:r>
            </a:p>
          </p:txBody>
        </p:sp>
        <p:sp>
          <p:nvSpPr>
            <p:cNvPr id="25640" name="Rectangle 88">
              <a:extLst>
                <a:ext uri="{FF2B5EF4-FFF2-40B4-BE49-F238E27FC236}">
                  <a16:creationId xmlns:a16="http://schemas.microsoft.com/office/drawing/2014/main" id="{BD107BCD-97CA-3FE7-CB15-6705152810DE}"/>
                </a:ext>
              </a:extLst>
            </p:cNvPr>
            <p:cNvSpPr>
              <a:spLocks noChangeArrowheads="1"/>
            </p:cNvSpPr>
            <p:nvPr/>
          </p:nvSpPr>
          <p:spPr bwMode="auto">
            <a:xfrm>
              <a:off x="5334000" y="5486400"/>
              <a:ext cx="485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595959"/>
                  </a:solidFill>
                </a:rPr>
                <a:t>Yes</a:t>
              </a:r>
              <a:endParaRPr lang="en-US" altLang="en-US" sz="1800"/>
            </a:p>
          </p:txBody>
        </p:sp>
        <p:sp>
          <p:nvSpPr>
            <p:cNvPr id="25641" name="Rectangle 89">
              <a:extLst>
                <a:ext uri="{FF2B5EF4-FFF2-40B4-BE49-F238E27FC236}">
                  <a16:creationId xmlns:a16="http://schemas.microsoft.com/office/drawing/2014/main" id="{D75F08DD-08C5-620E-7E2F-A66DD13809B5}"/>
                </a:ext>
              </a:extLst>
            </p:cNvPr>
            <p:cNvSpPr>
              <a:spLocks noChangeArrowheads="1"/>
            </p:cNvSpPr>
            <p:nvPr/>
          </p:nvSpPr>
          <p:spPr bwMode="auto">
            <a:xfrm>
              <a:off x="6248400" y="5486400"/>
              <a:ext cx="455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595959"/>
                  </a:solidFill>
                </a:rPr>
                <a:t>No</a:t>
              </a:r>
              <a:endParaRPr lang="en-US" altLang="en-US" sz="1800"/>
            </a:p>
          </p:txBody>
        </p:sp>
        <p:sp>
          <p:nvSpPr>
            <p:cNvPr id="25642" name="Rectangle 98">
              <a:extLst>
                <a:ext uri="{FF2B5EF4-FFF2-40B4-BE49-F238E27FC236}">
                  <a16:creationId xmlns:a16="http://schemas.microsoft.com/office/drawing/2014/main" id="{5BC974D7-58F9-C6C1-2255-89A041489ADB}"/>
                </a:ext>
              </a:extLst>
            </p:cNvPr>
            <p:cNvSpPr>
              <a:spLocks noChangeArrowheads="1"/>
            </p:cNvSpPr>
            <p:nvPr/>
          </p:nvSpPr>
          <p:spPr bwMode="auto">
            <a:xfrm>
              <a:off x="3276600" y="1295400"/>
              <a:ext cx="6019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600" b="1">
                  <a:solidFill>
                    <a:srgbClr val="595959"/>
                  </a:solidFill>
                </a:rPr>
                <a:t>Verification an input password against the stored hash</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082A9495-99C7-42C2-EE32-513ED530AA59}"/>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Topics</a:t>
            </a:r>
          </a:p>
        </p:txBody>
      </p:sp>
      <p:sp>
        <p:nvSpPr>
          <p:cNvPr id="26627" name="Content Placeholder 2">
            <a:extLst>
              <a:ext uri="{FF2B5EF4-FFF2-40B4-BE49-F238E27FC236}">
                <a16:creationId xmlns:a16="http://schemas.microsoft.com/office/drawing/2014/main" id="{CEA3BEDA-9D59-F697-6F64-A8A3E46950DA}"/>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ea typeface="ＭＳ Ｐゴシック" panose="020B0600070205080204" pitchFamily="34" charset="-128"/>
              </a:rPr>
              <a:t>Overview of Cryptography Hash Function</a:t>
            </a:r>
          </a:p>
          <a:p>
            <a:r>
              <a:rPr lang="en-US" altLang="en-US" b="1">
                <a:latin typeface="Calibri" panose="020F0502020204030204" pitchFamily="34" charset="0"/>
                <a:ea typeface="ＭＳ Ｐゴシック" panose="020B0600070205080204" pitchFamily="34" charset="-128"/>
              </a:rPr>
              <a:t>Usages</a:t>
            </a:r>
          </a:p>
          <a:p>
            <a:r>
              <a:rPr lang="en-US" altLang="en-US">
                <a:latin typeface="Calibri" panose="020F0502020204030204" pitchFamily="34" charset="0"/>
                <a:ea typeface="ＭＳ Ｐゴシック" panose="020B0600070205080204" pitchFamily="34" charset="-128"/>
              </a:rPr>
              <a:t>Properties</a:t>
            </a:r>
          </a:p>
          <a:p>
            <a:r>
              <a:rPr lang="en-US" altLang="en-US">
                <a:latin typeface="Calibri" panose="020F0502020204030204" pitchFamily="34" charset="0"/>
                <a:ea typeface="ＭＳ Ｐゴシック" panose="020B0600070205080204" pitchFamily="34" charset="-128"/>
              </a:rPr>
              <a:t>Hashing Function Structure</a:t>
            </a:r>
          </a:p>
          <a:p>
            <a:r>
              <a:rPr lang="en-US" altLang="en-US">
                <a:latin typeface="Calibri" panose="020F0502020204030204" pitchFamily="34" charset="0"/>
                <a:ea typeface="ＭＳ Ｐゴシック" panose="020B0600070205080204" pitchFamily="34" charset="-128"/>
              </a:rPr>
              <a:t>Attack on Hash Function </a:t>
            </a:r>
          </a:p>
          <a:p>
            <a:r>
              <a:rPr lang="en-US" altLang="en-US">
                <a:latin typeface="Calibri" panose="020F0502020204030204" pitchFamily="34" charset="0"/>
                <a:ea typeface="ＭＳ Ｐゴシック" panose="020B0600070205080204" pitchFamily="34" charset="-128"/>
              </a:rPr>
              <a:t>The Road to new Secure Hash Standard</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B5F023E3-E4B5-5AB4-A370-891FC56A2D40}"/>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 Function Usages (I)</a:t>
            </a:r>
          </a:p>
        </p:txBody>
      </p:sp>
      <p:sp>
        <p:nvSpPr>
          <p:cNvPr id="27651" name="Content Placeholder 2">
            <a:extLst>
              <a:ext uri="{FF2B5EF4-FFF2-40B4-BE49-F238E27FC236}">
                <a16:creationId xmlns:a16="http://schemas.microsoft.com/office/drawing/2014/main" id="{0DD689FD-4E5F-2C19-DCED-EF89235576E4}"/>
              </a:ext>
            </a:extLst>
          </p:cNvPr>
          <p:cNvSpPr>
            <a:spLocks noGrp="1"/>
          </p:cNvSpPr>
          <p:nvPr>
            <p:ph sz="quarter" idx="1"/>
          </p:nvPr>
        </p:nvSpPr>
        <p:spPr>
          <a:xfrm>
            <a:off x="457200" y="5562600"/>
            <a:ext cx="8229600" cy="593725"/>
          </a:xfrm>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pic>
        <p:nvPicPr>
          <p:cNvPr id="27652" name="Picture 3">
            <a:extLst>
              <a:ext uri="{FF2B5EF4-FFF2-40B4-BE49-F238E27FC236}">
                <a16:creationId xmlns:a16="http://schemas.microsoft.com/office/drawing/2014/main" id="{D1F1E091-3E1F-FE19-35E1-3ACF1F88184A}"/>
              </a:ext>
            </a:extLst>
          </p:cNvPr>
          <p:cNvPicPr>
            <a:picLocks noChangeAspect="1"/>
          </p:cNvPicPr>
          <p:nvPr/>
        </p:nvPicPr>
        <p:blipFill>
          <a:blip r:embed="rId3">
            <a:extLst>
              <a:ext uri="{28A0092B-C50C-407E-A947-70E740481C1C}">
                <a14:useLocalDpi xmlns:a14="http://schemas.microsoft.com/office/drawing/2010/main" val="0"/>
              </a:ext>
            </a:extLst>
          </a:blip>
          <a:srcRect b="47218"/>
          <a:stretch>
            <a:fillRect/>
          </a:stretch>
        </p:blipFill>
        <p:spPr bwMode="auto">
          <a:xfrm>
            <a:off x="914400" y="1371600"/>
            <a:ext cx="7467600" cy="4575175"/>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ext Box 4">
            <a:extLst>
              <a:ext uri="{FF2B5EF4-FFF2-40B4-BE49-F238E27FC236}">
                <a16:creationId xmlns:a16="http://schemas.microsoft.com/office/drawing/2014/main" id="{A643FAAF-2BB0-0218-84DF-440DDB752242}"/>
              </a:ext>
            </a:extLst>
          </p:cNvPr>
          <p:cNvSpPr txBox="1">
            <a:spLocks noChangeArrowheads="1"/>
          </p:cNvSpPr>
          <p:nvPr/>
        </p:nvSpPr>
        <p:spPr bwMode="auto">
          <a:xfrm>
            <a:off x="1447800" y="3276600"/>
            <a:ext cx="5943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marL="457200" indent="-457200">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t>Message encrypted : Confidentiality and authentication</a:t>
            </a:r>
          </a:p>
        </p:txBody>
      </p:sp>
      <p:sp>
        <p:nvSpPr>
          <p:cNvPr id="27654" name="Text Box 5">
            <a:extLst>
              <a:ext uri="{FF2B5EF4-FFF2-40B4-BE49-F238E27FC236}">
                <a16:creationId xmlns:a16="http://schemas.microsoft.com/office/drawing/2014/main" id="{056A23DD-E4C7-8A66-BEAF-D233678D2367}"/>
              </a:ext>
            </a:extLst>
          </p:cNvPr>
          <p:cNvSpPr txBox="1">
            <a:spLocks noChangeArrowheads="1"/>
          </p:cNvSpPr>
          <p:nvPr/>
        </p:nvSpPr>
        <p:spPr bwMode="auto">
          <a:xfrm>
            <a:off x="1676400" y="5257800"/>
            <a:ext cx="5029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marL="457200" indent="-457200">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t>Message unencrypted:  Authentication</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a:extLst>
              <a:ext uri="{FF2B5EF4-FFF2-40B4-BE49-F238E27FC236}">
                <a16:creationId xmlns:a16="http://schemas.microsoft.com/office/drawing/2014/main" id="{C87C5AD0-9B8B-2B0C-B4DC-3BC626180606}"/>
              </a:ext>
            </a:extLst>
          </p:cNvPr>
          <p:cNvPicPr>
            <a:picLocks noChangeAspect="1"/>
          </p:cNvPicPr>
          <p:nvPr/>
        </p:nvPicPr>
        <p:blipFill>
          <a:blip r:embed="rId3">
            <a:extLst>
              <a:ext uri="{28A0092B-C50C-407E-A947-70E740481C1C}">
                <a14:useLocalDpi xmlns:a14="http://schemas.microsoft.com/office/drawing/2010/main" val="0"/>
              </a:ext>
            </a:extLst>
          </a:blip>
          <a:srcRect t="47218"/>
          <a:stretch>
            <a:fillRect/>
          </a:stretch>
        </p:blipFill>
        <p:spPr bwMode="auto">
          <a:xfrm>
            <a:off x="609600" y="990600"/>
            <a:ext cx="8162925" cy="45720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itle 1">
            <a:extLst>
              <a:ext uri="{FF2B5EF4-FFF2-40B4-BE49-F238E27FC236}">
                <a16:creationId xmlns:a16="http://schemas.microsoft.com/office/drawing/2014/main" id="{C12132F3-FB8B-B5D3-B3B5-EDBB041F9A53}"/>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 Function Usages (II)</a:t>
            </a:r>
          </a:p>
        </p:txBody>
      </p:sp>
      <p:sp>
        <p:nvSpPr>
          <p:cNvPr id="29700" name="Content Placeholder 2">
            <a:extLst>
              <a:ext uri="{FF2B5EF4-FFF2-40B4-BE49-F238E27FC236}">
                <a16:creationId xmlns:a16="http://schemas.microsoft.com/office/drawing/2014/main" id="{7BD466CD-60C6-D5F7-1A76-86D9B2BB2A73}"/>
              </a:ext>
            </a:extLst>
          </p:cNvPr>
          <p:cNvSpPr>
            <a:spLocks noGrp="1"/>
          </p:cNvSpPr>
          <p:nvPr>
            <p:ph sz="quarter" idx="1"/>
          </p:nvPr>
        </p:nvSpPr>
        <p:spPr>
          <a:xfrm>
            <a:off x="457200" y="5562600"/>
            <a:ext cx="8229600" cy="593725"/>
          </a:xfrm>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
        <p:nvSpPr>
          <p:cNvPr id="29701" name="Text Box 4">
            <a:extLst>
              <a:ext uri="{FF2B5EF4-FFF2-40B4-BE49-F238E27FC236}">
                <a16:creationId xmlns:a16="http://schemas.microsoft.com/office/drawing/2014/main" id="{B4CBED15-0701-8C6D-6D8D-8551781296C3}"/>
              </a:ext>
            </a:extLst>
          </p:cNvPr>
          <p:cNvSpPr txBox="1">
            <a:spLocks noChangeArrowheads="1"/>
          </p:cNvSpPr>
          <p:nvPr/>
        </p:nvSpPr>
        <p:spPr bwMode="auto">
          <a:xfrm>
            <a:off x="1447800" y="32766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marL="457200" indent="-457200">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t>Message encrypted : Authentication (no encryption needed!)</a:t>
            </a:r>
          </a:p>
        </p:txBody>
      </p:sp>
      <p:sp>
        <p:nvSpPr>
          <p:cNvPr id="29702" name="Text Box 5">
            <a:extLst>
              <a:ext uri="{FF2B5EF4-FFF2-40B4-BE49-F238E27FC236}">
                <a16:creationId xmlns:a16="http://schemas.microsoft.com/office/drawing/2014/main" id="{CE364770-65CC-C62F-2017-30B9E8D66E0B}"/>
              </a:ext>
            </a:extLst>
          </p:cNvPr>
          <p:cNvSpPr txBox="1">
            <a:spLocks noChangeArrowheads="1"/>
          </p:cNvSpPr>
          <p:nvPr/>
        </p:nvSpPr>
        <p:spPr bwMode="auto">
          <a:xfrm>
            <a:off x="1676400" y="5257800"/>
            <a:ext cx="6858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marL="457200" indent="-457200">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t>Message unencrypted:  Authentication, confidentiality</a:t>
            </a:r>
          </a:p>
          <a:p>
            <a:pPr eaLnBrk="1" hangingPunct="1">
              <a:spcBef>
                <a:spcPct val="0"/>
              </a:spcBef>
              <a:buClrTx/>
              <a:buSzTx/>
              <a:buFontTx/>
              <a:buNone/>
            </a:pPr>
            <a:endParaRPr lang="en-US" altLang="en-US" sz="180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811A728D-4647-B533-710E-58EFEB209380}"/>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 Function Usages (III)</a:t>
            </a:r>
          </a:p>
        </p:txBody>
      </p:sp>
      <p:sp>
        <p:nvSpPr>
          <p:cNvPr id="31747" name="Content Placeholder 2">
            <a:extLst>
              <a:ext uri="{FF2B5EF4-FFF2-40B4-BE49-F238E27FC236}">
                <a16:creationId xmlns:a16="http://schemas.microsoft.com/office/drawing/2014/main" id="{4A2192FC-D5C4-4933-7615-33DF9356CDBF}"/>
              </a:ext>
            </a:extLst>
          </p:cNvPr>
          <p:cNvSpPr>
            <a:spLocks noGrp="1"/>
          </p:cNvSpPr>
          <p:nvPr>
            <p:ph sz="quarter" idx="1"/>
          </p:nvPr>
        </p:nvSpPr>
        <p:spPr>
          <a:xfrm>
            <a:off x="457200" y="5334000"/>
            <a:ext cx="8229600" cy="822325"/>
          </a:xfrm>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pic>
        <p:nvPicPr>
          <p:cNvPr id="31748" name="Picture 3">
            <a:extLst>
              <a:ext uri="{FF2B5EF4-FFF2-40B4-BE49-F238E27FC236}">
                <a16:creationId xmlns:a16="http://schemas.microsoft.com/office/drawing/2014/main" id="{EE17438F-79AE-B961-5526-321EB44A53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371600"/>
            <a:ext cx="7315200" cy="41910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Text Box 6">
            <a:extLst>
              <a:ext uri="{FF2B5EF4-FFF2-40B4-BE49-F238E27FC236}">
                <a16:creationId xmlns:a16="http://schemas.microsoft.com/office/drawing/2014/main" id="{2C7BBA84-82CE-6C44-3C81-A1FBF7DE2117}"/>
              </a:ext>
            </a:extLst>
          </p:cNvPr>
          <p:cNvSpPr txBox="1">
            <a:spLocks noChangeArrowheads="1"/>
          </p:cNvSpPr>
          <p:nvPr/>
        </p:nvSpPr>
        <p:spPr bwMode="auto">
          <a:xfrm>
            <a:off x="2362200" y="3352800"/>
            <a:ext cx="533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t>Authentication,  digital signature</a:t>
            </a:r>
          </a:p>
        </p:txBody>
      </p:sp>
      <p:sp>
        <p:nvSpPr>
          <p:cNvPr id="31750" name="Text Box 4">
            <a:extLst>
              <a:ext uri="{FF2B5EF4-FFF2-40B4-BE49-F238E27FC236}">
                <a16:creationId xmlns:a16="http://schemas.microsoft.com/office/drawing/2014/main" id="{7D0C6A24-7D7F-F983-CCDB-00DE334F3EB0}"/>
              </a:ext>
            </a:extLst>
          </p:cNvPr>
          <p:cNvSpPr txBox="1">
            <a:spLocks noChangeArrowheads="1"/>
          </p:cNvSpPr>
          <p:nvPr/>
        </p:nvSpPr>
        <p:spPr bwMode="auto">
          <a:xfrm>
            <a:off x="2057400" y="5562600"/>
            <a:ext cx="4643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t>Authentication, digital signature, confidentiality</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3C6EF4E5-DCE9-ACCC-2BCD-495BAE0D68DA}"/>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Topics</a:t>
            </a:r>
          </a:p>
        </p:txBody>
      </p:sp>
      <p:sp>
        <p:nvSpPr>
          <p:cNvPr id="33795" name="Content Placeholder 2">
            <a:extLst>
              <a:ext uri="{FF2B5EF4-FFF2-40B4-BE49-F238E27FC236}">
                <a16:creationId xmlns:a16="http://schemas.microsoft.com/office/drawing/2014/main" id="{235D3BBE-0B80-3DCA-83CD-BEF4400FEAB8}"/>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ea typeface="ＭＳ Ｐゴシック" panose="020B0600070205080204" pitchFamily="34" charset="-128"/>
              </a:rPr>
              <a:t>Overview of Cryptography Hash Function</a:t>
            </a:r>
          </a:p>
          <a:p>
            <a:r>
              <a:rPr lang="en-US" altLang="en-US">
                <a:latin typeface="Calibri" panose="020F0502020204030204" pitchFamily="34" charset="0"/>
                <a:ea typeface="ＭＳ Ｐゴシック" panose="020B0600070205080204" pitchFamily="34" charset="-128"/>
              </a:rPr>
              <a:t>Usages</a:t>
            </a:r>
          </a:p>
          <a:p>
            <a:r>
              <a:rPr lang="en-US" altLang="en-US" b="1">
                <a:latin typeface="Calibri" panose="020F0502020204030204" pitchFamily="34" charset="0"/>
                <a:ea typeface="ＭＳ Ｐゴシック" panose="020B0600070205080204" pitchFamily="34" charset="-128"/>
              </a:rPr>
              <a:t>Properties</a:t>
            </a:r>
          </a:p>
          <a:p>
            <a:r>
              <a:rPr lang="en-US" altLang="en-US">
                <a:latin typeface="Calibri" panose="020F0502020204030204" pitchFamily="34" charset="0"/>
                <a:ea typeface="ＭＳ Ｐゴシック" panose="020B0600070205080204" pitchFamily="34" charset="-128"/>
              </a:rPr>
              <a:t>Hashing Function Structure</a:t>
            </a:r>
          </a:p>
          <a:p>
            <a:r>
              <a:rPr lang="en-US" altLang="en-US">
                <a:latin typeface="Calibri" panose="020F0502020204030204" pitchFamily="34" charset="0"/>
                <a:ea typeface="ＭＳ Ｐゴシック" panose="020B0600070205080204" pitchFamily="34" charset="-128"/>
              </a:rPr>
              <a:t>Attack on Hash Function </a:t>
            </a:r>
          </a:p>
          <a:p>
            <a:r>
              <a:rPr lang="en-US" altLang="en-US">
                <a:latin typeface="Calibri" panose="020F0502020204030204" pitchFamily="34" charset="0"/>
                <a:ea typeface="ＭＳ Ｐゴシック" panose="020B0600070205080204" pitchFamily="34" charset="-128"/>
              </a:rPr>
              <a:t>The Road to new Secure Hash Standard</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0C5B059-9CCB-6BB6-C9FC-EF866D06A442}"/>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 Function Properties</a:t>
            </a:r>
          </a:p>
        </p:txBody>
      </p:sp>
      <p:sp>
        <p:nvSpPr>
          <p:cNvPr id="34819" name="Rectangle 3">
            <a:extLst>
              <a:ext uri="{FF2B5EF4-FFF2-40B4-BE49-F238E27FC236}">
                <a16:creationId xmlns:a16="http://schemas.microsoft.com/office/drawing/2014/main" id="{EB57E78F-F406-EE38-FC45-1C070976EEE5}"/>
              </a:ext>
            </a:extLst>
          </p:cNvPr>
          <p:cNvSpPr>
            <a:spLocks noGrp="1"/>
          </p:cNvSpPr>
          <p:nvPr>
            <p:ph type="body" idx="1"/>
          </p:nvPr>
        </p:nvSpPr>
        <p:spPr>
          <a:xfrm>
            <a:off x="457200" y="1219200"/>
            <a:ext cx="8229600" cy="4937125"/>
          </a:xfrm>
        </p:spPr>
        <p:txBody>
          <a:bodyPr/>
          <a:lstStyle/>
          <a:p>
            <a:pPr eaLnBrk="1" hangingPunct="1">
              <a:lnSpc>
                <a:spcPct val="90000"/>
              </a:lnSpc>
            </a:pPr>
            <a:r>
              <a:rPr lang="en-US" altLang="en-US" sz="2400">
                <a:latin typeface="Calibri" panose="020F0502020204030204" pitchFamily="34" charset="0"/>
                <a:ea typeface="ＭＳ Ｐゴシック" panose="020B0600070205080204" pitchFamily="34" charset="-128"/>
              </a:rPr>
              <a:t>Arbitrary-length message to fixed-length digest</a:t>
            </a:r>
          </a:p>
          <a:p>
            <a:pPr eaLnBrk="1" hangingPunct="1">
              <a:lnSpc>
                <a:spcPct val="90000"/>
              </a:lnSpc>
            </a:pPr>
            <a:endParaRPr lang="en-US" altLang="en-US" sz="2400">
              <a:latin typeface="Calibri" panose="020F0502020204030204" pitchFamily="34" charset="0"/>
              <a:ea typeface="ＭＳ Ｐゴシック" panose="020B0600070205080204" pitchFamily="34" charset="-128"/>
            </a:endParaRPr>
          </a:p>
          <a:p>
            <a:pPr eaLnBrk="1" hangingPunct="1">
              <a:lnSpc>
                <a:spcPct val="90000"/>
              </a:lnSpc>
            </a:pPr>
            <a:r>
              <a:rPr lang="en-US" altLang="en-US" sz="2400">
                <a:latin typeface="Calibri" panose="020F0502020204030204" pitchFamily="34" charset="0"/>
                <a:ea typeface="ＭＳ Ｐゴシック" panose="020B0600070205080204" pitchFamily="34" charset="-128"/>
              </a:rPr>
              <a:t>Preimage resistant  (</a:t>
            </a:r>
            <a:r>
              <a:rPr lang="en-US" altLang="en-US" sz="2400" b="1">
                <a:latin typeface="Calibri" panose="020F0502020204030204" pitchFamily="34" charset="0"/>
                <a:ea typeface="ＭＳ Ｐゴシック" panose="020B0600070205080204" pitchFamily="34" charset="-128"/>
              </a:rPr>
              <a:t>One-way property</a:t>
            </a:r>
            <a:r>
              <a:rPr lang="en-US" altLang="en-US" sz="2400">
                <a:latin typeface="Calibri" panose="020F0502020204030204" pitchFamily="34" charset="0"/>
                <a:ea typeface="ＭＳ Ｐゴシック" panose="020B0600070205080204" pitchFamily="34" charset="-128"/>
              </a:rPr>
              <a:t>)</a:t>
            </a:r>
          </a:p>
          <a:p>
            <a:pPr eaLnBrk="1" hangingPunct="1">
              <a:lnSpc>
                <a:spcPct val="90000"/>
              </a:lnSpc>
            </a:pPr>
            <a:endParaRPr lang="en-US" altLang="en-US" sz="2400">
              <a:latin typeface="Calibri" panose="020F0502020204030204" pitchFamily="34" charset="0"/>
              <a:ea typeface="ＭＳ Ｐゴシック" panose="020B0600070205080204" pitchFamily="34" charset="-128"/>
            </a:endParaRPr>
          </a:p>
          <a:p>
            <a:pPr eaLnBrk="1" hangingPunct="1">
              <a:lnSpc>
                <a:spcPct val="90000"/>
              </a:lnSpc>
            </a:pPr>
            <a:r>
              <a:rPr lang="en-US" altLang="en-US" sz="2400">
                <a:latin typeface="Calibri" panose="020F0502020204030204" pitchFamily="34" charset="0"/>
                <a:ea typeface="ＭＳ Ｐゴシック" panose="020B0600070205080204" pitchFamily="34" charset="-128"/>
              </a:rPr>
              <a:t>Second preimage resistant (</a:t>
            </a:r>
            <a:r>
              <a:rPr lang="en-US" altLang="en-US" sz="2400" b="1">
                <a:latin typeface="Calibri" panose="020F0502020204030204" pitchFamily="34" charset="0"/>
                <a:ea typeface="ＭＳ Ｐゴシック" panose="020B0600070205080204" pitchFamily="34" charset="-128"/>
              </a:rPr>
              <a:t>Weak collision resistant</a:t>
            </a:r>
            <a:r>
              <a:rPr lang="en-US" altLang="en-US" sz="2400">
                <a:latin typeface="Calibri" panose="020F0502020204030204" pitchFamily="34" charset="0"/>
                <a:ea typeface="ＭＳ Ｐゴシック" panose="020B0600070205080204" pitchFamily="34" charset="-128"/>
              </a:rPr>
              <a:t>) </a:t>
            </a:r>
          </a:p>
          <a:p>
            <a:pPr eaLnBrk="1" hangingPunct="1">
              <a:lnSpc>
                <a:spcPct val="90000"/>
              </a:lnSpc>
            </a:pPr>
            <a:endParaRPr lang="en-US" altLang="en-US" sz="2400">
              <a:latin typeface="Calibri" panose="020F0502020204030204" pitchFamily="34" charset="0"/>
              <a:ea typeface="ＭＳ Ｐゴシック" panose="020B0600070205080204" pitchFamily="34" charset="-128"/>
            </a:endParaRPr>
          </a:p>
          <a:p>
            <a:pPr eaLnBrk="1" hangingPunct="1">
              <a:lnSpc>
                <a:spcPct val="90000"/>
              </a:lnSpc>
            </a:pPr>
            <a:r>
              <a:rPr lang="en-US" altLang="en-US" sz="2400">
                <a:latin typeface="Calibri" panose="020F0502020204030204" pitchFamily="34" charset="0"/>
                <a:ea typeface="ＭＳ Ｐゴシック" panose="020B0600070205080204" pitchFamily="34" charset="-128"/>
              </a:rPr>
              <a:t>Collision resistant (</a:t>
            </a:r>
            <a:r>
              <a:rPr lang="en-US" altLang="en-US" sz="2400" b="1">
                <a:latin typeface="Calibri" panose="020F0502020204030204" pitchFamily="34" charset="0"/>
                <a:ea typeface="ＭＳ Ｐゴシック" panose="020B0600070205080204" pitchFamily="34" charset="-128"/>
              </a:rPr>
              <a:t>Strong collision resistance</a:t>
            </a:r>
            <a:r>
              <a:rPr lang="en-US" altLang="en-US" sz="2400">
                <a:latin typeface="Calibri" panose="020F0502020204030204" pitchFamily="34" charset="0"/>
                <a:ea typeface="ＭＳ Ｐゴシック" panose="020B0600070205080204" pitchFamily="34" charset="-128"/>
              </a:rPr>
              <a:t>)</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ECEDEF2A-5CB9-F50E-FFEA-73165E5709C5}"/>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Properties : Fixed length</a:t>
            </a:r>
          </a:p>
        </p:txBody>
      </p:sp>
      <p:sp>
        <p:nvSpPr>
          <p:cNvPr id="41987" name="Content Placeholder 2">
            <a:extLst>
              <a:ext uri="{FF2B5EF4-FFF2-40B4-BE49-F238E27FC236}">
                <a16:creationId xmlns:a16="http://schemas.microsoft.com/office/drawing/2014/main" id="{2C654DDC-D947-F199-3D8F-4A6D46B5F6C5}"/>
              </a:ext>
            </a:extLst>
          </p:cNvPr>
          <p:cNvSpPr>
            <a:spLocks noGrp="1"/>
          </p:cNvSpPr>
          <p:nvPr>
            <p:ph sz="quarter" idx="1"/>
          </p:nvPr>
        </p:nvSpPr>
        <p:spPr>
          <a:xfrm>
            <a:off x="457200" y="5257800"/>
            <a:ext cx="8229600" cy="898525"/>
          </a:xfrm>
        </p:spPr>
        <p:txBody>
          <a:bodyPr/>
          <a:lstStyle/>
          <a:p>
            <a:pPr eaLnBrk="1" hangingPunct="1"/>
            <a:r>
              <a:rPr lang="en-US" altLang="en-US" sz="2800">
                <a:latin typeface="Calibri" panose="020F0502020204030204" pitchFamily="34" charset="0"/>
                <a:ea typeface="ＭＳ Ｐゴシック" panose="020B0600070205080204" pitchFamily="34" charset="-128"/>
              </a:rPr>
              <a:t>Arbitrary-length message to fixed-length digest</a:t>
            </a:r>
          </a:p>
        </p:txBody>
      </p:sp>
      <p:grpSp>
        <p:nvGrpSpPr>
          <p:cNvPr id="2" name="Group 16">
            <a:extLst>
              <a:ext uri="{FF2B5EF4-FFF2-40B4-BE49-F238E27FC236}">
                <a16:creationId xmlns:a16="http://schemas.microsoft.com/office/drawing/2014/main" id="{3CC33841-9A17-5AF5-B67D-68DFE0058821}"/>
              </a:ext>
            </a:extLst>
          </p:cNvPr>
          <p:cNvGrpSpPr>
            <a:grpSpLocks/>
          </p:cNvGrpSpPr>
          <p:nvPr/>
        </p:nvGrpSpPr>
        <p:grpSpPr bwMode="auto">
          <a:xfrm>
            <a:off x="2819400" y="1600200"/>
            <a:ext cx="3505200" cy="1371600"/>
            <a:chOff x="2819400" y="1600200"/>
            <a:chExt cx="3505200" cy="1371600"/>
          </a:xfrm>
        </p:grpSpPr>
        <p:sp>
          <p:nvSpPr>
            <p:cNvPr id="4" name="Trapezoid 3">
              <a:extLst>
                <a:ext uri="{FF2B5EF4-FFF2-40B4-BE49-F238E27FC236}">
                  <a16:creationId xmlns:a16="http://schemas.microsoft.com/office/drawing/2014/main" id="{FBB19C14-2684-6F52-469F-C9B7F6A7604B}"/>
                </a:ext>
              </a:extLst>
            </p:cNvPr>
            <p:cNvSpPr/>
            <p:nvPr/>
          </p:nvSpPr>
          <p:spPr>
            <a:xfrm rot="5400000">
              <a:off x="3924300" y="1790700"/>
              <a:ext cx="1371600" cy="990600"/>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vert="vert270" anchor="ctr"/>
            <a:lstStyle/>
            <a:p>
              <a:pPr algn="ctr" eaLnBrk="1" hangingPunct="1">
                <a:defRPr/>
              </a:pPr>
              <a:r>
                <a:rPr lang="en-US" dirty="0" err="1">
                  <a:latin typeface="Calibri"/>
                </a:rPr>
                <a:t>h</a:t>
              </a:r>
              <a:endParaRPr lang="en-US" dirty="0">
                <a:latin typeface="Calibri"/>
              </a:endParaRPr>
            </a:p>
          </p:txBody>
        </p:sp>
        <p:cxnSp>
          <p:nvCxnSpPr>
            <p:cNvPr id="6" name="Straight Arrow Connector 5">
              <a:extLst>
                <a:ext uri="{FF2B5EF4-FFF2-40B4-BE49-F238E27FC236}">
                  <a16:creationId xmlns:a16="http://schemas.microsoft.com/office/drawing/2014/main" id="{C80EADF2-8B19-08CA-68C4-C2197BB293C9}"/>
                </a:ext>
              </a:extLst>
            </p:cNvPr>
            <p:cNvCxnSpPr>
              <a:cxnSpLocks noChangeShapeType="1"/>
            </p:cNvCxnSpPr>
            <p:nvPr/>
          </p:nvCxnSpPr>
          <p:spPr bwMode="auto">
            <a:xfrm>
              <a:off x="2819400" y="2209800"/>
              <a:ext cx="12954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cxnSp>
          <p:nvCxnSpPr>
            <p:cNvPr id="7" name="Straight Arrow Connector 6">
              <a:extLst>
                <a:ext uri="{FF2B5EF4-FFF2-40B4-BE49-F238E27FC236}">
                  <a16:creationId xmlns:a16="http://schemas.microsoft.com/office/drawing/2014/main" id="{0684E333-90FB-9253-14AA-A6C6CED83758}"/>
                </a:ext>
              </a:extLst>
            </p:cNvPr>
            <p:cNvCxnSpPr>
              <a:cxnSpLocks noChangeShapeType="1"/>
            </p:cNvCxnSpPr>
            <p:nvPr/>
          </p:nvCxnSpPr>
          <p:spPr bwMode="auto">
            <a:xfrm>
              <a:off x="5105400" y="2209800"/>
              <a:ext cx="1219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grpSp>
      <p:grpSp>
        <p:nvGrpSpPr>
          <p:cNvPr id="3" name="Group 17">
            <a:extLst>
              <a:ext uri="{FF2B5EF4-FFF2-40B4-BE49-F238E27FC236}">
                <a16:creationId xmlns:a16="http://schemas.microsoft.com/office/drawing/2014/main" id="{37BAEEE9-9F73-4E81-6F42-C77FC58DAE08}"/>
              </a:ext>
            </a:extLst>
          </p:cNvPr>
          <p:cNvGrpSpPr>
            <a:grpSpLocks/>
          </p:cNvGrpSpPr>
          <p:nvPr/>
        </p:nvGrpSpPr>
        <p:grpSpPr bwMode="auto">
          <a:xfrm>
            <a:off x="2819400" y="3200400"/>
            <a:ext cx="3429000" cy="1371600"/>
            <a:chOff x="2819400" y="3200400"/>
            <a:chExt cx="3429000" cy="1371600"/>
          </a:xfrm>
        </p:grpSpPr>
        <p:sp>
          <p:nvSpPr>
            <p:cNvPr id="10" name="Trapezoid 9">
              <a:extLst>
                <a:ext uri="{FF2B5EF4-FFF2-40B4-BE49-F238E27FC236}">
                  <a16:creationId xmlns:a16="http://schemas.microsoft.com/office/drawing/2014/main" id="{359CD81C-9844-8D12-162F-687C743D3395}"/>
                </a:ext>
              </a:extLst>
            </p:cNvPr>
            <p:cNvSpPr/>
            <p:nvPr/>
          </p:nvSpPr>
          <p:spPr>
            <a:xfrm rot="5400000">
              <a:off x="3924300" y="3390900"/>
              <a:ext cx="1371600" cy="990600"/>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vert="vert270" anchor="ctr"/>
            <a:lstStyle/>
            <a:p>
              <a:pPr algn="ctr" eaLnBrk="1" hangingPunct="1">
                <a:defRPr/>
              </a:pPr>
              <a:r>
                <a:rPr lang="en-US" dirty="0" err="1">
                  <a:latin typeface="Calibri"/>
                </a:rPr>
                <a:t>h</a:t>
              </a:r>
              <a:endParaRPr lang="en-US" dirty="0">
                <a:latin typeface="Calibri"/>
              </a:endParaRPr>
            </a:p>
          </p:txBody>
        </p:sp>
        <p:cxnSp>
          <p:nvCxnSpPr>
            <p:cNvPr id="11" name="Straight Arrow Connector 10">
              <a:extLst>
                <a:ext uri="{FF2B5EF4-FFF2-40B4-BE49-F238E27FC236}">
                  <a16:creationId xmlns:a16="http://schemas.microsoft.com/office/drawing/2014/main" id="{93DE0F92-B1FF-06FE-AB88-8BF0C7757DD7}"/>
                </a:ext>
              </a:extLst>
            </p:cNvPr>
            <p:cNvCxnSpPr>
              <a:cxnSpLocks noChangeShapeType="1"/>
            </p:cNvCxnSpPr>
            <p:nvPr/>
          </p:nvCxnSpPr>
          <p:spPr bwMode="auto">
            <a:xfrm>
              <a:off x="2819400" y="3810000"/>
              <a:ext cx="12954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cxnSp>
          <p:nvCxnSpPr>
            <p:cNvPr id="12" name="Straight Arrow Connector 11">
              <a:extLst>
                <a:ext uri="{FF2B5EF4-FFF2-40B4-BE49-F238E27FC236}">
                  <a16:creationId xmlns:a16="http://schemas.microsoft.com/office/drawing/2014/main" id="{80019F0D-4919-6B23-35ED-D2B59394B9DF}"/>
                </a:ext>
              </a:extLst>
            </p:cNvPr>
            <p:cNvCxnSpPr>
              <a:cxnSpLocks noChangeShapeType="1"/>
            </p:cNvCxnSpPr>
            <p:nvPr/>
          </p:nvCxnSpPr>
          <p:spPr bwMode="auto">
            <a:xfrm>
              <a:off x="5105400" y="3810000"/>
              <a:ext cx="11430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p:spPr>
        </p:cxnSp>
      </p:grpSp>
      <p:sp>
        <p:nvSpPr>
          <p:cNvPr id="15" name="Rectangle 14">
            <a:extLst>
              <a:ext uri="{FF2B5EF4-FFF2-40B4-BE49-F238E27FC236}">
                <a16:creationId xmlns:a16="http://schemas.microsoft.com/office/drawing/2014/main" id="{7DFAA915-2699-EBF4-BE1B-D34D7AC3F11E}"/>
              </a:ext>
            </a:extLst>
          </p:cNvPr>
          <p:cNvSpPr/>
          <p:nvPr/>
        </p:nvSpPr>
        <p:spPr>
          <a:xfrm>
            <a:off x="609600" y="1905000"/>
            <a:ext cx="2362200" cy="5334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Hello, world</a:t>
            </a:r>
          </a:p>
        </p:txBody>
      </p:sp>
      <p:sp>
        <p:nvSpPr>
          <p:cNvPr id="16" name="Rectangle 15">
            <a:extLst>
              <a:ext uri="{FF2B5EF4-FFF2-40B4-BE49-F238E27FC236}">
                <a16:creationId xmlns:a16="http://schemas.microsoft.com/office/drawing/2014/main" id="{E9AD3928-C35B-4F52-CEE5-D12D3C729E9F}"/>
              </a:ext>
            </a:extLst>
          </p:cNvPr>
          <p:cNvSpPr/>
          <p:nvPr/>
        </p:nvSpPr>
        <p:spPr>
          <a:xfrm>
            <a:off x="609600" y="2971800"/>
            <a:ext cx="2362200" cy="18288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This is a clear text that can easily read without using the key.  The sentence is longer than the text above.</a:t>
            </a:r>
          </a:p>
        </p:txBody>
      </p:sp>
      <p:grpSp>
        <p:nvGrpSpPr>
          <p:cNvPr id="5" name="Group 19">
            <a:extLst>
              <a:ext uri="{FF2B5EF4-FFF2-40B4-BE49-F238E27FC236}">
                <a16:creationId xmlns:a16="http://schemas.microsoft.com/office/drawing/2014/main" id="{3C9B97E2-74AA-326B-CC12-BB2721CABB2F}"/>
              </a:ext>
            </a:extLst>
          </p:cNvPr>
          <p:cNvGrpSpPr>
            <a:grpSpLocks/>
          </p:cNvGrpSpPr>
          <p:nvPr/>
        </p:nvGrpSpPr>
        <p:grpSpPr bwMode="auto">
          <a:xfrm>
            <a:off x="6248400" y="1905000"/>
            <a:ext cx="2286000" cy="2286000"/>
            <a:chOff x="6248400" y="1905000"/>
            <a:chExt cx="2286000" cy="2286000"/>
          </a:xfrm>
        </p:grpSpPr>
        <p:sp>
          <p:nvSpPr>
            <p:cNvPr id="14" name="Rectangle 13">
              <a:extLst>
                <a:ext uri="{FF2B5EF4-FFF2-40B4-BE49-F238E27FC236}">
                  <a16:creationId xmlns:a16="http://schemas.microsoft.com/office/drawing/2014/main" id="{488CEDAE-B03E-9AA4-B6A9-BA337072C51A}"/>
                </a:ext>
              </a:extLst>
            </p:cNvPr>
            <p:cNvSpPr/>
            <p:nvPr/>
          </p:nvSpPr>
          <p:spPr>
            <a:xfrm>
              <a:off x="6248400" y="3581400"/>
              <a:ext cx="2284040" cy="6096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52f21cf7c7034a20</a:t>
              </a:r>
              <a:br>
                <a:rPr lang="en-US" dirty="0">
                  <a:latin typeface="Calibri"/>
                </a:rPr>
              </a:br>
              <a:r>
                <a:rPr lang="en-US" dirty="0">
                  <a:latin typeface="Calibri"/>
                </a:rPr>
                <a:t>17a21e17e061a863</a:t>
              </a:r>
            </a:p>
          </p:txBody>
        </p:sp>
        <p:sp>
          <p:nvSpPr>
            <p:cNvPr id="36883" name="TextBox 14">
              <a:extLst>
                <a:ext uri="{FF2B5EF4-FFF2-40B4-BE49-F238E27FC236}">
                  <a16:creationId xmlns:a16="http://schemas.microsoft.com/office/drawing/2014/main" id="{7755F35A-D042-8FD1-795B-67AF86B169E9}"/>
                </a:ext>
              </a:extLst>
            </p:cNvPr>
            <p:cNvSpPr txBox="1">
              <a:spLocks noChangeArrowheads="1"/>
            </p:cNvSpPr>
            <p:nvPr/>
          </p:nvSpPr>
          <p:spPr bwMode="auto">
            <a:xfrm>
              <a:off x="6660232" y="2708920"/>
              <a:ext cx="152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i="1"/>
                <a:t>Fixed length L</a:t>
              </a:r>
            </a:p>
          </p:txBody>
        </p:sp>
        <p:sp>
          <p:nvSpPr>
            <p:cNvPr id="19" name="Rectangle 18">
              <a:extLst>
                <a:ext uri="{FF2B5EF4-FFF2-40B4-BE49-F238E27FC236}">
                  <a16:creationId xmlns:a16="http://schemas.microsoft.com/office/drawing/2014/main" id="{0308CC78-D337-7380-48C8-3BFDC4D3EC10}"/>
                </a:ext>
              </a:extLst>
            </p:cNvPr>
            <p:cNvSpPr/>
            <p:nvPr/>
          </p:nvSpPr>
          <p:spPr>
            <a:xfrm>
              <a:off x="6324600" y="1905000"/>
              <a:ext cx="2209800" cy="6096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dirty="0">
                  <a:latin typeface="Calibri"/>
                </a:rPr>
                <a:t>661dce0da2bcb2d8</a:t>
              </a:r>
              <a:br>
                <a:rPr lang="en-US" dirty="0">
                  <a:latin typeface="Calibri"/>
                </a:rPr>
              </a:br>
              <a:r>
                <a:rPr lang="en-US" dirty="0">
                  <a:latin typeface="Calibri"/>
                </a:rPr>
                <a:t>2884e0162acf8194</a:t>
              </a:r>
            </a:p>
          </p:txBody>
        </p:sp>
      </p:grpSp>
      <p:cxnSp>
        <p:nvCxnSpPr>
          <p:cNvPr id="18" name="Straight Arrow Connector 17">
            <a:extLst>
              <a:ext uri="{FF2B5EF4-FFF2-40B4-BE49-F238E27FC236}">
                <a16:creationId xmlns:a16="http://schemas.microsoft.com/office/drawing/2014/main" id="{F8117FC7-E06D-D4C2-142C-A6FC60A02081}"/>
              </a:ext>
            </a:extLst>
          </p:cNvPr>
          <p:cNvCxnSpPr/>
          <p:nvPr/>
        </p:nvCxnSpPr>
        <p:spPr bwMode="auto">
          <a:xfrm rot="5400000">
            <a:off x="6035676" y="3117850"/>
            <a:ext cx="533400" cy="3175"/>
          </a:xfrm>
          <a:prstGeom prst="straightConnector1">
            <a:avLst/>
          </a:prstGeom>
          <a:ln>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F94C2D4-2113-53FF-2D30-EE97BBD4B814}"/>
              </a:ext>
            </a:extLst>
          </p:cNvPr>
          <p:cNvCxnSpPr/>
          <p:nvPr/>
        </p:nvCxnSpPr>
        <p:spPr bwMode="auto">
          <a:xfrm rot="5400000">
            <a:off x="8267701" y="3117850"/>
            <a:ext cx="533400" cy="3175"/>
          </a:xfrm>
          <a:prstGeom prst="straightConnector1">
            <a:avLst/>
          </a:prstGeom>
          <a:ln>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C348C4B-7BEC-B00D-84FD-FB4089854B12}"/>
              </a:ext>
            </a:extLst>
          </p:cNvPr>
          <p:cNvCxnSpPr/>
          <p:nvPr/>
        </p:nvCxnSpPr>
        <p:spPr bwMode="auto">
          <a:xfrm flipV="1">
            <a:off x="6300788" y="3141663"/>
            <a:ext cx="2232025" cy="0"/>
          </a:xfrm>
          <a:prstGeom prst="straightConnector1">
            <a:avLst/>
          </a:prstGeom>
          <a:ln w="28575" cmpd="sng">
            <a:prstDash val="sysDash"/>
            <a:headEnd type="triangle"/>
            <a:tailEnd type="triangl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41987">
                                            <p:txEl>
                                              <p:pRg st="0" end="0"/>
                                            </p:txEl>
                                          </p:spTgt>
                                        </p:tgtEl>
                                        <p:attrNameLst>
                                          <p:attrName>style.visibility</p:attrName>
                                        </p:attrNameLst>
                                      </p:cBhvr>
                                      <p:to>
                                        <p:strVal val="visible"/>
                                      </p:to>
                                    </p:set>
                                    <p:animEffect transition="in" filter="fade">
                                      <p:cBhvr>
                                        <p:cTn id="18" dur="2000"/>
                                        <p:tgtEl>
                                          <p:spTgt spid="419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8BF9EB9C-3A49-03EB-7568-4BD8DA27DBC6}"/>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Preimage resistant</a:t>
            </a:r>
          </a:p>
        </p:txBody>
      </p:sp>
      <p:sp>
        <p:nvSpPr>
          <p:cNvPr id="37891" name="Content Placeholder 2">
            <a:extLst>
              <a:ext uri="{FF2B5EF4-FFF2-40B4-BE49-F238E27FC236}">
                <a16:creationId xmlns:a16="http://schemas.microsoft.com/office/drawing/2014/main" id="{26ED793D-DDA3-8292-F4E6-BB22508026B5}"/>
              </a:ext>
            </a:extLst>
          </p:cNvPr>
          <p:cNvSpPr>
            <a:spLocks noGrp="1"/>
          </p:cNvSpPr>
          <p:nvPr>
            <p:ph sz="quarter" idx="1"/>
          </p:nvPr>
        </p:nvSpPr>
        <p:spPr>
          <a:xfrm>
            <a:off x="457200" y="1219200"/>
            <a:ext cx="8229600" cy="914400"/>
          </a:xfrm>
        </p:spPr>
        <p:txBody>
          <a:bodyPr/>
          <a:lstStyle/>
          <a:p>
            <a:pPr eaLnBrk="1" hangingPunct="1">
              <a:lnSpc>
                <a:spcPct val="90000"/>
              </a:lnSpc>
            </a:pPr>
            <a:r>
              <a:rPr lang="en-US" altLang="en-US" sz="2000">
                <a:latin typeface="Calibri" panose="020F0502020204030204" pitchFamily="34" charset="0"/>
                <a:ea typeface="ＭＳ Ｐゴシック" panose="020B0600070205080204" pitchFamily="34" charset="-128"/>
              </a:rPr>
              <a:t>This measures how difficult to devise a message which hashes to the known digest </a:t>
            </a:r>
          </a:p>
          <a:p>
            <a:pPr eaLnBrk="1" hangingPunct="1">
              <a:lnSpc>
                <a:spcPct val="90000"/>
              </a:lnSpc>
            </a:pPr>
            <a:r>
              <a:rPr lang="en-US" altLang="en-US" sz="2000">
                <a:latin typeface="Calibri" panose="020F0502020204030204" pitchFamily="34" charset="0"/>
                <a:ea typeface="ＭＳ Ｐゴシック" panose="020B0600070205080204" pitchFamily="34" charset="-128"/>
              </a:rPr>
              <a:t>Roughly speaking, the hash function must be one-way.   </a:t>
            </a:r>
          </a:p>
          <a:p>
            <a:pPr eaLnBrk="1" hangingPunct="1"/>
            <a:endParaRPr lang="en-US" altLang="en-US">
              <a:latin typeface="Calibri" panose="020F0502020204030204" pitchFamily="34" charset="0"/>
              <a:ea typeface="ＭＳ Ｐゴシック" panose="020B0600070205080204" pitchFamily="34" charset="-128"/>
            </a:endParaRPr>
          </a:p>
        </p:txBody>
      </p:sp>
      <p:pic>
        <p:nvPicPr>
          <p:cNvPr id="37892" name="Picture 14">
            <a:extLst>
              <a:ext uri="{FF2B5EF4-FFF2-40B4-BE49-F238E27FC236}">
                <a16:creationId xmlns:a16="http://schemas.microsoft.com/office/drawing/2014/main" id="{8149B75B-9C85-FBAA-28E5-D0391899F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09800"/>
            <a:ext cx="8235950" cy="642938"/>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37893" name="Picture 16">
            <a:extLst>
              <a:ext uri="{FF2B5EF4-FFF2-40B4-BE49-F238E27FC236}">
                <a16:creationId xmlns:a16="http://schemas.microsoft.com/office/drawing/2014/main" id="{B7163A25-CA87-8BDC-1192-AFEFE3A4EC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971800"/>
            <a:ext cx="6821488" cy="354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Rectangle 5">
            <a:extLst>
              <a:ext uri="{FF2B5EF4-FFF2-40B4-BE49-F238E27FC236}">
                <a16:creationId xmlns:a16="http://schemas.microsoft.com/office/drawing/2014/main" id="{0A7BA904-0E8E-8FEE-7333-8FDBA8AEC963}"/>
              </a:ext>
            </a:extLst>
          </p:cNvPr>
          <p:cNvSpPr>
            <a:spLocks noChangeArrowheads="1"/>
          </p:cNvSpPr>
          <p:nvPr/>
        </p:nvSpPr>
        <p:spPr bwMode="auto">
          <a:xfrm>
            <a:off x="3124200" y="5791200"/>
            <a:ext cx="52578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lnSpc>
                <a:spcPct val="90000"/>
              </a:lnSpc>
              <a:spcBef>
                <a:spcPct val="0"/>
              </a:spcBef>
              <a:buClrTx/>
              <a:buSzTx/>
              <a:buFontTx/>
              <a:buNone/>
            </a:pPr>
            <a:r>
              <a:rPr lang="en-US" altLang="en-US" sz="1800"/>
              <a:t>Given only a message digest, can’t find any message (or </a:t>
            </a:r>
            <a:r>
              <a:rPr lang="en-US" altLang="en-US" sz="1800" i="1"/>
              <a:t>preimage</a:t>
            </a:r>
            <a:r>
              <a:rPr lang="en-US" altLang="en-US" sz="1800"/>
              <a:t>) that generates that digest. </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A99F47D0-CDF9-79A7-768D-F709B52CB952}"/>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Second preimage resistant </a:t>
            </a:r>
          </a:p>
        </p:txBody>
      </p:sp>
      <p:sp>
        <p:nvSpPr>
          <p:cNvPr id="39939" name="Content Placeholder 2">
            <a:extLst>
              <a:ext uri="{FF2B5EF4-FFF2-40B4-BE49-F238E27FC236}">
                <a16:creationId xmlns:a16="http://schemas.microsoft.com/office/drawing/2014/main" id="{10ED0F3F-2B29-9AD3-36F0-9D2CF6CD95C9}"/>
              </a:ext>
            </a:extLst>
          </p:cNvPr>
          <p:cNvSpPr>
            <a:spLocks noGrp="1"/>
          </p:cNvSpPr>
          <p:nvPr>
            <p:ph sz="quarter" idx="1"/>
          </p:nvPr>
        </p:nvSpPr>
        <p:spPr>
          <a:xfrm>
            <a:off x="457200" y="5181600"/>
            <a:ext cx="8229600" cy="1143000"/>
          </a:xfrm>
        </p:spPr>
        <p:txBody>
          <a:bodyPr/>
          <a:lstStyle/>
          <a:p>
            <a:pPr eaLnBrk="1" hangingPunct="1">
              <a:lnSpc>
                <a:spcPct val="90000"/>
              </a:lnSpc>
            </a:pPr>
            <a:r>
              <a:rPr lang="en-US" altLang="en-US" sz="1500">
                <a:latin typeface="Calibri" panose="020F0502020204030204" pitchFamily="34" charset="0"/>
                <a:ea typeface="ＭＳ Ｐゴシック" panose="020B0600070205080204" pitchFamily="34" charset="-128"/>
              </a:rPr>
              <a:t>Given one message, can’t find another message that has the same message digest.  An attack that finds a second message with the same message digest is a </a:t>
            </a:r>
            <a:r>
              <a:rPr lang="en-US" altLang="en-US" sz="1500" i="1">
                <a:latin typeface="Calibri" panose="020F0502020204030204" pitchFamily="34" charset="0"/>
                <a:ea typeface="ＭＳ Ｐゴシック" panose="020B0600070205080204" pitchFamily="34" charset="-128"/>
              </a:rPr>
              <a:t>second pre-image</a:t>
            </a:r>
            <a:r>
              <a:rPr lang="en-US" altLang="en-US" sz="1500">
                <a:latin typeface="Calibri" panose="020F0502020204030204" pitchFamily="34" charset="0"/>
                <a:ea typeface="ＭＳ Ｐゴシック" panose="020B0600070205080204" pitchFamily="34" charset="-128"/>
              </a:rPr>
              <a:t> attack.</a:t>
            </a:r>
          </a:p>
          <a:p>
            <a:pPr lvl="2" eaLnBrk="1" hangingPunct="1">
              <a:lnSpc>
                <a:spcPct val="90000"/>
              </a:lnSpc>
            </a:pPr>
            <a:r>
              <a:rPr lang="en-US" altLang="en-US" sz="1500">
                <a:latin typeface="Calibri" panose="020F0502020204030204" pitchFamily="34" charset="0"/>
                <a:ea typeface="ＭＳ Ｐゴシック" panose="020B0600070205080204" pitchFamily="34" charset="-128"/>
              </a:rPr>
              <a:t>It would be easy to forge new digital signatures from old signatures if the hash function used weren’t second preimage resistant</a:t>
            </a:r>
          </a:p>
          <a:p>
            <a:pPr eaLnBrk="1" hangingPunct="1"/>
            <a:endParaRPr lang="en-US" altLang="en-US">
              <a:latin typeface="Calibri" panose="020F0502020204030204" pitchFamily="34" charset="0"/>
              <a:ea typeface="ＭＳ Ｐゴシック" panose="020B0600070205080204" pitchFamily="34" charset="-128"/>
            </a:endParaRPr>
          </a:p>
        </p:txBody>
      </p:sp>
      <p:pic>
        <p:nvPicPr>
          <p:cNvPr id="39940" name="Picture 12">
            <a:extLst>
              <a:ext uri="{FF2B5EF4-FFF2-40B4-BE49-F238E27FC236}">
                <a16:creationId xmlns:a16="http://schemas.microsoft.com/office/drawing/2014/main" id="{6504C344-E9AF-39B8-0416-98210E192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05000"/>
            <a:ext cx="8583613" cy="635000"/>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39941" name="Picture 14">
            <a:extLst>
              <a:ext uri="{FF2B5EF4-FFF2-40B4-BE49-F238E27FC236}">
                <a16:creationId xmlns:a16="http://schemas.microsoft.com/office/drawing/2014/main" id="{7059C062-F425-35BC-1053-0F89118586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590800"/>
            <a:ext cx="6019800"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Content Placeholder 2">
            <a:extLst>
              <a:ext uri="{FF2B5EF4-FFF2-40B4-BE49-F238E27FC236}">
                <a16:creationId xmlns:a16="http://schemas.microsoft.com/office/drawing/2014/main" id="{2E4208A2-961E-6537-C23D-6EEF6430A80F}"/>
              </a:ext>
            </a:extLst>
          </p:cNvPr>
          <p:cNvSpPr txBox="1">
            <a:spLocks/>
          </p:cNvSpPr>
          <p:nvPr/>
        </p:nvSpPr>
        <p:spPr bwMode="auto">
          <a:xfrm>
            <a:off x="457200" y="12192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lnSpc>
                <a:spcPct val="90000"/>
              </a:lnSpc>
            </a:pPr>
            <a:r>
              <a:rPr lang="en-US" altLang="en-US" sz="2000"/>
              <a:t>This measures how difficult to devise a message which hashes to the known digest and its message</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6684561E-46E4-BB63-923B-A87D5C30A3A5}"/>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Collision Resistant</a:t>
            </a:r>
          </a:p>
        </p:txBody>
      </p:sp>
      <p:sp>
        <p:nvSpPr>
          <p:cNvPr id="41987" name="Content Placeholder 2">
            <a:extLst>
              <a:ext uri="{FF2B5EF4-FFF2-40B4-BE49-F238E27FC236}">
                <a16:creationId xmlns:a16="http://schemas.microsoft.com/office/drawing/2014/main" id="{D5858E4F-C3C5-9DB5-1E64-2AB3FDACB1BF}"/>
              </a:ext>
            </a:extLst>
          </p:cNvPr>
          <p:cNvSpPr>
            <a:spLocks noGrp="1"/>
          </p:cNvSpPr>
          <p:nvPr>
            <p:ph sz="quarter" idx="1"/>
          </p:nvPr>
        </p:nvSpPr>
        <p:spPr>
          <a:xfrm>
            <a:off x="457200" y="5181600"/>
            <a:ext cx="8229600" cy="974725"/>
          </a:xfrm>
        </p:spPr>
        <p:txBody>
          <a:bodyPr/>
          <a:lstStyle/>
          <a:p>
            <a:pPr lvl="1" eaLnBrk="1" hangingPunct="1">
              <a:lnSpc>
                <a:spcPct val="90000"/>
              </a:lnSpc>
            </a:pPr>
            <a:r>
              <a:rPr lang="en-US" altLang="en-US" sz="1500">
                <a:latin typeface="Calibri" panose="020F0502020204030204" pitchFamily="34" charset="0"/>
                <a:ea typeface="ＭＳ Ｐゴシック" panose="020B0600070205080204" pitchFamily="34" charset="-128"/>
              </a:rPr>
              <a:t>Can’t find any two different messages with the same message digest</a:t>
            </a:r>
          </a:p>
          <a:p>
            <a:pPr lvl="2" eaLnBrk="1" hangingPunct="1">
              <a:lnSpc>
                <a:spcPct val="90000"/>
              </a:lnSpc>
            </a:pPr>
            <a:r>
              <a:rPr lang="en-US" altLang="en-US" sz="1500">
                <a:latin typeface="Calibri" panose="020F0502020204030204" pitchFamily="34" charset="0"/>
                <a:ea typeface="ＭＳ Ｐゴシック" panose="020B0600070205080204" pitchFamily="34" charset="-128"/>
              </a:rPr>
              <a:t>Collision resistance implies second preimage resistance</a:t>
            </a:r>
          </a:p>
          <a:p>
            <a:pPr lvl="2" eaLnBrk="1" hangingPunct="1">
              <a:lnSpc>
                <a:spcPct val="90000"/>
              </a:lnSpc>
            </a:pPr>
            <a:r>
              <a:rPr lang="en-US" altLang="en-US" sz="1500">
                <a:latin typeface="Calibri" panose="020F0502020204030204" pitchFamily="34" charset="0"/>
                <a:ea typeface="ＭＳ Ｐゴシック" panose="020B0600070205080204" pitchFamily="34" charset="-128"/>
              </a:rPr>
              <a:t>Collisions, if we could find them, would give signatories a way to repudiate their signatures</a:t>
            </a:r>
          </a:p>
          <a:p>
            <a:pPr eaLnBrk="1" hangingPunct="1"/>
            <a:endParaRPr lang="en-US" altLang="en-US">
              <a:latin typeface="Calibri" panose="020F0502020204030204" pitchFamily="34" charset="0"/>
              <a:ea typeface="ＭＳ Ｐゴシック" panose="020B0600070205080204" pitchFamily="34" charset="-128"/>
            </a:endParaRPr>
          </a:p>
        </p:txBody>
      </p:sp>
      <p:pic>
        <p:nvPicPr>
          <p:cNvPr id="41988" name="Picture 11">
            <a:extLst>
              <a:ext uri="{FF2B5EF4-FFF2-40B4-BE49-F238E27FC236}">
                <a16:creationId xmlns:a16="http://schemas.microsoft.com/office/drawing/2014/main" id="{48C9CA62-D96B-AC26-8FCE-C00EA92D59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1524000"/>
            <a:ext cx="8255000" cy="682625"/>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41989" name="Picture 13">
            <a:extLst>
              <a:ext uri="{FF2B5EF4-FFF2-40B4-BE49-F238E27FC236}">
                <a16:creationId xmlns:a16="http://schemas.microsoft.com/office/drawing/2014/main" id="{B5DFC75B-4028-94ED-24DB-95CD9B74CF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438400"/>
            <a:ext cx="7129463"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3EE9B10B-FAE8-729E-25DC-BBFE41296BA9}"/>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Topics</a:t>
            </a:r>
          </a:p>
        </p:txBody>
      </p:sp>
      <p:sp>
        <p:nvSpPr>
          <p:cNvPr id="43011" name="Content Placeholder 2">
            <a:extLst>
              <a:ext uri="{FF2B5EF4-FFF2-40B4-BE49-F238E27FC236}">
                <a16:creationId xmlns:a16="http://schemas.microsoft.com/office/drawing/2014/main" id="{2623D4F0-C600-C392-E0E6-693E49E94C3B}"/>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ea typeface="ＭＳ Ｐゴシック" panose="020B0600070205080204" pitchFamily="34" charset="-128"/>
              </a:rPr>
              <a:t>Overview of Cryptography Hash Function</a:t>
            </a:r>
          </a:p>
          <a:p>
            <a:r>
              <a:rPr lang="en-US" altLang="en-US">
                <a:latin typeface="Calibri" panose="020F0502020204030204" pitchFamily="34" charset="0"/>
                <a:ea typeface="ＭＳ Ｐゴシック" panose="020B0600070205080204" pitchFamily="34" charset="-128"/>
              </a:rPr>
              <a:t>Usages</a:t>
            </a:r>
          </a:p>
          <a:p>
            <a:r>
              <a:rPr lang="en-US" altLang="en-US">
                <a:latin typeface="Calibri" panose="020F0502020204030204" pitchFamily="34" charset="0"/>
                <a:ea typeface="ＭＳ Ｐゴシック" panose="020B0600070205080204" pitchFamily="34" charset="-128"/>
              </a:rPr>
              <a:t>Properties</a:t>
            </a:r>
          </a:p>
          <a:p>
            <a:r>
              <a:rPr lang="en-US" altLang="en-US" b="1">
                <a:latin typeface="Calibri" panose="020F0502020204030204" pitchFamily="34" charset="0"/>
                <a:ea typeface="ＭＳ Ｐゴシック" panose="020B0600070205080204" pitchFamily="34" charset="-128"/>
              </a:rPr>
              <a:t>Hashing Function Structure</a:t>
            </a:r>
          </a:p>
          <a:p>
            <a:r>
              <a:rPr lang="en-US" altLang="en-US">
                <a:latin typeface="Calibri" panose="020F0502020204030204" pitchFamily="34" charset="0"/>
                <a:ea typeface="ＭＳ Ｐゴシック" panose="020B0600070205080204" pitchFamily="34" charset="-128"/>
              </a:rPr>
              <a:t>Attack on Hash Function </a:t>
            </a:r>
          </a:p>
          <a:p>
            <a:r>
              <a:rPr lang="en-US" altLang="en-US">
                <a:latin typeface="Calibri" panose="020F0502020204030204" pitchFamily="34" charset="0"/>
                <a:ea typeface="ＭＳ Ｐゴシック" panose="020B0600070205080204" pitchFamily="34" charset="-128"/>
              </a:rPr>
              <a:t>The Road to new Secure Hash Standard</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ACA3CE75-3FA0-BEB4-64E5-FC33B0147E43}"/>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Two Group of Compression Functions</a:t>
            </a:r>
          </a:p>
        </p:txBody>
      </p:sp>
      <p:sp>
        <p:nvSpPr>
          <p:cNvPr id="44035" name="Content Placeholder 2">
            <a:extLst>
              <a:ext uri="{FF2B5EF4-FFF2-40B4-BE49-F238E27FC236}">
                <a16:creationId xmlns:a16="http://schemas.microsoft.com/office/drawing/2014/main" id="{AD7A3512-1E54-F1F6-DDE1-9866492C0C10}"/>
              </a:ext>
            </a:extLst>
          </p:cNvPr>
          <p:cNvSpPr>
            <a:spLocks noGrp="1"/>
          </p:cNvSpPr>
          <p:nvPr>
            <p:ph sz="quarter" idx="1"/>
          </p:nvPr>
        </p:nvSpPr>
        <p:spPr>
          <a:xfrm>
            <a:off x="457200" y="1219200"/>
            <a:ext cx="8229600" cy="4937125"/>
          </a:xfrm>
        </p:spPr>
        <p:txBody>
          <a:bodyPr/>
          <a:lstStyle/>
          <a:p>
            <a:pPr eaLnBrk="1" hangingPunct="1"/>
            <a:r>
              <a:rPr lang="en-US" altLang="en-US">
                <a:latin typeface="Calibri" panose="020F0502020204030204" pitchFamily="34" charset="0"/>
                <a:ea typeface="ＭＳ Ｐゴシック" panose="020B0600070205080204" pitchFamily="34" charset="-128"/>
              </a:rPr>
              <a:t>The compression function is made from scratch</a:t>
            </a:r>
          </a:p>
          <a:p>
            <a:pPr lvl="1" eaLnBrk="1" hangingPunct="1"/>
            <a:r>
              <a:rPr lang="en-US" altLang="en-US">
                <a:latin typeface="Calibri" panose="020F0502020204030204" pitchFamily="34" charset="0"/>
                <a:ea typeface="ＭＳ Ｐゴシック" panose="020B0600070205080204" pitchFamily="34" charset="-128"/>
              </a:rPr>
              <a:t>Message Digest</a:t>
            </a:r>
          </a:p>
          <a:p>
            <a:pPr eaLnBrk="1" hangingPunct="1"/>
            <a:endParaRPr lang="en-US" altLang="en-US">
              <a:latin typeface="Calibri" panose="020F0502020204030204" pitchFamily="34" charset="0"/>
              <a:ea typeface="ＭＳ Ｐゴシック" panose="020B0600070205080204" pitchFamily="34" charset="-128"/>
            </a:endParaRPr>
          </a:p>
          <a:p>
            <a:pPr eaLnBrk="1" hangingPunct="1"/>
            <a:r>
              <a:rPr lang="en-US" altLang="en-US">
                <a:latin typeface="Calibri" panose="020F0502020204030204" pitchFamily="34" charset="0"/>
                <a:ea typeface="ＭＳ Ｐゴシック" panose="020B0600070205080204" pitchFamily="34" charset="-128"/>
              </a:rPr>
              <a:t>A symmetric-key block cipher serves as a compression function</a:t>
            </a:r>
          </a:p>
          <a:p>
            <a:pPr lvl="1" eaLnBrk="1" hangingPunct="1"/>
            <a:r>
              <a:rPr lang="en-US" altLang="en-US">
                <a:latin typeface="Calibri" panose="020F0502020204030204" pitchFamily="34" charset="0"/>
                <a:ea typeface="ＭＳ Ｐゴシック" panose="020B0600070205080204" pitchFamily="34" charset="-128"/>
              </a:rPr>
              <a:t>Whirlpool</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9DD09417-0B3D-AD54-9536-4B629DFEBC3E}"/>
              </a:ext>
            </a:extLst>
          </p:cNvPr>
          <p:cNvSpPr>
            <a:spLocks noGrp="1"/>
          </p:cNvSpPr>
          <p:nvPr>
            <p:ph type="title"/>
          </p:nvPr>
        </p:nvSpPr>
        <p:spPr/>
        <p:txBody>
          <a:bodyPr/>
          <a:lstStyle/>
          <a:p>
            <a:pPr eaLnBrk="1" hangingPunct="1"/>
            <a:r>
              <a:rPr lang="en-US" altLang="en-US">
                <a:solidFill>
                  <a:schemeClr val="folHlink"/>
                </a:solidFill>
                <a:latin typeface="Calibri" panose="020F0502020204030204" pitchFamily="34" charset="0"/>
                <a:ea typeface="ＭＳ Ｐゴシック" panose="020B0600070205080204" pitchFamily="34" charset="-128"/>
                <a:cs typeface="Calibri" panose="020F0502020204030204" pitchFamily="34" charset="0"/>
              </a:rPr>
              <a:t>Merkle-Damgard Scheme</a:t>
            </a:r>
            <a:endParaRPr lang="en-US" altLang="en-US">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5059" name="Content Placeholder 2">
            <a:extLst>
              <a:ext uri="{FF2B5EF4-FFF2-40B4-BE49-F238E27FC236}">
                <a16:creationId xmlns:a16="http://schemas.microsoft.com/office/drawing/2014/main" id="{A761A359-1481-D721-D401-F28152C5A74A}"/>
              </a:ext>
            </a:extLst>
          </p:cNvPr>
          <p:cNvSpPr>
            <a:spLocks noGrp="1"/>
          </p:cNvSpPr>
          <p:nvPr>
            <p:ph sz="quarter" idx="1"/>
          </p:nvPr>
        </p:nvSpPr>
        <p:spPr>
          <a:xfrm>
            <a:off x="457200" y="4572000"/>
            <a:ext cx="8229600" cy="1524000"/>
          </a:xfrm>
        </p:spPr>
        <p:txBody>
          <a:bodyPr/>
          <a:lstStyle/>
          <a:p>
            <a:pPr eaLnBrk="1" hangingPunct="1"/>
            <a:r>
              <a:rPr lang="en-US" altLang="en-US" sz="1800">
                <a:latin typeface="Embedded-Garamond" charset="0"/>
                <a:ea typeface="ＭＳ Ｐゴシック" panose="020B0600070205080204" pitchFamily="34" charset="-128"/>
              </a:rPr>
              <a:t>Well-known method to build cryptographic hash function </a:t>
            </a:r>
          </a:p>
          <a:p>
            <a:pPr eaLnBrk="1" hangingPunct="1"/>
            <a:r>
              <a:rPr lang="en-US" altLang="en-US" sz="1800">
                <a:latin typeface="Embedded-Garamond" charset="0"/>
                <a:ea typeface="ＭＳ Ｐゴシック" panose="020B0600070205080204" pitchFamily="34" charset="-128"/>
              </a:rPr>
              <a:t>A message of arbitrary length is broken into blocks </a:t>
            </a:r>
          </a:p>
          <a:p>
            <a:pPr lvl="1" eaLnBrk="1" hangingPunct="1"/>
            <a:r>
              <a:rPr lang="en-US" altLang="en-US" sz="1500">
                <a:latin typeface="Embedded-Garamond" charset="0"/>
                <a:ea typeface="ＭＳ Ｐゴシック" panose="020B0600070205080204" pitchFamily="34" charset="-128"/>
              </a:rPr>
              <a:t>length depends on the compression function </a:t>
            </a:r>
            <a:r>
              <a:rPr lang="en-US" altLang="en-US" sz="1500" i="1">
                <a:latin typeface="Embedded-Garamond" charset="0"/>
                <a:ea typeface="ＭＳ Ｐゴシック" panose="020B0600070205080204" pitchFamily="34" charset="-128"/>
              </a:rPr>
              <a:t>f</a:t>
            </a:r>
          </a:p>
          <a:p>
            <a:pPr lvl="1" eaLnBrk="1" hangingPunct="1"/>
            <a:r>
              <a:rPr lang="en-US" altLang="en-US" sz="1500">
                <a:latin typeface="Embedded-Garamond" charset="0"/>
                <a:ea typeface="ＭＳ Ｐゴシック" panose="020B0600070205080204" pitchFamily="34" charset="-128"/>
              </a:rPr>
              <a:t>padding the size of the message into a multiple of the block size. </a:t>
            </a:r>
          </a:p>
          <a:p>
            <a:pPr lvl="1" eaLnBrk="1" hangingPunct="1"/>
            <a:r>
              <a:rPr lang="en-US" altLang="en-US" sz="1500">
                <a:latin typeface="Embedded-Garamond" charset="0"/>
                <a:ea typeface="ＭＳ Ｐゴシック" panose="020B0600070205080204" pitchFamily="34" charset="-128"/>
              </a:rPr>
              <a:t>sequentially process blocks , taking as input the result of the hash so far and the current message block, with the final fixed length output</a:t>
            </a:r>
            <a:endParaRPr lang="en-US" altLang="en-US" sz="1500">
              <a:latin typeface="Calibri" panose="020F0502020204030204" pitchFamily="34" charset="0"/>
              <a:ea typeface="ＭＳ Ｐゴシック" panose="020B0600070205080204" pitchFamily="34" charset="-128"/>
            </a:endParaRPr>
          </a:p>
        </p:txBody>
      </p:sp>
      <p:pic>
        <p:nvPicPr>
          <p:cNvPr id="45060" name="Picture 13">
            <a:extLst>
              <a:ext uri="{FF2B5EF4-FFF2-40B4-BE49-F238E27FC236}">
                <a16:creationId xmlns:a16="http://schemas.microsoft.com/office/drawing/2014/main" id="{56112003-867B-1814-3884-56C6E6F76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71600"/>
            <a:ext cx="8299450" cy="315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34FA99E0-D3A7-D324-7D37-0B96D2CCCED4}"/>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 Functions Family</a:t>
            </a:r>
          </a:p>
        </p:txBody>
      </p:sp>
      <p:sp>
        <p:nvSpPr>
          <p:cNvPr id="47107" name="Content Placeholder 2">
            <a:extLst>
              <a:ext uri="{FF2B5EF4-FFF2-40B4-BE49-F238E27FC236}">
                <a16:creationId xmlns:a16="http://schemas.microsoft.com/office/drawing/2014/main" id="{C9DE4BA6-4B12-4499-CCED-AFE1E35C7D1F}"/>
              </a:ext>
            </a:extLst>
          </p:cNvPr>
          <p:cNvSpPr>
            <a:spLocks noGrp="1"/>
          </p:cNvSpPr>
          <p:nvPr>
            <p:ph sz="quarter" idx="1"/>
          </p:nvPr>
        </p:nvSpPr>
        <p:spPr>
          <a:xfrm>
            <a:off x="457200" y="1219200"/>
            <a:ext cx="8229600" cy="4937125"/>
          </a:xfrm>
        </p:spPr>
        <p:txBody>
          <a:bodyPr/>
          <a:lstStyle/>
          <a:p>
            <a:pPr eaLnBrk="1" hangingPunct="1"/>
            <a:r>
              <a:rPr lang="en-US" altLang="en-US" b="1">
                <a:latin typeface="Calibri" panose="020F0502020204030204" pitchFamily="34" charset="0"/>
                <a:ea typeface="ＭＳ Ｐゴシック" panose="020B0600070205080204" pitchFamily="34" charset="-128"/>
              </a:rPr>
              <a:t>MD (Message Digest)</a:t>
            </a:r>
            <a:endParaRPr lang="en-US" altLang="en-US" sz="2000" b="1">
              <a:latin typeface="Calibri" panose="020F0502020204030204" pitchFamily="34" charset="0"/>
              <a:ea typeface="ＭＳ Ｐゴシック" panose="020B0600070205080204" pitchFamily="34" charset="-128"/>
            </a:endParaRPr>
          </a:p>
          <a:p>
            <a:pPr lvl="1" eaLnBrk="1" hangingPunct="1"/>
            <a:r>
              <a:rPr lang="en-US" altLang="en-US" sz="2000">
                <a:latin typeface="Calibri" panose="020F0502020204030204" pitchFamily="34" charset="0"/>
                <a:ea typeface="ＭＳ Ｐゴシック" panose="020B0600070205080204" pitchFamily="34" charset="-128"/>
              </a:rPr>
              <a:t>Designed by Ron Rivest</a:t>
            </a:r>
          </a:p>
          <a:p>
            <a:pPr lvl="1" eaLnBrk="1" hangingPunct="1"/>
            <a:r>
              <a:rPr lang="en-US" altLang="en-US" sz="2000">
                <a:latin typeface="Calibri" panose="020F0502020204030204" pitchFamily="34" charset="0"/>
                <a:ea typeface="ＭＳ Ｐゴシック" panose="020B0600070205080204" pitchFamily="34" charset="-128"/>
              </a:rPr>
              <a:t>Family: MD2, MD4, MD5 </a:t>
            </a:r>
          </a:p>
          <a:p>
            <a:pPr eaLnBrk="1" hangingPunct="1"/>
            <a:r>
              <a:rPr lang="en-US" altLang="en-US" b="1">
                <a:latin typeface="Calibri" panose="020F0502020204030204" pitchFamily="34" charset="0"/>
                <a:ea typeface="ＭＳ Ｐゴシック" panose="020B0600070205080204" pitchFamily="34" charset="-128"/>
              </a:rPr>
              <a:t>SHA (Secure Hash Algorithm)</a:t>
            </a:r>
          </a:p>
          <a:p>
            <a:pPr lvl="1" eaLnBrk="1" hangingPunct="1"/>
            <a:r>
              <a:rPr lang="en-US" altLang="en-US" sz="2000">
                <a:solidFill>
                  <a:schemeClr val="tx1"/>
                </a:solidFill>
                <a:latin typeface="Calibri" panose="020F0502020204030204" pitchFamily="34" charset="0"/>
                <a:ea typeface="ＭＳ Ｐゴシック" panose="020B0600070205080204" pitchFamily="34" charset="-128"/>
              </a:rPr>
              <a:t>Designed by NIST </a:t>
            </a:r>
          </a:p>
          <a:p>
            <a:pPr lvl="1" eaLnBrk="1" hangingPunct="1"/>
            <a:r>
              <a:rPr lang="en-US" altLang="en-US" sz="2000">
                <a:solidFill>
                  <a:schemeClr val="tx1"/>
                </a:solidFill>
                <a:latin typeface="Calibri" panose="020F0502020204030204" pitchFamily="34" charset="0"/>
                <a:ea typeface="ＭＳ Ｐゴシック" panose="020B0600070205080204" pitchFamily="34" charset="-128"/>
              </a:rPr>
              <a:t>Family: SHA-0, SHA-1, and SHA-2</a:t>
            </a:r>
          </a:p>
          <a:p>
            <a:pPr lvl="2" eaLnBrk="1" hangingPunct="1"/>
            <a:r>
              <a:rPr lang="en-US" altLang="en-US" sz="1700">
                <a:latin typeface="Calibri" panose="020F0502020204030204" pitchFamily="34" charset="0"/>
                <a:ea typeface="ＭＳ Ｐゴシック" panose="020B0600070205080204" pitchFamily="34" charset="-128"/>
              </a:rPr>
              <a:t>SHA-2: SHA-224, SHA-256, SHA-384, SHA-512</a:t>
            </a:r>
          </a:p>
          <a:p>
            <a:pPr lvl="2" eaLnBrk="1" hangingPunct="1"/>
            <a:r>
              <a:rPr lang="en-US" altLang="en-US" sz="1700">
                <a:latin typeface="Calibri" panose="020F0502020204030204" pitchFamily="34" charset="0"/>
                <a:ea typeface="ＭＳ Ｐゴシック" panose="020B0600070205080204" pitchFamily="34" charset="-128"/>
              </a:rPr>
              <a:t>SHA-3: New standard in competition </a:t>
            </a:r>
          </a:p>
          <a:p>
            <a:pPr eaLnBrk="1" hangingPunct="1"/>
            <a:r>
              <a:rPr lang="en-US" altLang="en-US" b="1">
                <a:latin typeface="Calibri" panose="020F0502020204030204" pitchFamily="34" charset="0"/>
                <a:ea typeface="ＭＳ Ｐゴシック" panose="020B0600070205080204" pitchFamily="34" charset="-128"/>
              </a:rPr>
              <a:t>RIPEMD (Race Integrity Primitive Evaluation Message Digest)</a:t>
            </a:r>
          </a:p>
          <a:p>
            <a:pPr lvl="1" eaLnBrk="1" hangingPunct="1"/>
            <a:r>
              <a:rPr lang="en-US" altLang="en-US" sz="2000">
                <a:latin typeface="Calibri" panose="020F0502020204030204" pitchFamily="34" charset="0"/>
                <a:ea typeface="ＭＳ Ｐゴシック" panose="020B0600070205080204" pitchFamily="34" charset="-128"/>
              </a:rPr>
              <a:t>Developed by Katholieke University Leuven Team</a:t>
            </a:r>
          </a:p>
          <a:p>
            <a:pPr lvl="1" eaLnBrk="1" hangingPunct="1"/>
            <a:r>
              <a:rPr lang="en-US" altLang="en-US" sz="2000">
                <a:latin typeface="Calibri" panose="020F0502020204030204" pitchFamily="34" charset="0"/>
                <a:ea typeface="ＭＳ Ｐゴシック" panose="020B0600070205080204" pitchFamily="34" charset="-128"/>
              </a:rPr>
              <a:t>Family : RIPEMD-128, RIPEMD-160, RIPEMD-256, RIPEMD-320 </a:t>
            </a:r>
          </a:p>
          <a:p>
            <a:pPr lvl="1" eaLnBrk="1" hangingPunct="1"/>
            <a:endParaRPr lang="en-US" altLang="en-US">
              <a:latin typeface="Calibri" panose="020F0502020204030204" pitchFamily="34" charset="0"/>
              <a:ea typeface="ＭＳ Ｐゴシック" panose="020B0600070205080204" pitchFamily="34" charset="-128"/>
            </a:endParaRPr>
          </a:p>
          <a:p>
            <a:pPr lvl="1" eaLnBrk="1" hangingPunct="1">
              <a:buFont typeface="Wingdings 3" panose="05040102010807070707" pitchFamily="18" charset="2"/>
              <a:buNone/>
            </a:pPr>
            <a:endParaRPr lang="en-US" altLang="en-US">
              <a:latin typeface="Calibri" panose="020F0502020204030204" pitchFamily="34" charset="0"/>
              <a:ea typeface="ＭＳ Ｐゴシック" panose="020B0600070205080204" pitchFamily="34" charset="-128"/>
            </a:endParaRPr>
          </a:p>
          <a:p>
            <a:pPr eaLnBrk="1" hangingPunct="1"/>
            <a:endParaRPr lang="en-US" altLang="en-US">
              <a:latin typeface="Calibri" panose="020F0502020204030204" pitchFamily="34" charset="0"/>
              <a:ea typeface="ＭＳ Ｐゴシック" panose="020B0600070205080204" pitchFamily="34" charset="-128"/>
            </a:endParaRPr>
          </a:p>
          <a:p>
            <a:pPr eaLnBrk="1" hangingPunct="1"/>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a:extLst>
              <a:ext uri="{FF2B5EF4-FFF2-40B4-BE49-F238E27FC236}">
                <a16:creationId xmlns:a16="http://schemas.microsoft.com/office/drawing/2014/main" id="{F6D7A290-3432-7385-ACF8-5D47D2A8EE5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a:spcBef>
                <a:spcPct val="0"/>
              </a:spcBef>
              <a:buClrTx/>
              <a:buSzTx/>
              <a:buFontTx/>
              <a:buNone/>
            </a:pPr>
            <a:fld id="{42DF49C6-5A30-4902-A5C2-A667F0386123}" type="slidenum">
              <a:rPr lang="en-US" altLang="en-US" sz="1400" smtClean="0">
                <a:solidFill>
                  <a:schemeClr val="tx2"/>
                </a:solidFill>
              </a:rPr>
              <a:pPr>
                <a:spcBef>
                  <a:spcPct val="0"/>
                </a:spcBef>
                <a:buClrTx/>
                <a:buSzTx/>
                <a:buFontTx/>
                <a:buNone/>
              </a:pPr>
              <a:t>24</a:t>
            </a:fld>
            <a:endParaRPr lang="en-US" altLang="en-US" sz="1400">
              <a:solidFill>
                <a:schemeClr val="tx2"/>
              </a:solidFill>
            </a:endParaRPr>
          </a:p>
        </p:txBody>
      </p:sp>
      <p:sp>
        <p:nvSpPr>
          <p:cNvPr id="48131" name="Rectangle 2">
            <a:extLst>
              <a:ext uri="{FF2B5EF4-FFF2-40B4-BE49-F238E27FC236}">
                <a16:creationId xmlns:a16="http://schemas.microsoft.com/office/drawing/2014/main" id="{D523753D-C4F9-BDA9-7866-747AEAE4EC73}"/>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MD5, SHA-1, and RIPEMD-160</a:t>
            </a:r>
          </a:p>
        </p:txBody>
      </p:sp>
      <p:pic>
        <p:nvPicPr>
          <p:cNvPr id="48132" name="Picture 3">
            <a:extLst>
              <a:ext uri="{FF2B5EF4-FFF2-40B4-BE49-F238E27FC236}">
                <a16:creationId xmlns:a16="http://schemas.microsoft.com/office/drawing/2014/main" id="{224E7BBD-6A6E-984D-69F9-6AFE31655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52600"/>
            <a:ext cx="8153400"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1CF79E8-A160-6F07-62BB-E4B2A0A813C0}"/>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MD2, MD4 and MD5</a:t>
            </a:r>
          </a:p>
        </p:txBody>
      </p:sp>
      <p:sp>
        <p:nvSpPr>
          <p:cNvPr id="49155" name="Rectangle 3">
            <a:extLst>
              <a:ext uri="{FF2B5EF4-FFF2-40B4-BE49-F238E27FC236}">
                <a16:creationId xmlns:a16="http://schemas.microsoft.com/office/drawing/2014/main" id="{531A14C2-85EE-7334-816A-4783A3DDC8CC}"/>
              </a:ext>
            </a:extLst>
          </p:cNvPr>
          <p:cNvSpPr>
            <a:spLocks noGrp="1"/>
          </p:cNvSpPr>
          <p:nvPr>
            <p:ph type="body" idx="1"/>
          </p:nvPr>
        </p:nvSpPr>
        <p:spPr>
          <a:xfrm>
            <a:off x="609600" y="1524000"/>
            <a:ext cx="7772400" cy="4114800"/>
          </a:xfrm>
        </p:spPr>
        <p:txBody>
          <a:bodyPr/>
          <a:lstStyle/>
          <a:p>
            <a:pPr eaLnBrk="1" hangingPunct="1">
              <a:lnSpc>
                <a:spcPct val="70000"/>
              </a:lnSpc>
            </a:pPr>
            <a:r>
              <a:rPr lang="en-US" altLang="en-US" sz="2200">
                <a:latin typeface="Calibri" panose="020F0502020204030204" pitchFamily="34" charset="0"/>
                <a:ea typeface="ＭＳ Ｐゴシック" panose="020B0600070205080204" pitchFamily="34" charset="-128"/>
              </a:rPr>
              <a:t>Family of one-way hash functions by Ronald Rivest</a:t>
            </a:r>
          </a:p>
          <a:p>
            <a:pPr lvl="1" eaLnBrk="1" hangingPunct="1">
              <a:lnSpc>
                <a:spcPct val="70000"/>
              </a:lnSpc>
            </a:pPr>
            <a:r>
              <a:rPr lang="en-US" altLang="en-US" sz="1900">
                <a:latin typeface="Calibri" panose="020F0502020204030204" pitchFamily="34" charset="0"/>
                <a:ea typeface="ＭＳ Ｐゴシック" panose="020B0600070205080204" pitchFamily="34" charset="-128"/>
              </a:rPr>
              <a:t>All produces 128 bits hash value </a:t>
            </a:r>
            <a:endParaRPr lang="en-US" altLang="en-US" sz="2200">
              <a:latin typeface="Calibri" panose="020F0502020204030204" pitchFamily="34" charset="0"/>
              <a:ea typeface="ＭＳ Ｐゴシック" panose="020B0600070205080204" pitchFamily="34" charset="-128"/>
            </a:endParaRPr>
          </a:p>
          <a:p>
            <a:pPr eaLnBrk="1" hangingPunct="1">
              <a:lnSpc>
                <a:spcPct val="70000"/>
              </a:lnSpc>
            </a:pPr>
            <a:r>
              <a:rPr lang="en-US" altLang="en-US" sz="2200" b="1">
                <a:latin typeface="Calibri" panose="020F0502020204030204" pitchFamily="34" charset="0"/>
                <a:ea typeface="ＭＳ Ｐゴシック" panose="020B0600070205080204" pitchFamily="34" charset="-128"/>
              </a:rPr>
              <a:t>MD2: 1989 </a:t>
            </a:r>
          </a:p>
          <a:p>
            <a:pPr lvl="1" eaLnBrk="1" hangingPunct="1">
              <a:lnSpc>
                <a:spcPct val="70000"/>
              </a:lnSpc>
            </a:pPr>
            <a:r>
              <a:rPr lang="en-US" altLang="en-US" sz="1900">
                <a:latin typeface="Calibri" panose="020F0502020204030204" pitchFamily="34" charset="0"/>
                <a:ea typeface="ＭＳ Ｐゴシック" panose="020B0600070205080204" pitchFamily="34" charset="-128"/>
              </a:rPr>
              <a:t>Optimized for 8 bit computer</a:t>
            </a:r>
          </a:p>
          <a:p>
            <a:pPr lvl="1" eaLnBrk="1" hangingPunct="1">
              <a:lnSpc>
                <a:spcPct val="70000"/>
              </a:lnSpc>
            </a:pPr>
            <a:r>
              <a:rPr lang="en-US" altLang="en-US" sz="1900">
                <a:latin typeface="Calibri" panose="020F0502020204030204" pitchFamily="34" charset="0"/>
                <a:ea typeface="ＭＳ Ｐゴシック" panose="020B0600070205080204" pitchFamily="34" charset="-128"/>
              </a:rPr>
              <a:t>Collision found in 1995</a:t>
            </a:r>
            <a:endParaRPr lang="en-US" altLang="en-US" sz="2200">
              <a:latin typeface="Calibri" panose="020F0502020204030204" pitchFamily="34" charset="0"/>
              <a:ea typeface="ＭＳ Ｐゴシック" panose="020B0600070205080204" pitchFamily="34" charset="-128"/>
            </a:endParaRPr>
          </a:p>
          <a:p>
            <a:pPr eaLnBrk="1" hangingPunct="1">
              <a:lnSpc>
                <a:spcPct val="70000"/>
              </a:lnSpc>
            </a:pPr>
            <a:r>
              <a:rPr lang="en-US" altLang="en-US" sz="2200" b="1">
                <a:latin typeface="Calibri" panose="020F0502020204030204" pitchFamily="34" charset="0"/>
                <a:ea typeface="ＭＳ Ｐゴシック" panose="020B0600070205080204" pitchFamily="34" charset="-128"/>
              </a:rPr>
              <a:t>MD4: 1990</a:t>
            </a:r>
          </a:p>
          <a:p>
            <a:pPr lvl="1" eaLnBrk="1" hangingPunct="1">
              <a:lnSpc>
                <a:spcPct val="70000"/>
              </a:lnSpc>
            </a:pPr>
            <a:r>
              <a:rPr lang="en-US" altLang="en-US" sz="1900">
                <a:latin typeface="Calibri" panose="020F0502020204030204" pitchFamily="34" charset="0"/>
                <a:ea typeface="ＭＳ Ｐゴシック" panose="020B0600070205080204" pitchFamily="34" charset="-128"/>
              </a:rPr>
              <a:t>Full round collision attack found in 1995</a:t>
            </a:r>
            <a:endParaRPr lang="en-US" altLang="en-US" sz="2200">
              <a:latin typeface="Calibri" panose="020F0502020204030204" pitchFamily="34" charset="0"/>
              <a:ea typeface="ＭＳ Ｐゴシック" panose="020B0600070205080204" pitchFamily="34" charset="-128"/>
            </a:endParaRPr>
          </a:p>
          <a:p>
            <a:pPr eaLnBrk="1" hangingPunct="1">
              <a:lnSpc>
                <a:spcPct val="70000"/>
              </a:lnSpc>
            </a:pPr>
            <a:r>
              <a:rPr lang="en-US" altLang="en-US" sz="2200" b="1">
                <a:latin typeface="Calibri" panose="020F0502020204030204" pitchFamily="34" charset="0"/>
                <a:ea typeface="ＭＳ Ｐゴシック" panose="020B0600070205080204" pitchFamily="34" charset="-128"/>
              </a:rPr>
              <a:t>MD5: 1992</a:t>
            </a:r>
          </a:p>
          <a:p>
            <a:pPr lvl="1" eaLnBrk="1" hangingPunct="1">
              <a:lnSpc>
                <a:spcPct val="70000"/>
              </a:lnSpc>
            </a:pPr>
            <a:r>
              <a:rPr lang="en-AU" altLang="en-US" sz="1900">
                <a:latin typeface="Calibri" panose="020F0502020204030204" pitchFamily="34" charset="0"/>
                <a:ea typeface="ＭＳ Ｐゴシック" panose="020B0600070205080204" pitchFamily="34" charset="-128"/>
              </a:rPr>
              <a:t>Specified as Internet standard in </a:t>
            </a:r>
            <a:r>
              <a:rPr lang="en-US" altLang="en-US" sz="1900">
                <a:latin typeface="Calibri" panose="020F0502020204030204" pitchFamily="34" charset="0"/>
                <a:ea typeface="ＭＳ Ｐゴシック" panose="020B0600070205080204" pitchFamily="34" charset="-128"/>
              </a:rPr>
              <a:t>RFC 1321 </a:t>
            </a:r>
          </a:p>
          <a:p>
            <a:pPr lvl="1" eaLnBrk="1" hangingPunct="1">
              <a:lnSpc>
                <a:spcPct val="70000"/>
              </a:lnSpc>
            </a:pPr>
            <a:r>
              <a:rPr lang="en-US" altLang="en-US" sz="1900">
                <a:latin typeface="Calibri" panose="020F0502020204030204" pitchFamily="34" charset="0"/>
                <a:ea typeface="ＭＳ Ｐゴシック" panose="020B0600070205080204" pitchFamily="34" charset="-128"/>
              </a:rPr>
              <a:t>since 1997 it was theoretically not so hard to create a collision</a:t>
            </a:r>
          </a:p>
          <a:p>
            <a:pPr lvl="1" eaLnBrk="1" hangingPunct="1">
              <a:lnSpc>
                <a:spcPct val="70000"/>
              </a:lnSpc>
            </a:pPr>
            <a:r>
              <a:rPr lang="en-US" altLang="en-US" sz="1900">
                <a:latin typeface="Calibri" panose="020F0502020204030204" pitchFamily="34" charset="0"/>
                <a:ea typeface="ＭＳ Ｐゴシック" panose="020B0600070205080204" pitchFamily="34" charset="-128"/>
              </a:rPr>
              <a:t>Practical Collision MD5 has been broken since 2004</a:t>
            </a:r>
          </a:p>
          <a:p>
            <a:pPr lvl="1" eaLnBrk="1" hangingPunct="1">
              <a:lnSpc>
                <a:spcPct val="70000"/>
              </a:lnSpc>
            </a:pPr>
            <a:r>
              <a:rPr lang="en-US" altLang="en-US" sz="1900">
                <a:latin typeface="Calibri" panose="020F0502020204030204" pitchFamily="34" charset="0"/>
                <a:ea typeface="ＭＳ Ｐゴシック" panose="020B0600070205080204" pitchFamily="34" charset="-128"/>
              </a:rPr>
              <a:t>CA attack published in 2007</a:t>
            </a:r>
          </a:p>
          <a:p>
            <a:pPr lvl="1" eaLnBrk="1" hangingPunct="1">
              <a:lnSpc>
                <a:spcPct val="70000"/>
              </a:lnSpc>
            </a:pPr>
            <a:endParaRPr lang="en-US" altLang="en-US" sz="1900">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C8CBA0F-09C6-6FCB-03F6-388D09F55436}"/>
              </a:ext>
            </a:extLst>
          </p:cNvPr>
          <p:cNvSpPr>
            <a:spLocks noGrp="1"/>
          </p:cNvSpPr>
          <p:nvPr>
            <p:ph type="title"/>
          </p:nvPr>
        </p:nvSpPr>
        <p:spPr>
          <a:xfrm>
            <a:off x="457200" y="134938"/>
            <a:ext cx="8229600" cy="990600"/>
          </a:xfrm>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MD5 Overview</a:t>
            </a:r>
            <a:endParaRPr lang="en-AU" altLang="en-US">
              <a:latin typeface="Calibri" panose="020F0502020204030204" pitchFamily="34" charset="0"/>
              <a:ea typeface="ＭＳ Ｐゴシック" panose="020B0600070205080204" pitchFamily="34" charset="-128"/>
              <a:cs typeface="Calibri" panose="020F0502020204030204" pitchFamily="34" charset="0"/>
            </a:endParaRPr>
          </a:p>
        </p:txBody>
      </p:sp>
      <p:pic>
        <p:nvPicPr>
          <p:cNvPr id="50179" name="Picture 3">
            <a:extLst>
              <a:ext uri="{FF2B5EF4-FFF2-40B4-BE49-F238E27FC236}">
                <a16:creationId xmlns:a16="http://schemas.microsoft.com/office/drawing/2014/main" id="{E6B7BD50-CD74-2A6C-921B-AA249986D02A}"/>
              </a:ext>
            </a:extLst>
          </p:cNvPr>
          <p:cNvPicPr>
            <a:picLocks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0" y="1268413"/>
            <a:ext cx="8604250" cy="5030787"/>
          </a:xfrm>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42728121-57A2-023A-00A2-1189F8C61F67}"/>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Topics</a:t>
            </a:r>
          </a:p>
        </p:txBody>
      </p:sp>
      <p:sp>
        <p:nvSpPr>
          <p:cNvPr id="52227" name="Content Placeholder 2">
            <a:extLst>
              <a:ext uri="{FF2B5EF4-FFF2-40B4-BE49-F238E27FC236}">
                <a16:creationId xmlns:a16="http://schemas.microsoft.com/office/drawing/2014/main" id="{DD79CE2F-4250-7BD3-C272-5513AB915728}"/>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ea typeface="ＭＳ Ｐゴシック" panose="020B0600070205080204" pitchFamily="34" charset="-128"/>
              </a:rPr>
              <a:t>Overview of Cryptography Hash Function</a:t>
            </a:r>
          </a:p>
          <a:p>
            <a:r>
              <a:rPr lang="en-US" altLang="en-US">
                <a:latin typeface="Calibri" panose="020F0502020204030204" pitchFamily="34" charset="0"/>
                <a:ea typeface="ＭＳ Ｐゴシック" panose="020B0600070205080204" pitchFamily="34" charset="-128"/>
              </a:rPr>
              <a:t>Usages</a:t>
            </a:r>
          </a:p>
          <a:p>
            <a:r>
              <a:rPr lang="en-US" altLang="en-US">
                <a:latin typeface="Calibri" panose="020F0502020204030204" pitchFamily="34" charset="0"/>
                <a:ea typeface="ＭＳ Ｐゴシック" panose="020B0600070205080204" pitchFamily="34" charset="-128"/>
              </a:rPr>
              <a:t>Properties</a:t>
            </a:r>
          </a:p>
          <a:p>
            <a:r>
              <a:rPr lang="en-US" altLang="en-US" b="1">
                <a:latin typeface="Calibri" panose="020F0502020204030204" pitchFamily="34" charset="0"/>
                <a:ea typeface="ＭＳ Ｐゴシック" panose="020B0600070205080204" pitchFamily="34" charset="-128"/>
              </a:rPr>
              <a:t>Hashing Function Structure</a:t>
            </a:r>
          </a:p>
          <a:p>
            <a:pPr lvl="1"/>
            <a:r>
              <a:rPr lang="en-US" altLang="en-US" b="1">
                <a:latin typeface="Calibri" panose="020F0502020204030204" pitchFamily="34" charset="0"/>
                <a:ea typeface="ＭＳ Ｐゴシック" panose="020B0600070205080204" pitchFamily="34" charset="-128"/>
              </a:rPr>
              <a:t>MD5</a:t>
            </a:r>
          </a:p>
          <a:p>
            <a:pPr lvl="1"/>
            <a:r>
              <a:rPr lang="en-US" altLang="en-US">
                <a:latin typeface="Calibri" panose="020F0502020204030204" pitchFamily="34" charset="0"/>
                <a:ea typeface="ＭＳ Ｐゴシック" panose="020B0600070205080204" pitchFamily="34" charset="-128"/>
              </a:rPr>
              <a:t>SHA</a:t>
            </a:r>
          </a:p>
          <a:p>
            <a:r>
              <a:rPr lang="en-US" altLang="en-US">
                <a:latin typeface="Calibri" panose="020F0502020204030204" pitchFamily="34" charset="0"/>
                <a:ea typeface="ＭＳ Ｐゴシック" panose="020B0600070205080204" pitchFamily="34" charset="-128"/>
              </a:rPr>
              <a:t>Attack on Hash Function </a:t>
            </a:r>
          </a:p>
          <a:p>
            <a:r>
              <a:rPr lang="en-US" altLang="en-US">
                <a:latin typeface="Calibri" panose="020F0502020204030204" pitchFamily="34" charset="0"/>
                <a:ea typeface="ＭＳ Ｐゴシック" panose="020B0600070205080204" pitchFamily="34" charset="-128"/>
              </a:rPr>
              <a:t>The Road to new Secure Hash Standard</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3EEAA0B-64E0-12A9-8633-CAF73B81A454}"/>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MD5 Overview</a:t>
            </a:r>
          </a:p>
        </p:txBody>
      </p:sp>
      <p:pic>
        <p:nvPicPr>
          <p:cNvPr id="53251" name="Picture 3">
            <a:extLst>
              <a:ext uri="{FF2B5EF4-FFF2-40B4-BE49-F238E27FC236}">
                <a16:creationId xmlns:a16="http://schemas.microsoft.com/office/drawing/2014/main" id="{695EB8AF-304D-DD7E-0ECA-1A5D59AC10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71600"/>
            <a:ext cx="7677150"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AutoShape 4">
            <a:extLst>
              <a:ext uri="{FF2B5EF4-FFF2-40B4-BE49-F238E27FC236}">
                <a16:creationId xmlns:a16="http://schemas.microsoft.com/office/drawing/2014/main" id="{1A633B67-380E-E35A-D5F9-5D7D8082BAD4}"/>
              </a:ext>
            </a:extLst>
          </p:cNvPr>
          <p:cNvSpPr>
            <a:spLocks/>
          </p:cNvSpPr>
          <p:nvPr/>
        </p:nvSpPr>
        <p:spPr bwMode="auto">
          <a:xfrm>
            <a:off x="7467600" y="2743200"/>
            <a:ext cx="1524000" cy="609600"/>
          </a:xfrm>
          <a:prstGeom prst="borderCallout1">
            <a:avLst>
              <a:gd name="adj1" fmla="val 18750"/>
              <a:gd name="adj2" fmla="val -5000"/>
              <a:gd name="adj3" fmla="val -166667"/>
              <a:gd name="adj4" fmla="val -89481"/>
            </a:avLst>
          </a:prstGeom>
          <a:solidFill>
            <a:srgbClr val="FFFF00"/>
          </a:solidFill>
          <a:ln w="19050">
            <a:solidFill>
              <a:schemeClr val="tx1"/>
            </a:solidFill>
            <a:miter lim="800000"/>
            <a:headEnd type="stealth" w="sm" len="lg"/>
            <a:tailEnd/>
          </a:ln>
        </p:spPr>
        <p:txBody>
          <a:bodyPr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200"/>
              <a:t>1. Append padding bits</a:t>
            </a:r>
          </a:p>
          <a:p>
            <a:pPr eaLnBrk="1" hangingPunct="1">
              <a:spcBef>
                <a:spcPct val="0"/>
              </a:spcBef>
              <a:buClrTx/>
              <a:buSzTx/>
              <a:buFontTx/>
              <a:buNone/>
            </a:pPr>
            <a:r>
              <a:rPr lang="en-US" altLang="en-US" sz="1200"/>
              <a:t>(to 448 mod 512)</a:t>
            </a:r>
          </a:p>
        </p:txBody>
      </p:sp>
      <p:sp>
        <p:nvSpPr>
          <p:cNvPr id="53253" name="AutoShape 5">
            <a:extLst>
              <a:ext uri="{FF2B5EF4-FFF2-40B4-BE49-F238E27FC236}">
                <a16:creationId xmlns:a16="http://schemas.microsoft.com/office/drawing/2014/main" id="{19580151-907C-6D82-36AC-E010E9CFFD91}"/>
              </a:ext>
            </a:extLst>
          </p:cNvPr>
          <p:cNvSpPr>
            <a:spLocks/>
          </p:cNvSpPr>
          <p:nvPr/>
        </p:nvSpPr>
        <p:spPr bwMode="auto">
          <a:xfrm>
            <a:off x="7924800" y="1828800"/>
            <a:ext cx="1066800" cy="609600"/>
          </a:xfrm>
          <a:prstGeom prst="borderCallout1">
            <a:avLst>
              <a:gd name="adj1" fmla="val 18750"/>
              <a:gd name="adj2" fmla="val -7144"/>
              <a:gd name="adj3" fmla="val -30468"/>
              <a:gd name="adj4" fmla="val -44940"/>
            </a:avLst>
          </a:prstGeom>
          <a:solidFill>
            <a:srgbClr val="FFFF00"/>
          </a:solidFill>
          <a:ln w="19050">
            <a:solidFill>
              <a:schemeClr val="tx1"/>
            </a:solidFill>
            <a:miter lim="800000"/>
            <a:headEnd type="stealth" w="sm" len="lg"/>
            <a:tailEnd/>
          </a:ln>
        </p:spPr>
        <p:txBody>
          <a:bodyPr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200"/>
              <a:t>2. Append length (64bits)</a:t>
            </a:r>
          </a:p>
        </p:txBody>
      </p:sp>
      <p:sp>
        <p:nvSpPr>
          <p:cNvPr id="53254" name="AutoShape 6">
            <a:extLst>
              <a:ext uri="{FF2B5EF4-FFF2-40B4-BE49-F238E27FC236}">
                <a16:creationId xmlns:a16="http://schemas.microsoft.com/office/drawing/2014/main" id="{E5195223-DD5E-B559-1DD2-17B97E4D445B}"/>
              </a:ext>
            </a:extLst>
          </p:cNvPr>
          <p:cNvSpPr>
            <a:spLocks/>
          </p:cNvSpPr>
          <p:nvPr/>
        </p:nvSpPr>
        <p:spPr bwMode="auto">
          <a:xfrm>
            <a:off x="1979613" y="5805488"/>
            <a:ext cx="2674937" cy="914400"/>
          </a:xfrm>
          <a:prstGeom prst="borderCallout1">
            <a:avLst>
              <a:gd name="adj1" fmla="val 12500"/>
              <a:gd name="adj2" fmla="val -3227"/>
              <a:gd name="adj3" fmla="val -51389"/>
              <a:gd name="adj4" fmla="val -47042"/>
            </a:avLst>
          </a:prstGeom>
          <a:solidFill>
            <a:srgbClr val="FFFF00"/>
          </a:solidFill>
          <a:ln w="19050">
            <a:solidFill>
              <a:schemeClr val="tx1"/>
            </a:solidFill>
            <a:miter lim="800000"/>
            <a:headEnd type="stealth" w="sm" len="lg"/>
            <a:tailEnd/>
          </a:ln>
        </p:spPr>
        <p:txBody>
          <a:bodyPr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200"/>
              <a:t>3. Initialize MD buffer (4x32 bits Word)</a:t>
            </a:r>
          </a:p>
          <a:p>
            <a:pPr eaLnBrk="1" hangingPunct="1">
              <a:spcBef>
                <a:spcPct val="0"/>
              </a:spcBef>
              <a:buClrTx/>
              <a:buSzTx/>
              <a:buFontTx/>
              <a:buNone/>
            </a:pPr>
            <a:r>
              <a:rPr lang="en-US" altLang="en-US" sz="1200"/>
              <a:t>Word A = 01 23 45 67</a:t>
            </a:r>
          </a:p>
          <a:p>
            <a:pPr eaLnBrk="1" hangingPunct="1">
              <a:spcBef>
                <a:spcPct val="0"/>
              </a:spcBef>
              <a:buClrTx/>
              <a:buSzTx/>
              <a:buFontTx/>
              <a:buNone/>
            </a:pPr>
            <a:r>
              <a:rPr lang="en-US" altLang="en-US" sz="1200"/>
              <a:t>Word B = 89 AB CD EF</a:t>
            </a:r>
          </a:p>
          <a:p>
            <a:pPr eaLnBrk="1" hangingPunct="1">
              <a:spcBef>
                <a:spcPct val="0"/>
              </a:spcBef>
              <a:buClrTx/>
              <a:buSzTx/>
              <a:buFontTx/>
              <a:buNone/>
            </a:pPr>
            <a:r>
              <a:rPr lang="en-US" altLang="en-US" sz="1200"/>
              <a:t>Word C = FE DC BA 98</a:t>
            </a:r>
          </a:p>
          <a:p>
            <a:pPr eaLnBrk="1" hangingPunct="1">
              <a:spcBef>
                <a:spcPct val="0"/>
              </a:spcBef>
              <a:buClrTx/>
              <a:buSzTx/>
              <a:buFontTx/>
              <a:buNone/>
            </a:pPr>
            <a:r>
              <a:rPr lang="en-US" altLang="en-US" sz="1200"/>
              <a:t>Word D = 76 54 32 10</a:t>
            </a:r>
          </a:p>
        </p:txBody>
      </p:sp>
      <p:sp>
        <p:nvSpPr>
          <p:cNvPr id="53255" name="Rectangle 5">
            <a:extLst>
              <a:ext uri="{FF2B5EF4-FFF2-40B4-BE49-F238E27FC236}">
                <a16:creationId xmlns:a16="http://schemas.microsoft.com/office/drawing/2014/main" id="{044FBE4E-E866-3544-D794-CBA234B7BA9D}"/>
              </a:ext>
            </a:extLst>
          </p:cNvPr>
          <p:cNvSpPr>
            <a:spLocks noChangeArrowheads="1"/>
          </p:cNvSpPr>
          <p:nvPr/>
        </p:nvSpPr>
        <p:spPr bwMode="auto">
          <a:xfrm>
            <a:off x="1295400" y="4495800"/>
            <a:ext cx="1143000" cy="1143000"/>
          </a:xfrm>
          <a:prstGeom prst="rect">
            <a:avLst/>
          </a:prstGeom>
          <a:noFill/>
          <a:ln w="19050">
            <a:solidFill>
              <a:srgbClr val="FF0000"/>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277520F-1A77-5A54-B68E-FA696B6C1213}"/>
              </a:ext>
            </a:extLst>
          </p:cNvPr>
          <p:cNvSpPr>
            <a:spLocks noGrp="1"/>
          </p:cNvSpPr>
          <p:nvPr>
            <p:ph type="title"/>
          </p:nvPr>
        </p:nvSpPr>
        <p:spPr/>
        <p:txBody>
          <a:bodyPr/>
          <a:lstStyle/>
          <a:p>
            <a:pPr eaLnBrk="1" hangingPunct="1"/>
            <a:r>
              <a:rPr lang="en-US" altLang="en-US" sz="3600">
                <a:latin typeface="Calibri" panose="020F0502020204030204" pitchFamily="34" charset="0"/>
                <a:ea typeface="ＭＳ Ｐゴシック" panose="020B0600070205080204" pitchFamily="34" charset="-128"/>
                <a:cs typeface="Calibri" panose="020F0502020204030204" pitchFamily="34" charset="0"/>
              </a:rPr>
              <a:t>		Hash Algorithm Design </a:t>
            </a:r>
            <a:r>
              <a:rPr lang="en-US" altLang="en-US" sz="3600">
                <a:latin typeface="Times New Roman" panose="02020603050405020304" pitchFamily="18" charset="0"/>
                <a:ea typeface="ＭＳ Ｐゴシック" panose="020B0600070205080204" pitchFamily="34" charset="-128"/>
                <a:cs typeface="Calibri" panose="020F0502020204030204" pitchFamily="34" charset="0"/>
              </a:rPr>
              <a:t>–</a:t>
            </a:r>
            <a:r>
              <a:rPr lang="en-US" altLang="en-US" sz="3600">
                <a:latin typeface="Calibri" panose="020F0502020204030204" pitchFamily="34" charset="0"/>
                <a:ea typeface="ＭＳ Ｐゴシック" panose="020B0600070205080204" pitchFamily="34" charset="-128"/>
                <a:cs typeface="Calibri" panose="020F0502020204030204" pitchFamily="34" charset="0"/>
              </a:rPr>
              <a:t> MD5</a:t>
            </a:r>
          </a:p>
        </p:txBody>
      </p:sp>
      <p:pic>
        <p:nvPicPr>
          <p:cNvPr id="55299" name="Picture 3">
            <a:extLst>
              <a:ext uri="{FF2B5EF4-FFF2-40B4-BE49-F238E27FC236}">
                <a16:creationId xmlns:a16="http://schemas.microsoft.com/office/drawing/2014/main" id="{C183385C-E12D-E968-D548-83E564CF12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295400"/>
            <a:ext cx="340995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0" name="Picture 4">
            <a:extLst>
              <a:ext uri="{FF2B5EF4-FFF2-40B4-BE49-F238E27FC236}">
                <a16:creationId xmlns:a16="http://schemas.microsoft.com/office/drawing/2014/main" id="{0A556251-1948-C643-5C02-8E582CAF7B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524000"/>
            <a:ext cx="3886200" cy="48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pic>
      <p:sp>
        <p:nvSpPr>
          <p:cNvPr id="55301" name="AutoShape 5">
            <a:extLst>
              <a:ext uri="{FF2B5EF4-FFF2-40B4-BE49-F238E27FC236}">
                <a16:creationId xmlns:a16="http://schemas.microsoft.com/office/drawing/2014/main" id="{E0370849-642D-A664-16CF-9842C6B33AEF}"/>
              </a:ext>
            </a:extLst>
          </p:cNvPr>
          <p:cNvSpPr>
            <a:spLocks noChangeArrowheads="1"/>
          </p:cNvSpPr>
          <p:nvPr/>
        </p:nvSpPr>
        <p:spPr bwMode="auto">
          <a:xfrm>
            <a:off x="914400" y="1295400"/>
            <a:ext cx="4724400" cy="5334000"/>
          </a:xfrm>
          <a:prstGeom prst="roundRect">
            <a:avLst>
              <a:gd name="adj" fmla="val 16667"/>
            </a:avLst>
          </a:prstGeom>
          <a:noFill/>
          <a:ln w="1905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sp>
        <p:nvSpPr>
          <p:cNvPr id="55302" name="AutoShape 6">
            <a:extLst>
              <a:ext uri="{FF2B5EF4-FFF2-40B4-BE49-F238E27FC236}">
                <a16:creationId xmlns:a16="http://schemas.microsoft.com/office/drawing/2014/main" id="{0F6C631A-BBD0-8584-1347-58A05E877A06}"/>
              </a:ext>
            </a:extLst>
          </p:cNvPr>
          <p:cNvSpPr>
            <a:spLocks noChangeArrowheads="1"/>
          </p:cNvSpPr>
          <p:nvPr/>
        </p:nvSpPr>
        <p:spPr bwMode="auto">
          <a:xfrm>
            <a:off x="7162800" y="2590800"/>
            <a:ext cx="685800" cy="685800"/>
          </a:xfrm>
          <a:prstGeom prst="roundRect">
            <a:avLst>
              <a:gd name="adj" fmla="val 16667"/>
            </a:avLst>
          </a:prstGeom>
          <a:noFill/>
          <a:ln w="1905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sp>
        <p:nvSpPr>
          <p:cNvPr id="55303" name="Line 7">
            <a:extLst>
              <a:ext uri="{FF2B5EF4-FFF2-40B4-BE49-F238E27FC236}">
                <a16:creationId xmlns:a16="http://schemas.microsoft.com/office/drawing/2014/main" id="{1DF6CC2B-228F-7A0D-0CF0-8B730CAC54C2}"/>
              </a:ext>
            </a:extLst>
          </p:cNvPr>
          <p:cNvSpPr>
            <a:spLocks noChangeShapeType="1"/>
          </p:cNvSpPr>
          <p:nvPr/>
        </p:nvSpPr>
        <p:spPr bwMode="auto">
          <a:xfrm flipH="1">
            <a:off x="5638800" y="3200400"/>
            <a:ext cx="1524000" cy="228600"/>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en-IN"/>
          </a:p>
        </p:txBody>
      </p:sp>
      <p:sp>
        <p:nvSpPr>
          <p:cNvPr id="55304" name="AutoShape 8">
            <a:extLst>
              <a:ext uri="{FF2B5EF4-FFF2-40B4-BE49-F238E27FC236}">
                <a16:creationId xmlns:a16="http://schemas.microsoft.com/office/drawing/2014/main" id="{0E3A33EF-0244-98B2-C1AB-1992F83E7C53}"/>
              </a:ext>
            </a:extLst>
          </p:cNvPr>
          <p:cNvSpPr>
            <a:spLocks noChangeArrowheads="1"/>
          </p:cNvSpPr>
          <p:nvPr/>
        </p:nvSpPr>
        <p:spPr bwMode="auto">
          <a:xfrm>
            <a:off x="2133600" y="2286000"/>
            <a:ext cx="1905000" cy="533400"/>
          </a:xfrm>
          <a:prstGeom prst="roundRect">
            <a:avLst>
              <a:gd name="adj" fmla="val 16667"/>
            </a:avLst>
          </a:prstGeom>
          <a:noFill/>
          <a:ln w="25400">
            <a:solidFill>
              <a:srgbClr val="00FF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pic>
        <p:nvPicPr>
          <p:cNvPr id="55305" name="Picture 9">
            <a:extLst>
              <a:ext uri="{FF2B5EF4-FFF2-40B4-BE49-F238E27FC236}">
                <a16:creationId xmlns:a16="http://schemas.microsoft.com/office/drawing/2014/main" id="{33F12387-C428-E01D-F656-2DAB6E74C3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0963" y="3844925"/>
            <a:ext cx="2713037"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pic>
      <p:sp>
        <p:nvSpPr>
          <p:cNvPr id="55306" name="AutoShape 10">
            <a:extLst>
              <a:ext uri="{FF2B5EF4-FFF2-40B4-BE49-F238E27FC236}">
                <a16:creationId xmlns:a16="http://schemas.microsoft.com/office/drawing/2014/main" id="{A91CB5C0-E058-7D83-1199-1A7D3A128B03}"/>
              </a:ext>
            </a:extLst>
          </p:cNvPr>
          <p:cNvSpPr>
            <a:spLocks noChangeArrowheads="1"/>
          </p:cNvSpPr>
          <p:nvPr/>
        </p:nvSpPr>
        <p:spPr bwMode="auto">
          <a:xfrm>
            <a:off x="6400800" y="3657600"/>
            <a:ext cx="2743200" cy="3200400"/>
          </a:xfrm>
          <a:prstGeom prst="roundRect">
            <a:avLst>
              <a:gd name="adj" fmla="val 11319"/>
            </a:avLst>
          </a:prstGeom>
          <a:noFill/>
          <a:ln w="25400">
            <a:solidFill>
              <a:srgbClr val="00FF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sp>
        <p:nvSpPr>
          <p:cNvPr id="55307" name="Line 11">
            <a:extLst>
              <a:ext uri="{FF2B5EF4-FFF2-40B4-BE49-F238E27FC236}">
                <a16:creationId xmlns:a16="http://schemas.microsoft.com/office/drawing/2014/main" id="{94A251D3-7BA4-6E35-CE22-06873ED64CFB}"/>
              </a:ext>
            </a:extLst>
          </p:cNvPr>
          <p:cNvSpPr>
            <a:spLocks noChangeShapeType="1"/>
          </p:cNvSpPr>
          <p:nvPr/>
        </p:nvSpPr>
        <p:spPr bwMode="auto">
          <a:xfrm>
            <a:off x="4038600" y="2819400"/>
            <a:ext cx="2362200" cy="1143000"/>
          </a:xfrm>
          <a:prstGeom prst="line">
            <a:avLst/>
          </a:prstGeom>
          <a:noFill/>
          <a:ln w="19050">
            <a:solidFill>
              <a:srgbClr val="00FF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en-IN"/>
          </a:p>
        </p:txBody>
      </p:sp>
      <p:sp>
        <p:nvSpPr>
          <p:cNvPr id="55308" name="Text Box 12">
            <a:extLst>
              <a:ext uri="{FF2B5EF4-FFF2-40B4-BE49-F238E27FC236}">
                <a16:creationId xmlns:a16="http://schemas.microsoft.com/office/drawing/2014/main" id="{30775885-5594-190B-15D2-7D41D3F4F602}"/>
              </a:ext>
            </a:extLst>
          </p:cNvPr>
          <p:cNvSpPr txBox="1">
            <a:spLocks noChangeArrowheads="1"/>
          </p:cNvSpPr>
          <p:nvPr/>
        </p:nvSpPr>
        <p:spPr bwMode="auto">
          <a:xfrm>
            <a:off x="7315200" y="3625850"/>
            <a:ext cx="873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600"/>
              <a:t>16 steps</a:t>
            </a:r>
          </a:p>
        </p:txBody>
      </p:sp>
      <p:sp>
        <p:nvSpPr>
          <p:cNvPr id="55309" name="Text Box 13">
            <a:extLst>
              <a:ext uri="{FF2B5EF4-FFF2-40B4-BE49-F238E27FC236}">
                <a16:creationId xmlns:a16="http://schemas.microsoft.com/office/drawing/2014/main" id="{529154FA-520E-7A99-2498-3B5A7D3599C4}"/>
              </a:ext>
            </a:extLst>
          </p:cNvPr>
          <p:cNvSpPr txBox="1">
            <a:spLocks noChangeArrowheads="1"/>
          </p:cNvSpPr>
          <p:nvPr/>
        </p:nvSpPr>
        <p:spPr bwMode="auto">
          <a:xfrm>
            <a:off x="4419600" y="5334000"/>
            <a:ext cx="2127250" cy="276225"/>
          </a:xfrm>
          <a:prstGeom prst="rect">
            <a:avLst/>
          </a:prstGeom>
          <a:solidFill>
            <a:srgbClr val="FFFF00"/>
          </a:solidFill>
          <a:ln w="19050">
            <a:solidFill>
              <a:schemeClr val="tx1"/>
            </a:solidFill>
            <a:miter lim="800000"/>
            <a:headEnd/>
            <a:tailEnd type="none" w="sm" len="lg"/>
          </a:ln>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200"/>
              <a:t>Constructed from sine function</a:t>
            </a:r>
          </a:p>
        </p:txBody>
      </p:sp>
      <p:sp>
        <p:nvSpPr>
          <p:cNvPr id="55310" name="Line 14">
            <a:extLst>
              <a:ext uri="{FF2B5EF4-FFF2-40B4-BE49-F238E27FC236}">
                <a16:creationId xmlns:a16="http://schemas.microsoft.com/office/drawing/2014/main" id="{817E767E-D69A-40D4-914B-3928D5DF5AE6}"/>
              </a:ext>
            </a:extLst>
          </p:cNvPr>
          <p:cNvSpPr>
            <a:spLocks noChangeShapeType="1"/>
          </p:cNvSpPr>
          <p:nvPr/>
        </p:nvSpPr>
        <p:spPr bwMode="auto">
          <a:xfrm flipV="1">
            <a:off x="6172200" y="5181600"/>
            <a:ext cx="304800" cy="152400"/>
          </a:xfrm>
          <a:prstGeom prst="line">
            <a:avLst/>
          </a:prstGeom>
          <a:noFill/>
          <a:ln w="19050">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en-IN"/>
          </a:p>
        </p:txBody>
      </p:sp>
      <p:sp>
        <p:nvSpPr>
          <p:cNvPr id="55311" name="Freeform 15">
            <a:extLst>
              <a:ext uri="{FF2B5EF4-FFF2-40B4-BE49-F238E27FC236}">
                <a16:creationId xmlns:a16="http://schemas.microsoft.com/office/drawing/2014/main" id="{DD26DDCE-EE2C-BFEC-3290-2AA1E9D6CD15}"/>
              </a:ext>
            </a:extLst>
          </p:cNvPr>
          <p:cNvSpPr>
            <a:spLocks/>
          </p:cNvSpPr>
          <p:nvPr/>
        </p:nvSpPr>
        <p:spPr bwMode="auto">
          <a:xfrm>
            <a:off x="1905000" y="2514600"/>
            <a:ext cx="4495800" cy="2286000"/>
          </a:xfrm>
          <a:custGeom>
            <a:avLst/>
            <a:gdLst>
              <a:gd name="T0" fmla="*/ 0 w 2832"/>
              <a:gd name="T1" fmla="*/ 0 h 1440"/>
              <a:gd name="T2" fmla="*/ 2147483646 w 2832"/>
              <a:gd name="T3" fmla="*/ 2147483646 h 1440"/>
              <a:gd name="T4" fmla="*/ 2147483646 w 2832"/>
              <a:gd name="T5" fmla="*/ 2147483646 h 1440"/>
              <a:gd name="T6" fmla="*/ 0 60000 65536"/>
              <a:gd name="T7" fmla="*/ 0 60000 65536"/>
              <a:gd name="T8" fmla="*/ 0 60000 65536"/>
              <a:gd name="T9" fmla="*/ 0 w 2832"/>
              <a:gd name="T10" fmla="*/ 0 h 1440"/>
              <a:gd name="T11" fmla="*/ 2832 w 2832"/>
              <a:gd name="T12" fmla="*/ 1440 h 1440"/>
            </a:gdLst>
            <a:ahLst/>
            <a:cxnLst>
              <a:cxn ang="T6">
                <a:pos x="T0" y="T1"/>
              </a:cxn>
              <a:cxn ang="T7">
                <a:pos x="T2" y="T3"/>
              </a:cxn>
              <a:cxn ang="T8">
                <a:pos x="T4" y="T5"/>
              </a:cxn>
            </a:cxnLst>
            <a:rect l="T9" t="T10" r="T11" b="T12"/>
            <a:pathLst>
              <a:path w="2832" h="1440">
                <a:moveTo>
                  <a:pt x="0" y="0"/>
                </a:moveTo>
                <a:cubicBezTo>
                  <a:pt x="700" y="456"/>
                  <a:pt x="1400" y="912"/>
                  <a:pt x="1872" y="1152"/>
                </a:cubicBezTo>
                <a:cubicBezTo>
                  <a:pt x="2344" y="1392"/>
                  <a:pt x="2672" y="1392"/>
                  <a:pt x="2832" y="1440"/>
                </a:cubicBezTo>
              </a:path>
            </a:pathLst>
          </a:custGeom>
          <a:noFill/>
          <a:ln w="19050">
            <a:solidFill>
              <a:schemeClr val="tx1"/>
            </a:solidFill>
            <a:round/>
            <a:headEnd/>
            <a:tailEnd type="stealth" w="sm" len="lg"/>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55312" name="Text Box 16">
            <a:extLst>
              <a:ext uri="{FF2B5EF4-FFF2-40B4-BE49-F238E27FC236}">
                <a16:creationId xmlns:a16="http://schemas.microsoft.com/office/drawing/2014/main" id="{F484C68D-1415-B950-217B-15A8589A9AB7}"/>
              </a:ext>
            </a:extLst>
          </p:cNvPr>
          <p:cNvSpPr txBox="1">
            <a:spLocks noChangeArrowheads="1"/>
          </p:cNvSpPr>
          <p:nvPr/>
        </p:nvSpPr>
        <p:spPr bwMode="auto">
          <a:xfrm>
            <a:off x="4343400" y="4267200"/>
            <a:ext cx="2282825" cy="276225"/>
          </a:xfrm>
          <a:prstGeom prst="rect">
            <a:avLst/>
          </a:prstGeom>
          <a:solidFill>
            <a:srgbClr val="FFFF00"/>
          </a:solidFill>
          <a:ln w="19050">
            <a:solidFill>
              <a:schemeClr val="tx1"/>
            </a:solidFill>
            <a:miter lim="800000"/>
            <a:headEnd/>
            <a:tailEnd type="none" w="sm" len="lg"/>
          </a:ln>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200"/>
              <a:t>X[k] = M [q*16+k] (32 bit)</a:t>
            </a:r>
          </a:p>
        </p:txBody>
      </p:sp>
      <p:pic>
        <p:nvPicPr>
          <p:cNvPr id="55313" name="Picture 17">
            <a:extLst>
              <a:ext uri="{FF2B5EF4-FFF2-40B4-BE49-F238E27FC236}">
                <a16:creationId xmlns:a16="http://schemas.microsoft.com/office/drawing/2014/main" id="{F38868E9-79CF-C6B3-7221-3474377C81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0"/>
            <a:ext cx="1909763"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pic>
      <p:sp>
        <p:nvSpPr>
          <p:cNvPr id="55314" name="Line 18">
            <a:extLst>
              <a:ext uri="{FF2B5EF4-FFF2-40B4-BE49-F238E27FC236}">
                <a16:creationId xmlns:a16="http://schemas.microsoft.com/office/drawing/2014/main" id="{94F2A4EB-4717-9B46-C013-1B008A2C206E}"/>
              </a:ext>
            </a:extLst>
          </p:cNvPr>
          <p:cNvSpPr>
            <a:spLocks noChangeShapeType="1"/>
          </p:cNvSpPr>
          <p:nvPr/>
        </p:nvSpPr>
        <p:spPr bwMode="auto">
          <a:xfrm>
            <a:off x="1905000" y="914400"/>
            <a:ext cx="6019800" cy="3429000"/>
          </a:xfrm>
          <a:prstGeom prst="line">
            <a:avLst/>
          </a:prstGeom>
          <a:noFill/>
          <a:ln w="19050">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en-IN"/>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3">
            <a:extLst>
              <a:ext uri="{FF2B5EF4-FFF2-40B4-BE49-F238E27FC236}">
                <a16:creationId xmlns:a16="http://schemas.microsoft.com/office/drawing/2014/main" id="{CB87274D-7FCE-5B42-2748-606123891F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588" y="2438400"/>
            <a:ext cx="3357562" cy="4419600"/>
          </a:xfrm>
          <a:prstGeom prst="rect">
            <a:avLst/>
          </a:prstGeom>
          <a:noFill/>
          <a:ln w="19050">
            <a:solidFill>
              <a:schemeClr val="tx1"/>
            </a:solidFill>
            <a:miter lim="800000"/>
            <a:headEnd/>
            <a:tailEnd type="none" w="sm" len="lg"/>
          </a:ln>
          <a:extLst>
            <a:ext uri="{909E8E84-426E-40DD-AFC4-6F175D3DCCD1}">
              <a14:hiddenFill xmlns:a14="http://schemas.microsoft.com/office/drawing/2010/main">
                <a:solidFill>
                  <a:srgbClr val="FFFFFF"/>
                </a:solidFill>
              </a14:hiddenFill>
            </a:ext>
          </a:extLst>
        </p:spPr>
      </p:pic>
      <p:sp>
        <p:nvSpPr>
          <p:cNvPr id="57347" name="Rectangle 9">
            <a:extLst>
              <a:ext uri="{FF2B5EF4-FFF2-40B4-BE49-F238E27FC236}">
                <a16:creationId xmlns:a16="http://schemas.microsoft.com/office/drawing/2014/main" id="{97ADCD76-DB51-E209-5159-FC56E15D457B}"/>
              </a:ext>
            </a:extLst>
          </p:cNvPr>
          <p:cNvSpPr>
            <a:spLocks noChangeArrowheads="1"/>
          </p:cNvSpPr>
          <p:nvPr/>
        </p:nvSpPr>
        <p:spPr bwMode="auto">
          <a:xfrm>
            <a:off x="6400800" y="3124200"/>
            <a:ext cx="1752600" cy="457200"/>
          </a:xfrm>
          <a:prstGeom prst="rect">
            <a:avLst/>
          </a:prstGeom>
          <a:noFill/>
          <a:ln w="19050">
            <a:solidFill>
              <a:srgbClr val="FF0000"/>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pic>
        <p:nvPicPr>
          <p:cNvPr id="57348" name="Picture 10">
            <a:extLst>
              <a:ext uri="{FF2B5EF4-FFF2-40B4-BE49-F238E27FC236}">
                <a16:creationId xmlns:a16="http://schemas.microsoft.com/office/drawing/2014/main" id="{12172A37-E61E-E7EB-7C8B-83C8D86613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513" y="1981200"/>
            <a:ext cx="4332287" cy="4821238"/>
          </a:xfrm>
          <a:prstGeom prst="rect">
            <a:avLst/>
          </a:prstGeom>
          <a:noFill/>
          <a:ln w="19050">
            <a:solidFill>
              <a:srgbClr val="FF0000"/>
            </a:solidFill>
            <a:miter lim="800000"/>
            <a:headEnd/>
            <a:tailEnd type="none" w="sm" len="lg"/>
          </a:ln>
          <a:extLst>
            <a:ext uri="{909E8E84-426E-40DD-AFC4-6F175D3DCCD1}">
              <a14:hiddenFill xmlns:a14="http://schemas.microsoft.com/office/drawing/2010/main">
                <a:solidFill>
                  <a:srgbClr val="FFFFFF"/>
                </a:solidFill>
              </a14:hiddenFill>
            </a:ext>
          </a:extLst>
        </p:spPr>
      </p:pic>
      <p:sp>
        <p:nvSpPr>
          <p:cNvPr id="57349" name="Line 11">
            <a:extLst>
              <a:ext uri="{FF2B5EF4-FFF2-40B4-BE49-F238E27FC236}">
                <a16:creationId xmlns:a16="http://schemas.microsoft.com/office/drawing/2014/main" id="{4C516B24-0D5F-02C9-E585-0D12C41C9520}"/>
              </a:ext>
            </a:extLst>
          </p:cNvPr>
          <p:cNvSpPr>
            <a:spLocks noChangeShapeType="1"/>
          </p:cNvSpPr>
          <p:nvPr/>
        </p:nvSpPr>
        <p:spPr bwMode="auto">
          <a:xfrm flipH="1">
            <a:off x="4495800" y="3276600"/>
            <a:ext cx="1905000" cy="381000"/>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en-IN"/>
          </a:p>
        </p:txBody>
      </p:sp>
      <p:sp>
        <p:nvSpPr>
          <p:cNvPr id="57350" name="AutoShape 12">
            <a:extLst>
              <a:ext uri="{FF2B5EF4-FFF2-40B4-BE49-F238E27FC236}">
                <a16:creationId xmlns:a16="http://schemas.microsoft.com/office/drawing/2014/main" id="{2F927217-8017-0552-77F1-70ACF17EFF70}"/>
              </a:ext>
            </a:extLst>
          </p:cNvPr>
          <p:cNvSpPr>
            <a:spLocks noChangeArrowheads="1"/>
          </p:cNvSpPr>
          <p:nvPr/>
        </p:nvSpPr>
        <p:spPr bwMode="auto">
          <a:xfrm>
            <a:off x="228600" y="3886200"/>
            <a:ext cx="762000" cy="381000"/>
          </a:xfrm>
          <a:prstGeom prst="roundRect">
            <a:avLst>
              <a:gd name="adj" fmla="val 16667"/>
            </a:avLst>
          </a:prstGeom>
          <a:noFill/>
          <a:ln w="19050">
            <a:solidFill>
              <a:srgbClr val="33CC33"/>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sp>
        <p:nvSpPr>
          <p:cNvPr id="57351" name="Line 13">
            <a:extLst>
              <a:ext uri="{FF2B5EF4-FFF2-40B4-BE49-F238E27FC236}">
                <a16:creationId xmlns:a16="http://schemas.microsoft.com/office/drawing/2014/main" id="{A634332E-0ED7-81B4-889B-5D5B96D6B1E6}"/>
              </a:ext>
            </a:extLst>
          </p:cNvPr>
          <p:cNvSpPr>
            <a:spLocks noChangeShapeType="1"/>
          </p:cNvSpPr>
          <p:nvPr/>
        </p:nvSpPr>
        <p:spPr bwMode="auto">
          <a:xfrm flipV="1">
            <a:off x="304800" y="685800"/>
            <a:ext cx="0" cy="3200400"/>
          </a:xfrm>
          <a:prstGeom prst="line">
            <a:avLst/>
          </a:prstGeom>
          <a:noFill/>
          <a:ln w="19050">
            <a:solidFill>
              <a:srgbClr val="33CC33"/>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en-IN"/>
          </a:p>
        </p:txBody>
      </p:sp>
      <p:sp>
        <p:nvSpPr>
          <p:cNvPr id="57352" name="Text Box 14">
            <a:extLst>
              <a:ext uri="{FF2B5EF4-FFF2-40B4-BE49-F238E27FC236}">
                <a16:creationId xmlns:a16="http://schemas.microsoft.com/office/drawing/2014/main" id="{E39CC5EB-1475-17A5-62C0-402F1DD86F34}"/>
              </a:ext>
            </a:extLst>
          </p:cNvPr>
          <p:cNvSpPr txBox="1">
            <a:spLocks noChangeArrowheads="1"/>
          </p:cNvSpPr>
          <p:nvPr/>
        </p:nvSpPr>
        <p:spPr bwMode="auto">
          <a:xfrm>
            <a:off x="228600" y="304800"/>
            <a:ext cx="6364288" cy="369888"/>
          </a:xfrm>
          <a:prstGeom prst="rect">
            <a:avLst/>
          </a:prstGeom>
          <a:noFill/>
          <a:ln w="19050">
            <a:solidFill>
              <a:srgbClr val="33CC33"/>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t>The ith 32-bit word in matrix T, constructed from the sine function</a:t>
            </a:r>
          </a:p>
        </p:txBody>
      </p:sp>
      <p:sp>
        <p:nvSpPr>
          <p:cNvPr id="57353" name="AutoShape 15">
            <a:extLst>
              <a:ext uri="{FF2B5EF4-FFF2-40B4-BE49-F238E27FC236}">
                <a16:creationId xmlns:a16="http://schemas.microsoft.com/office/drawing/2014/main" id="{D7692722-9085-0BF3-8D68-64E7D5BF2264}"/>
              </a:ext>
            </a:extLst>
          </p:cNvPr>
          <p:cNvSpPr>
            <a:spLocks noChangeArrowheads="1"/>
          </p:cNvSpPr>
          <p:nvPr/>
        </p:nvSpPr>
        <p:spPr bwMode="auto">
          <a:xfrm>
            <a:off x="381000" y="3276600"/>
            <a:ext cx="533400" cy="381000"/>
          </a:xfrm>
          <a:prstGeom prst="roundRect">
            <a:avLst>
              <a:gd name="adj" fmla="val 16667"/>
            </a:avLst>
          </a:prstGeom>
          <a:noFill/>
          <a:ln w="19050">
            <a:solidFill>
              <a:srgbClr val="FF66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sp>
        <p:nvSpPr>
          <p:cNvPr id="57354" name="Line 16">
            <a:extLst>
              <a:ext uri="{FF2B5EF4-FFF2-40B4-BE49-F238E27FC236}">
                <a16:creationId xmlns:a16="http://schemas.microsoft.com/office/drawing/2014/main" id="{533CD733-D305-B94E-C5FD-F3575BA2BB10}"/>
              </a:ext>
            </a:extLst>
          </p:cNvPr>
          <p:cNvSpPr>
            <a:spLocks noChangeShapeType="1"/>
          </p:cNvSpPr>
          <p:nvPr/>
        </p:nvSpPr>
        <p:spPr bwMode="auto">
          <a:xfrm flipV="1">
            <a:off x="685800" y="1143000"/>
            <a:ext cx="0" cy="2133600"/>
          </a:xfrm>
          <a:prstGeom prst="line">
            <a:avLst/>
          </a:prstGeom>
          <a:noFill/>
          <a:ln w="19050">
            <a:solidFill>
              <a:srgbClr val="FF66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en-IN"/>
          </a:p>
        </p:txBody>
      </p:sp>
      <p:sp>
        <p:nvSpPr>
          <p:cNvPr id="57355" name="Text Box 17">
            <a:extLst>
              <a:ext uri="{FF2B5EF4-FFF2-40B4-BE49-F238E27FC236}">
                <a16:creationId xmlns:a16="http://schemas.microsoft.com/office/drawing/2014/main" id="{F21BFE9A-1E23-2F6A-DC63-04E9E11E95DC}"/>
              </a:ext>
            </a:extLst>
          </p:cNvPr>
          <p:cNvSpPr txBox="1">
            <a:spLocks noChangeArrowheads="1"/>
          </p:cNvSpPr>
          <p:nvPr/>
        </p:nvSpPr>
        <p:spPr bwMode="auto">
          <a:xfrm>
            <a:off x="458788" y="762000"/>
            <a:ext cx="6861175" cy="369888"/>
          </a:xfrm>
          <a:prstGeom prst="rect">
            <a:avLst/>
          </a:prstGeom>
          <a:noFill/>
          <a:ln w="19050">
            <a:solidFill>
              <a:srgbClr val="FF6600"/>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t>M [q*16+k] = the kth 32-bit word from the qth 512-bit block of the msg</a:t>
            </a:r>
          </a:p>
        </p:txBody>
      </p:sp>
      <p:sp>
        <p:nvSpPr>
          <p:cNvPr id="57356" name="Text Box 18">
            <a:extLst>
              <a:ext uri="{FF2B5EF4-FFF2-40B4-BE49-F238E27FC236}">
                <a16:creationId xmlns:a16="http://schemas.microsoft.com/office/drawing/2014/main" id="{55414AA5-920E-0A1D-082C-1861B662AE43}"/>
              </a:ext>
            </a:extLst>
          </p:cNvPr>
          <p:cNvSpPr txBox="1">
            <a:spLocks noChangeArrowheads="1"/>
          </p:cNvSpPr>
          <p:nvPr/>
        </p:nvSpPr>
        <p:spPr bwMode="auto">
          <a:xfrm>
            <a:off x="4495800" y="3733800"/>
            <a:ext cx="1192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F0000"/>
                </a:solidFill>
              </a:rPr>
              <a:t>Single step</a:t>
            </a:r>
          </a:p>
        </p:txBody>
      </p:sp>
      <p:sp>
        <p:nvSpPr>
          <p:cNvPr id="57357" name="AutoShape 19">
            <a:extLst>
              <a:ext uri="{FF2B5EF4-FFF2-40B4-BE49-F238E27FC236}">
                <a16:creationId xmlns:a16="http://schemas.microsoft.com/office/drawing/2014/main" id="{E45F6927-7C57-28C7-0CEB-831EAA00E240}"/>
              </a:ext>
            </a:extLst>
          </p:cNvPr>
          <p:cNvSpPr>
            <a:spLocks noChangeArrowheads="1"/>
          </p:cNvSpPr>
          <p:nvPr/>
        </p:nvSpPr>
        <p:spPr bwMode="auto">
          <a:xfrm>
            <a:off x="2514600" y="2743200"/>
            <a:ext cx="533400" cy="381000"/>
          </a:xfrm>
          <a:prstGeom prst="roundRect">
            <a:avLst>
              <a:gd name="adj" fmla="val 16667"/>
            </a:avLst>
          </a:prstGeom>
          <a:noFill/>
          <a:ln w="19050">
            <a:solidFill>
              <a:srgbClr val="0066FF"/>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p>
        </p:txBody>
      </p:sp>
      <p:sp>
        <p:nvSpPr>
          <p:cNvPr id="57358" name="Line 20">
            <a:extLst>
              <a:ext uri="{FF2B5EF4-FFF2-40B4-BE49-F238E27FC236}">
                <a16:creationId xmlns:a16="http://schemas.microsoft.com/office/drawing/2014/main" id="{1B9FEC4B-9027-4536-1DB7-51ED6D1D8327}"/>
              </a:ext>
            </a:extLst>
          </p:cNvPr>
          <p:cNvSpPr>
            <a:spLocks noChangeShapeType="1"/>
          </p:cNvSpPr>
          <p:nvPr/>
        </p:nvSpPr>
        <p:spPr bwMode="auto">
          <a:xfrm flipV="1">
            <a:off x="2819400" y="1600200"/>
            <a:ext cx="1828800" cy="1143000"/>
          </a:xfrm>
          <a:prstGeom prst="line">
            <a:avLst/>
          </a:prstGeom>
          <a:noFill/>
          <a:ln w="19050">
            <a:solidFill>
              <a:srgbClr val="0066FF"/>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en-IN"/>
          </a:p>
        </p:txBody>
      </p:sp>
      <p:pic>
        <p:nvPicPr>
          <p:cNvPr id="57359" name="Picture 21">
            <a:extLst>
              <a:ext uri="{FF2B5EF4-FFF2-40B4-BE49-F238E27FC236}">
                <a16:creationId xmlns:a16="http://schemas.microsoft.com/office/drawing/2014/main" id="{4F4F986C-EBBA-B171-C34C-EB3D02130E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219200"/>
            <a:ext cx="2133600" cy="1087438"/>
          </a:xfrm>
          <a:prstGeom prst="rect">
            <a:avLst/>
          </a:prstGeom>
          <a:noFill/>
          <a:ln w="9525">
            <a:solidFill>
              <a:srgbClr val="00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75474605-BCFF-43DA-3A4E-83009872264F}"/>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Topics</a:t>
            </a:r>
          </a:p>
        </p:txBody>
      </p:sp>
      <p:sp>
        <p:nvSpPr>
          <p:cNvPr id="59395" name="Content Placeholder 2">
            <a:extLst>
              <a:ext uri="{FF2B5EF4-FFF2-40B4-BE49-F238E27FC236}">
                <a16:creationId xmlns:a16="http://schemas.microsoft.com/office/drawing/2014/main" id="{FDF13B8F-5067-9A88-B085-1D0E207F7D71}"/>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ea typeface="ＭＳ Ｐゴシック" panose="020B0600070205080204" pitchFamily="34" charset="-128"/>
              </a:rPr>
              <a:t>Overview of Cryptography Hash Function</a:t>
            </a:r>
          </a:p>
          <a:p>
            <a:r>
              <a:rPr lang="en-US" altLang="en-US">
                <a:latin typeface="Calibri" panose="020F0502020204030204" pitchFamily="34" charset="0"/>
                <a:ea typeface="ＭＳ Ｐゴシック" panose="020B0600070205080204" pitchFamily="34" charset="-128"/>
              </a:rPr>
              <a:t>Usages</a:t>
            </a:r>
          </a:p>
          <a:p>
            <a:r>
              <a:rPr lang="en-US" altLang="en-US">
                <a:latin typeface="Calibri" panose="020F0502020204030204" pitchFamily="34" charset="0"/>
                <a:ea typeface="ＭＳ Ｐゴシック" panose="020B0600070205080204" pitchFamily="34" charset="-128"/>
              </a:rPr>
              <a:t>Properties</a:t>
            </a:r>
          </a:p>
          <a:p>
            <a:r>
              <a:rPr lang="en-US" altLang="en-US" b="1">
                <a:latin typeface="Calibri" panose="020F0502020204030204" pitchFamily="34" charset="0"/>
                <a:ea typeface="ＭＳ Ｐゴシック" panose="020B0600070205080204" pitchFamily="34" charset="-128"/>
              </a:rPr>
              <a:t>Hashing Function Structure</a:t>
            </a:r>
          </a:p>
          <a:p>
            <a:pPr lvl="1"/>
            <a:r>
              <a:rPr lang="en-US" altLang="en-US">
                <a:latin typeface="Calibri" panose="020F0502020204030204" pitchFamily="34" charset="0"/>
                <a:ea typeface="ＭＳ Ｐゴシック" panose="020B0600070205080204" pitchFamily="34" charset="-128"/>
              </a:rPr>
              <a:t>MD5</a:t>
            </a:r>
          </a:p>
          <a:p>
            <a:pPr lvl="1"/>
            <a:r>
              <a:rPr lang="en-US" altLang="en-US" b="1">
                <a:latin typeface="Calibri" panose="020F0502020204030204" pitchFamily="34" charset="0"/>
                <a:ea typeface="ＭＳ Ｐゴシック" panose="020B0600070205080204" pitchFamily="34" charset="-128"/>
              </a:rPr>
              <a:t>SHA</a:t>
            </a:r>
          </a:p>
          <a:p>
            <a:r>
              <a:rPr lang="en-US" altLang="en-US">
                <a:latin typeface="Calibri" panose="020F0502020204030204" pitchFamily="34" charset="0"/>
                <a:ea typeface="ＭＳ Ｐゴシック" panose="020B0600070205080204" pitchFamily="34" charset="-128"/>
              </a:rPr>
              <a:t>Attack on Hash Function </a:t>
            </a:r>
          </a:p>
          <a:p>
            <a:r>
              <a:rPr lang="en-US" altLang="en-US">
                <a:latin typeface="Calibri" panose="020F0502020204030204" pitchFamily="34" charset="0"/>
                <a:ea typeface="ＭＳ Ｐゴシック" panose="020B0600070205080204" pitchFamily="34" charset="-128"/>
              </a:rPr>
              <a:t>The Road to new Secure Hash Standard</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0512E60-BAB6-15A6-B39C-3202A1EE08B7}"/>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Secure Hash Algorithm</a:t>
            </a:r>
            <a:endParaRPr lang="en-AU" altLang="en-US">
              <a:latin typeface="Calibri" panose="020F0502020204030204" pitchFamily="34" charset="0"/>
              <a:ea typeface="ＭＳ Ｐゴシック" panose="020B0600070205080204" pitchFamily="34" charset="-128"/>
              <a:cs typeface="Calibri" panose="020F0502020204030204" pitchFamily="34" charset="0"/>
            </a:endParaRPr>
          </a:p>
        </p:txBody>
      </p:sp>
      <p:sp>
        <p:nvSpPr>
          <p:cNvPr id="60419" name="Rectangle 3">
            <a:extLst>
              <a:ext uri="{FF2B5EF4-FFF2-40B4-BE49-F238E27FC236}">
                <a16:creationId xmlns:a16="http://schemas.microsoft.com/office/drawing/2014/main" id="{566FBB34-AF96-4F67-7A49-B09D466DFD47}"/>
              </a:ext>
            </a:extLst>
          </p:cNvPr>
          <p:cNvSpPr>
            <a:spLocks noGrp="1"/>
          </p:cNvSpPr>
          <p:nvPr>
            <p:ph sz="quarter" idx="1"/>
          </p:nvPr>
        </p:nvSpPr>
        <p:spPr>
          <a:xfrm>
            <a:off x="457200" y="1219200"/>
            <a:ext cx="8229600" cy="4937125"/>
          </a:xfrm>
        </p:spPr>
        <p:txBody>
          <a:bodyPr/>
          <a:lstStyle/>
          <a:p>
            <a:pPr eaLnBrk="1" hangingPunct="1">
              <a:buFont typeface="Wingdings" panose="05000000000000000000" pitchFamily="2" charset="2"/>
              <a:buChar char="Ø"/>
            </a:pPr>
            <a:r>
              <a:rPr lang="en-AU" altLang="en-US" sz="2400">
                <a:latin typeface="Calibri" panose="020F0502020204030204" pitchFamily="34" charset="0"/>
                <a:ea typeface="ＭＳ Ｐゴシック" panose="020B0600070205080204" pitchFamily="34" charset="-128"/>
              </a:rPr>
              <a:t>SHA originally designed by NIST &amp; NSA in 1993</a:t>
            </a:r>
          </a:p>
          <a:p>
            <a:pPr lvl="1" eaLnBrk="1" hangingPunct="1">
              <a:buFont typeface="Wingdings" panose="05000000000000000000" pitchFamily="2" charset="2"/>
              <a:buChar char="Ø"/>
            </a:pPr>
            <a:r>
              <a:rPr lang="en-AU" altLang="en-US" sz="2100">
                <a:latin typeface="Calibri" panose="020F0502020204030204" pitchFamily="34" charset="0"/>
                <a:ea typeface="ＭＳ Ｐゴシック" panose="020B0600070205080204" pitchFamily="34" charset="-128"/>
              </a:rPr>
              <a:t>revised in 1995 as SHA-1</a:t>
            </a:r>
          </a:p>
          <a:p>
            <a:pPr eaLnBrk="1" hangingPunct="1">
              <a:buFont typeface="Wingdings" panose="05000000000000000000" pitchFamily="2" charset="2"/>
              <a:buChar char="Ø"/>
            </a:pPr>
            <a:r>
              <a:rPr lang="en-AU" altLang="en-US" sz="2400">
                <a:latin typeface="Calibri" panose="020F0502020204030204" pitchFamily="34" charset="0"/>
                <a:ea typeface="ＭＳ Ｐゴシック" panose="020B0600070205080204" pitchFamily="34" charset="-128"/>
              </a:rPr>
              <a:t>US standard for use with DSA signature scheme </a:t>
            </a:r>
          </a:p>
          <a:p>
            <a:pPr lvl="1" eaLnBrk="1" hangingPunct="1">
              <a:buFont typeface="Wingdings" panose="05000000000000000000" pitchFamily="2" charset="2"/>
              <a:buChar char="l"/>
            </a:pPr>
            <a:r>
              <a:rPr lang="en-US" altLang="en-US" sz="2000">
                <a:latin typeface="Calibri" panose="020F0502020204030204" pitchFamily="34" charset="0"/>
                <a:ea typeface="ＭＳ Ｐゴシック" panose="020B0600070205080204" pitchFamily="34" charset="-128"/>
              </a:rPr>
              <a:t>standard is FIPS 180-1 1995, also Internet RFC3174</a:t>
            </a:r>
            <a:endParaRPr lang="en-AU" altLang="en-US" sz="2000">
              <a:latin typeface="Calibri" panose="020F0502020204030204" pitchFamily="34" charset="0"/>
              <a:ea typeface="ＭＳ Ｐゴシック" panose="020B0600070205080204" pitchFamily="34" charset="-128"/>
            </a:endParaRPr>
          </a:p>
          <a:p>
            <a:pPr lvl="1" eaLnBrk="1" hangingPunct="1">
              <a:buFont typeface="Wingdings" panose="05000000000000000000" pitchFamily="2" charset="2"/>
              <a:buChar char="Ø"/>
            </a:pPr>
            <a:r>
              <a:rPr lang="en-AU" altLang="en-US" sz="2100">
                <a:latin typeface="Calibri" panose="020F0502020204030204" pitchFamily="34" charset="0"/>
                <a:ea typeface="ＭＳ Ｐゴシック" panose="020B0600070205080204" pitchFamily="34" charset="-128"/>
              </a:rPr>
              <a:t>based on design of MD4 with key differences </a:t>
            </a:r>
          </a:p>
          <a:p>
            <a:pPr eaLnBrk="1" hangingPunct="1">
              <a:buFont typeface="Wingdings" panose="05000000000000000000" pitchFamily="2" charset="2"/>
              <a:buChar char="Ø"/>
            </a:pPr>
            <a:r>
              <a:rPr lang="en-AU" altLang="en-US" sz="2400">
                <a:latin typeface="Calibri" panose="020F0502020204030204" pitchFamily="34" charset="0"/>
                <a:ea typeface="ＭＳ Ｐゴシック" panose="020B0600070205080204" pitchFamily="34" charset="-128"/>
              </a:rPr>
              <a:t>produces 160-bit hash values </a:t>
            </a:r>
          </a:p>
          <a:p>
            <a:pPr eaLnBrk="1" hangingPunct="1">
              <a:buFont typeface="Wingdings" panose="05000000000000000000" pitchFamily="2" charset="2"/>
              <a:buChar char="Ø"/>
            </a:pPr>
            <a:r>
              <a:rPr lang="en-AU" altLang="en-US" sz="2400">
                <a:latin typeface="Calibri" panose="020F0502020204030204" pitchFamily="34" charset="0"/>
                <a:ea typeface="ＭＳ Ｐゴシック" panose="020B0600070205080204" pitchFamily="34" charset="-128"/>
              </a:rPr>
              <a:t>recent 2005 results on security of SHA-1 have raised concerns on its use in future applications</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5B8C6F20-6DBD-1519-12ED-59A5AF89932D}"/>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Revised SHA</a:t>
            </a:r>
            <a:endParaRPr lang="en-AU" altLang="en-US">
              <a:latin typeface="Calibri" panose="020F0502020204030204" pitchFamily="34" charset="0"/>
              <a:ea typeface="ＭＳ Ｐゴシック" panose="020B0600070205080204" pitchFamily="34" charset="-128"/>
              <a:cs typeface="Calibri" panose="020F0502020204030204" pitchFamily="34" charset="0"/>
            </a:endParaRPr>
          </a:p>
        </p:txBody>
      </p:sp>
      <p:sp>
        <p:nvSpPr>
          <p:cNvPr id="62467" name="Rectangle 3">
            <a:extLst>
              <a:ext uri="{FF2B5EF4-FFF2-40B4-BE49-F238E27FC236}">
                <a16:creationId xmlns:a16="http://schemas.microsoft.com/office/drawing/2014/main" id="{62D1CEAC-6F51-4882-6E7A-543B9B59E3C2}"/>
              </a:ext>
            </a:extLst>
          </p:cNvPr>
          <p:cNvSpPr>
            <a:spLocks noGrp="1"/>
          </p:cNvSpPr>
          <p:nvPr>
            <p:ph sz="quarter" idx="1"/>
          </p:nvPr>
        </p:nvSpPr>
        <p:spPr>
          <a:xfrm>
            <a:off x="457200" y="1219200"/>
            <a:ext cx="8229600" cy="4937125"/>
          </a:xfrm>
        </p:spPr>
        <p:txBody>
          <a:bodyPr/>
          <a:lstStyle/>
          <a:p>
            <a:pPr eaLnBrk="1" hangingPunct="1">
              <a:lnSpc>
                <a:spcPct val="90000"/>
              </a:lnSpc>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NIST issued revision FIPS 180-2 in 2002</a:t>
            </a:r>
          </a:p>
          <a:p>
            <a:pPr eaLnBrk="1" hangingPunct="1">
              <a:lnSpc>
                <a:spcPct val="90000"/>
              </a:lnSpc>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adds 3 additional versions of SHA </a:t>
            </a:r>
          </a:p>
          <a:p>
            <a:pPr lvl="1" eaLnBrk="1" hangingPunct="1">
              <a:lnSpc>
                <a:spcPct val="90000"/>
              </a:lnSpc>
              <a:buFont typeface="Wingdings" panose="05000000000000000000" pitchFamily="2" charset="2"/>
              <a:buChar char="l"/>
            </a:pPr>
            <a:r>
              <a:rPr lang="en-US" altLang="en-US">
                <a:latin typeface="Calibri" panose="020F0502020204030204" pitchFamily="34" charset="0"/>
                <a:ea typeface="ＭＳ Ｐゴシック" panose="020B0600070205080204" pitchFamily="34" charset="-128"/>
              </a:rPr>
              <a:t>SHA-256, SHA-384, SHA-512</a:t>
            </a:r>
          </a:p>
          <a:p>
            <a:pPr eaLnBrk="1" hangingPunct="1">
              <a:lnSpc>
                <a:spcPct val="90000"/>
              </a:lnSpc>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designed for compatibility with increased security provided by the AES cipher</a:t>
            </a:r>
          </a:p>
          <a:p>
            <a:pPr eaLnBrk="1" hangingPunct="1">
              <a:lnSpc>
                <a:spcPct val="90000"/>
              </a:lnSpc>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structure &amp; detail is similar to SHA-1</a:t>
            </a:r>
          </a:p>
          <a:p>
            <a:pPr eaLnBrk="1" hangingPunct="1">
              <a:lnSpc>
                <a:spcPct val="90000"/>
              </a:lnSpc>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hence analysis should be similar</a:t>
            </a:r>
          </a:p>
          <a:p>
            <a:pPr eaLnBrk="1" hangingPunct="1">
              <a:lnSpc>
                <a:spcPct val="90000"/>
              </a:lnSpc>
              <a:buFont typeface="Wingdings" panose="05000000000000000000" pitchFamily="2" charset="2"/>
              <a:buChar char="Ø"/>
            </a:pPr>
            <a:r>
              <a:rPr lang="en-AU" altLang="en-US">
                <a:latin typeface="Calibri" panose="020F0502020204030204" pitchFamily="34" charset="0"/>
                <a:ea typeface="ＭＳ Ｐゴシック" panose="020B0600070205080204" pitchFamily="34" charset="-128"/>
              </a:rPr>
              <a:t>but security levels are rather higher</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5E7DD18A-901E-F4AF-EC4A-91DA9242A18F}"/>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SHA Versions</a:t>
            </a:r>
          </a:p>
        </p:txBody>
      </p:sp>
      <p:graphicFrame>
        <p:nvGraphicFramePr>
          <p:cNvPr id="7" name="Table 6">
            <a:extLst>
              <a:ext uri="{FF2B5EF4-FFF2-40B4-BE49-F238E27FC236}">
                <a16:creationId xmlns:a16="http://schemas.microsoft.com/office/drawing/2014/main" id="{C49DB93C-3E34-7F62-2F63-83FCCFB615F3}"/>
              </a:ext>
            </a:extLst>
          </p:cNvPr>
          <p:cNvGraphicFramePr>
            <a:graphicFrameLocks noGrp="1"/>
          </p:cNvGraphicFramePr>
          <p:nvPr/>
        </p:nvGraphicFramePr>
        <p:xfrm>
          <a:off x="395536" y="1844824"/>
          <a:ext cx="8208913" cy="2895599"/>
        </p:xfrm>
        <a:graphic>
          <a:graphicData uri="http://schemas.openxmlformats.org/drawingml/2006/table">
            <a:tbl>
              <a:tblPr>
                <a:effectLst>
                  <a:outerShdw blurRad="50800" dist="38100" dir="2700000">
                    <a:srgbClr val="000000">
                      <a:alpha val="43000"/>
                    </a:srgbClr>
                  </a:outerShdw>
                </a:effectLst>
              </a:tblPr>
              <a:tblGrid>
                <a:gridCol w="1271223">
                  <a:extLst>
                    <a:ext uri="{9D8B030D-6E8A-4147-A177-3AD203B41FA5}">
                      <a16:colId xmlns:a16="http://schemas.microsoft.com/office/drawing/2014/main" val="20000"/>
                    </a:ext>
                  </a:extLst>
                </a:gridCol>
                <a:gridCol w="889017">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gridCol w="1080120">
                  <a:extLst>
                    <a:ext uri="{9D8B030D-6E8A-4147-A177-3AD203B41FA5}">
                      <a16:colId xmlns:a16="http://schemas.microsoft.com/office/drawing/2014/main" val="20005"/>
                    </a:ext>
                  </a:extLst>
                </a:gridCol>
                <a:gridCol w="1080120">
                  <a:extLst>
                    <a:ext uri="{9D8B030D-6E8A-4147-A177-3AD203B41FA5}">
                      <a16:colId xmlns:a16="http://schemas.microsoft.com/office/drawing/2014/main" val="20006"/>
                    </a:ext>
                  </a:extLst>
                </a:gridCol>
                <a:gridCol w="1080121">
                  <a:extLst>
                    <a:ext uri="{9D8B030D-6E8A-4147-A177-3AD203B41FA5}">
                      <a16:colId xmlns:a16="http://schemas.microsoft.com/office/drawing/2014/main" val="20007"/>
                    </a:ext>
                  </a:extLst>
                </a:gridCol>
              </a:tblGrid>
              <a:tr h="474082">
                <a:tc>
                  <a:txBody>
                    <a:bodyPr/>
                    <a:lstStyle/>
                    <a:p>
                      <a:pPr algn="l" fontAlgn="b"/>
                      <a:endParaRPr lang="en-US" sz="2000" b="1" i="0" u="none" strike="noStrike"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MD5</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1" i="0" u="none" strike="noStrike" dirty="0">
                          <a:latin typeface="Calibri"/>
                        </a:rPr>
                        <a:t>SHA-0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1" i="0" u="none" strike="noStrike" dirty="0">
                          <a:latin typeface="Calibri"/>
                        </a:rPr>
                        <a:t>SHA-1</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SHA-224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SHA-256</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SHA-384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SHA-512 </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541808">
                <a:tc>
                  <a:txBody>
                    <a:bodyPr/>
                    <a:lstStyle/>
                    <a:p>
                      <a:pPr algn="l" fontAlgn="b"/>
                      <a:r>
                        <a:rPr lang="en-US" sz="1800" b="1" i="0" u="none" strike="noStrike" dirty="0">
                          <a:latin typeface="Calibri"/>
                        </a:rPr>
                        <a:t>Digest size</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128</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160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160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224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256</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384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530863">
                <a:tc>
                  <a:txBody>
                    <a:bodyPr/>
                    <a:lstStyle/>
                    <a:p>
                      <a:pPr algn="l" fontAlgn="b"/>
                      <a:r>
                        <a:rPr lang="en-US" sz="1800" b="1" i="0" u="none" strike="noStrike" dirty="0">
                          <a:latin typeface="Calibri"/>
                        </a:rPr>
                        <a:t>Message size</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000" b="0" i="0" u="none" strike="noStrike" dirty="0">
                          <a:latin typeface="Calibri"/>
                        </a:rPr>
                        <a:t>2</a:t>
                      </a:r>
                      <a:r>
                        <a:rPr lang="en-US" sz="2000" b="0" i="0" u="none" strike="noStrike" baseline="30000" dirty="0">
                          <a:latin typeface="Calibri"/>
                        </a:rPr>
                        <a:t>64</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000" b="0" i="0" u="none" strike="noStrike" dirty="0">
                          <a:latin typeface="Calibri"/>
                        </a:rPr>
                        <a:t>2</a:t>
                      </a:r>
                      <a:r>
                        <a:rPr lang="en-US" sz="2000" b="0" i="0" u="none" strike="noStrike" baseline="30000" dirty="0">
                          <a:latin typeface="Calibri"/>
                        </a:rPr>
                        <a:t>64</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2</a:t>
                      </a:r>
                      <a:r>
                        <a:rPr lang="en-US" sz="2000" b="0" i="0" u="none" strike="noStrike" baseline="30000" dirty="0">
                          <a:latin typeface="Calibri"/>
                        </a:rPr>
                        <a:t>64</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a:t>
                      </a:r>
                      <a:r>
                        <a:rPr lang="en-US" sz="2000" b="0" i="0" u="none" strike="noStrike" baseline="30000" dirty="0">
                          <a:latin typeface="Calibri"/>
                        </a:rPr>
                        <a:t>64 </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a:t>
                      </a:r>
                      <a:r>
                        <a:rPr lang="en-US" sz="2000" b="0" i="0" u="none" strike="noStrike" baseline="30000" dirty="0">
                          <a:latin typeface="Calibri"/>
                        </a:rPr>
                        <a:t>64</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a:t>
                      </a:r>
                      <a:r>
                        <a:rPr lang="en-US" sz="2000" b="0" i="0" u="none" strike="noStrike" baseline="30000" dirty="0">
                          <a:latin typeface="Calibri"/>
                        </a:rPr>
                        <a:t>128</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a:t>
                      </a:r>
                      <a:r>
                        <a:rPr lang="en-US" sz="2000" b="0" i="0" u="none" strike="noStrike" baseline="30000" dirty="0">
                          <a:latin typeface="Calibri"/>
                        </a:rPr>
                        <a:t>128</a:t>
                      </a:r>
                      <a:r>
                        <a:rPr lang="en-US" sz="2000" b="0" i="0" u="none" strike="noStrike" dirty="0">
                          <a:latin typeface="Calibri"/>
                        </a:rPr>
                        <a:t>-1 </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464683">
                <a:tc>
                  <a:txBody>
                    <a:bodyPr/>
                    <a:lstStyle/>
                    <a:p>
                      <a:pPr algn="l" fontAlgn="b"/>
                      <a:r>
                        <a:rPr lang="en-US" sz="1800" b="1" i="0" u="none" strike="noStrike" dirty="0">
                          <a:latin typeface="Calibri"/>
                        </a:rPr>
                        <a:t>Block size</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1024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1024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464683">
                <a:tc>
                  <a:txBody>
                    <a:bodyPr/>
                    <a:lstStyle/>
                    <a:p>
                      <a:pPr algn="l" fontAlgn="b"/>
                      <a:r>
                        <a:rPr lang="en-US" sz="1800" b="1" i="0" u="none" strike="noStrike" dirty="0">
                          <a:latin typeface="Calibri"/>
                        </a:rPr>
                        <a:t>Word size</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419480">
                <a:tc>
                  <a:txBody>
                    <a:bodyPr/>
                    <a:lstStyle/>
                    <a:p>
                      <a:pPr algn="l" fontAlgn="b"/>
                      <a:r>
                        <a:rPr lang="en-US" sz="1800" b="1" i="0" u="none" strike="noStrike" dirty="0">
                          <a:latin typeface="Calibri"/>
                        </a:rPr>
                        <a:t># of steps</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80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80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80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4516" name="TextBox 1">
            <a:extLst>
              <a:ext uri="{FF2B5EF4-FFF2-40B4-BE49-F238E27FC236}">
                <a16:creationId xmlns:a16="http://schemas.microsoft.com/office/drawing/2014/main" id="{9028FF9A-5300-1555-663D-BB522EF80230}"/>
              </a:ext>
            </a:extLst>
          </p:cNvPr>
          <p:cNvSpPr txBox="1">
            <a:spLocks noChangeArrowheads="1"/>
          </p:cNvSpPr>
          <p:nvPr/>
        </p:nvSpPr>
        <p:spPr bwMode="auto">
          <a:xfrm>
            <a:off x="1547813" y="5373688"/>
            <a:ext cx="2082800" cy="368300"/>
          </a:xfrm>
          <a:prstGeom prst="rect">
            <a:avLst/>
          </a:prstGeom>
          <a:solidFill>
            <a:srgbClr val="FFB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Full collision found</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D97E0899-AF5F-25E1-624C-8AC6B91E8962}"/>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Sample Processing</a:t>
            </a:r>
          </a:p>
        </p:txBody>
      </p:sp>
      <p:sp>
        <p:nvSpPr>
          <p:cNvPr id="66563" name="Content Placeholder 2">
            <a:extLst>
              <a:ext uri="{FF2B5EF4-FFF2-40B4-BE49-F238E27FC236}">
                <a16:creationId xmlns:a16="http://schemas.microsoft.com/office/drawing/2014/main" id="{A325E166-7C9C-1073-F65F-5F8EE6DAA595}"/>
              </a:ext>
            </a:extLst>
          </p:cNvPr>
          <p:cNvSpPr>
            <a:spLocks noGrp="1"/>
          </p:cNvSpPr>
          <p:nvPr>
            <p:ph sz="quarter" idx="1"/>
          </p:nvPr>
        </p:nvSpPr>
        <p:spPr>
          <a:xfrm>
            <a:off x="685800" y="3733800"/>
            <a:ext cx="8229600" cy="1219200"/>
          </a:xfrm>
        </p:spPr>
        <p:txBody>
          <a:bodyPr/>
          <a:lstStyle/>
          <a:p>
            <a:r>
              <a:rPr lang="en-US" altLang="en-US">
                <a:latin typeface="Calibri" panose="020F0502020204030204" pitchFamily="34" charset="0"/>
                <a:ea typeface="ＭＳ Ｐゴシック" panose="020B0600070205080204" pitchFamily="34" charset="-128"/>
              </a:rPr>
              <a:t>Mac Intel 2.66 Ghz core i7</a:t>
            </a:r>
          </a:p>
          <a:p>
            <a:r>
              <a:rPr lang="en-US" altLang="en-US">
                <a:latin typeface="Calibri" panose="020F0502020204030204" pitchFamily="34" charset="0"/>
                <a:ea typeface="ＭＳ Ｐゴシック" panose="020B0600070205080204" pitchFamily="34" charset="-128"/>
              </a:rPr>
              <a:t>1024 bytes block of data </a:t>
            </a:r>
          </a:p>
        </p:txBody>
      </p:sp>
      <p:sp>
        <p:nvSpPr>
          <p:cNvPr id="66564" name="Rectangle 3">
            <a:extLst>
              <a:ext uri="{FF2B5EF4-FFF2-40B4-BE49-F238E27FC236}">
                <a16:creationId xmlns:a16="http://schemas.microsoft.com/office/drawing/2014/main" id="{396790D4-2CE0-53DB-B04F-46B59D54D717}"/>
              </a:ext>
            </a:extLst>
          </p:cNvPr>
          <p:cNvSpPr>
            <a:spLocks noChangeArrowheads="1"/>
          </p:cNvSpPr>
          <p:nvPr/>
        </p:nvSpPr>
        <p:spPr bwMode="auto">
          <a:xfrm>
            <a:off x="914400" y="1600200"/>
            <a:ext cx="72390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2800" b="1">
                <a:cs typeface="Calibri" panose="020F0502020204030204" pitchFamily="34" charset="0"/>
              </a:rPr>
              <a:t>Type            bits                 data processed</a:t>
            </a:r>
          </a:p>
          <a:p>
            <a:pPr eaLnBrk="1" hangingPunct="1">
              <a:spcBef>
                <a:spcPct val="0"/>
              </a:spcBef>
              <a:buClrTx/>
              <a:buSzTx/>
              <a:buFontTx/>
              <a:buNone/>
            </a:pPr>
            <a:r>
              <a:rPr lang="en-US" altLang="en-US" sz="2800">
                <a:cs typeface="Calibri" panose="020F0502020204030204" pitchFamily="34" charset="0"/>
              </a:rPr>
              <a:t>MD5            128  		469.7 MB/s   </a:t>
            </a:r>
          </a:p>
          <a:p>
            <a:pPr eaLnBrk="1" hangingPunct="1">
              <a:spcBef>
                <a:spcPct val="0"/>
              </a:spcBef>
              <a:buClrTx/>
              <a:buSzTx/>
              <a:buFontTx/>
              <a:buNone/>
            </a:pPr>
            <a:r>
              <a:rPr lang="en-US" altLang="en-US" sz="2800">
                <a:cs typeface="Calibri" panose="020F0502020204030204" pitchFamily="34" charset="0"/>
              </a:rPr>
              <a:t>SHA-1          160		339.4 MB/s   </a:t>
            </a:r>
          </a:p>
          <a:p>
            <a:pPr eaLnBrk="1" hangingPunct="1">
              <a:spcBef>
                <a:spcPct val="0"/>
              </a:spcBef>
              <a:buClrTx/>
              <a:buSzTx/>
              <a:buFontTx/>
              <a:buNone/>
            </a:pPr>
            <a:r>
              <a:rPr lang="en-US" altLang="en-US" sz="2800">
                <a:cs typeface="Calibri" panose="020F0502020204030204" pitchFamily="34" charset="0"/>
              </a:rPr>
              <a:t>SHA-512      512  		177.7 MB/s </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04FAE11E-1082-6D53-D268-9BE69D4275C1}"/>
              </a:ext>
            </a:extLst>
          </p:cNvPr>
          <p:cNvSpPr>
            <a:spLocks noGrp="1"/>
          </p:cNvSpPr>
          <p:nvPr>
            <p:ph type="title"/>
          </p:nvPr>
        </p:nvSpPr>
        <p:spPr>
          <a:xfrm>
            <a:off x="457200" y="152400"/>
            <a:ext cx="8229600" cy="914400"/>
          </a:xfrm>
        </p:spPr>
        <p:txBody>
          <a:bodyPr/>
          <a:lstStyle/>
          <a:p>
            <a:pPr eaLnBrk="1" hangingPunct="1"/>
            <a:r>
              <a:rPr lang="en-AU" altLang="en-US">
                <a:latin typeface="Calibri" panose="020F0502020204030204" pitchFamily="34" charset="0"/>
                <a:ea typeface="ＭＳ Ｐゴシック" panose="020B0600070205080204" pitchFamily="34" charset="-128"/>
                <a:cs typeface="Calibri" panose="020F0502020204030204" pitchFamily="34" charset="0"/>
              </a:rPr>
              <a:t>SHA-512 Overview</a:t>
            </a:r>
          </a:p>
        </p:txBody>
      </p:sp>
      <p:pic>
        <p:nvPicPr>
          <p:cNvPr id="67587" name="Picture 12">
            <a:extLst>
              <a:ext uri="{FF2B5EF4-FFF2-40B4-BE49-F238E27FC236}">
                <a16:creationId xmlns:a16="http://schemas.microsoft.com/office/drawing/2014/main" id="{3009BA2C-0A66-61DE-059A-1B0C7AD60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 y="1828800"/>
            <a:ext cx="8601075" cy="347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44791EC4-DC70-1E6D-3021-8C29777B7A70}"/>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Padding and length field in SHA-512</a:t>
            </a:r>
          </a:p>
        </p:txBody>
      </p:sp>
      <p:sp>
        <p:nvSpPr>
          <p:cNvPr id="69635" name="Content Placeholder 2">
            <a:extLst>
              <a:ext uri="{FF2B5EF4-FFF2-40B4-BE49-F238E27FC236}">
                <a16:creationId xmlns:a16="http://schemas.microsoft.com/office/drawing/2014/main" id="{3969D002-1346-0EFF-B73F-150B4AA64466}"/>
              </a:ext>
            </a:extLst>
          </p:cNvPr>
          <p:cNvSpPr>
            <a:spLocks noGrp="1"/>
          </p:cNvSpPr>
          <p:nvPr>
            <p:ph sz="quarter" idx="1"/>
          </p:nvPr>
        </p:nvSpPr>
        <p:spPr>
          <a:xfrm>
            <a:off x="457200" y="3505200"/>
            <a:ext cx="8229600" cy="2651125"/>
          </a:xfrm>
        </p:spPr>
        <p:txBody>
          <a:bodyPr/>
          <a:lstStyle/>
          <a:p>
            <a:pPr eaLnBrk="1" hangingPunct="1"/>
            <a:r>
              <a:rPr lang="en-US" altLang="en-US" sz="2000" b="1">
                <a:latin typeface="Calibri" panose="020F0502020204030204" pitchFamily="34" charset="0"/>
                <a:ea typeface="ＭＳ Ｐゴシック" panose="020B0600070205080204" pitchFamily="34" charset="-128"/>
              </a:rPr>
              <a:t>What is the number of padding bits if the length of the original message is 2590 bits?</a:t>
            </a:r>
          </a:p>
          <a:p>
            <a:pPr eaLnBrk="1" hangingPunct="1"/>
            <a:r>
              <a:rPr lang="en-US" altLang="en-US" sz="2000">
                <a:latin typeface="Calibri" panose="020F0502020204030204" pitchFamily="34" charset="0"/>
                <a:ea typeface="ＭＳ Ｐゴシック" panose="020B0600070205080204" pitchFamily="34" charset="-128"/>
              </a:rPr>
              <a:t>We can calculate the number of padding bits as follows:</a:t>
            </a:r>
          </a:p>
          <a:p>
            <a:pPr eaLnBrk="1" hangingPunct="1"/>
            <a:endParaRPr lang="en-US" altLang="en-US" sz="2000">
              <a:latin typeface="Calibri" panose="020F0502020204030204" pitchFamily="34" charset="0"/>
              <a:ea typeface="ＭＳ Ｐゴシック" panose="020B0600070205080204" pitchFamily="34" charset="-128"/>
            </a:endParaRPr>
          </a:p>
          <a:p>
            <a:pPr eaLnBrk="1" hangingPunct="1"/>
            <a:endParaRPr lang="en-US" altLang="en-US" sz="2000">
              <a:latin typeface="Calibri" panose="020F0502020204030204" pitchFamily="34" charset="0"/>
              <a:ea typeface="ＭＳ Ｐゴシック" panose="020B0600070205080204" pitchFamily="34" charset="-128"/>
            </a:endParaRPr>
          </a:p>
          <a:p>
            <a:pPr eaLnBrk="1" hangingPunct="1"/>
            <a:r>
              <a:rPr lang="en-US" altLang="en-US" sz="2000">
                <a:latin typeface="Calibri" panose="020F0502020204030204" pitchFamily="34" charset="0"/>
                <a:ea typeface="ＭＳ Ｐゴシック" panose="020B0600070205080204" pitchFamily="34" charset="-128"/>
              </a:rPr>
              <a:t>The padding consists of one 1 followed by 353 0’s.</a:t>
            </a:r>
          </a:p>
          <a:p>
            <a:pPr eaLnBrk="1" hangingPunct="1"/>
            <a:endParaRPr lang="en-US" altLang="en-US" sz="2000">
              <a:latin typeface="Calibri" panose="020F0502020204030204" pitchFamily="34" charset="0"/>
              <a:ea typeface="ＭＳ Ｐゴシック" panose="020B0600070205080204" pitchFamily="34" charset="-128"/>
            </a:endParaRPr>
          </a:p>
          <a:p>
            <a:pPr eaLnBrk="1" hangingPunct="1"/>
            <a:endParaRPr lang="en-US" altLang="en-US" sz="2000">
              <a:latin typeface="Calibri" panose="020F0502020204030204" pitchFamily="34" charset="0"/>
              <a:ea typeface="ＭＳ Ｐゴシック" panose="020B0600070205080204" pitchFamily="34" charset="-128"/>
            </a:endParaRPr>
          </a:p>
        </p:txBody>
      </p:sp>
      <p:pic>
        <p:nvPicPr>
          <p:cNvPr id="69636" name="Picture 12">
            <a:extLst>
              <a:ext uri="{FF2B5EF4-FFF2-40B4-BE49-F238E27FC236}">
                <a16:creationId xmlns:a16="http://schemas.microsoft.com/office/drawing/2014/main" id="{E0CBEE8E-FF07-1852-B86E-F4A9095B60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60107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13">
            <a:extLst>
              <a:ext uri="{FF2B5EF4-FFF2-40B4-BE49-F238E27FC236}">
                <a16:creationId xmlns:a16="http://schemas.microsoft.com/office/drawing/2014/main" id="{0C34566A-CE91-0919-E897-F7A8A1002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648200"/>
            <a:ext cx="7694613"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BCAB1C4-E43D-076D-FDAD-417BB3A2F0C7}"/>
              </a:ext>
            </a:extLst>
          </p:cNvPr>
          <p:cNvSpPr>
            <a:spLocks noGrp="1"/>
          </p:cNvSpPr>
          <p:nvPr>
            <p:ph type="title"/>
          </p:nvPr>
        </p:nvSpPr>
        <p:spPr>
          <a:xfrm>
            <a:off x="533400" y="152400"/>
            <a:ext cx="8229600" cy="914400"/>
          </a:xfrm>
        </p:spPr>
        <p:txBody>
          <a:bodyPr/>
          <a:lstStyle/>
          <a:p>
            <a:pPr eaLnBrk="1" hangingPunct="1"/>
            <a:r>
              <a:rPr lang="en-AU" altLang="en-US">
                <a:latin typeface="Calibri" panose="020F0502020204030204" pitchFamily="34" charset="0"/>
                <a:ea typeface="ＭＳ Ｐゴシック" panose="020B0600070205080204" pitchFamily="34" charset="-128"/>
                <a:cs typeface="Calibri" panose="020F0502020204030204" pitchFamily="34" charset="0"/>
              </a:rPr>
              <a:t>SHA-512 Round Function</a:t>
            </a:r>
          </a:p>
        </p:txBody>
      </p:sp>
      <p:pic>
        <p:nvPicPr>
          <p:cNvPr id="70659" name="Picture 3">
            <a:extLst>
              <a:ext uri="{FF2B5EF4-FFF2-40B4-BE49-F238E27FC236}">
                <a16:creationId xmlns:a16="http://schemas.microsoft.com/office/drawing/2014/main" id="{33E3D61F-7CB2-2D98-490D-6F651A0017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447800"/>
            <a:ext cx="5969000" cy="4513263"/>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61F48D70-10C4-D6C7-4D70-94F1FEBCF1F8}"/>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Topics</a:t>
            </a:r>
          </a:p>
        </p:txBody>
      </p:sp>
      <p:sp>
        <p:nvSpPr>
          <p:cNvPr id="72707" name="Content Placeholder 2">
            <a:extLst>
              <a:ext uri="{FF2B5EF4-FFF2-40B4-BE49-F238E27FC236}">
                <a16:creationId xmlns:a16="http://schemas.microsoft.com/office/drawing/2014/main" id="{2A1D8AD2-25F9-49FB-8F05-5473B6F73C1C}"/>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ea typeface="ＭＳ Ｐゴシック" panose="020B0600070205080204" pitchFamily="34" charset="-128"/>
              </a:rPr>
              <a:t>Overview of Cryptography Hash Function</a:t>
            </a:r>
          </a:p>
          <a:p>
            <a:r>
              <a:rPr lang="en-US" altLang="en-US">
                <a:latin typeface="Calibri" panose="020F0502020204030204" pitchFamily="34" charset="0"/>
                <a:ea typeface="ＭＳ Ｐゴシック" panose="020B0600070205080204" pitchFamily="34" charset="-128"/>
              </a:rPr>
              <a:t>Usages</a:t>
            </a:r>
          </a:p>
          <a:p>
            <a:r>
              <a:rPr lang="en-US" altLang="en-US">
                <a:latin typeface="Calibri" panose="020F0502020204030204" pitchFamily="34" charset="0"/>
                <a:ea typeface="ＭＳ Ｐゴシック" panose="020B0600070205080204" pitchFamily="34" charset="-128"/>
              </a:rPr>
              <a:t>Properties</a:t>
            </a:r>
          </a:p>
          <a:p>
            <a:r>
              <a:rPr lang="en-US" altLang="en-US">
                <a:latin typeface="Calibri" panose="020F0502020204030204" pitchFamily="34" charset="0"/>
                <a:ea typeface="ＭＳ Ｐゴシック" panose="020B0600070205080204" pitchFamily="34" charset="-128"/>
              </a:rPr>
              <a:t>Hashing Function Structure</a:t>
            </a:r>
          </a:p>
          <a:p>
            <a:pPr lvl="1"/>
            <a:r>
              <a:rPr lang="en-US" altLang="en-US">
                <a:latin typeface="Calibri" panose="020F0502020204030204" pitchFamily="34" charset="0"/>
                <a:ea typeface="ＭＳ Ｐゴシック" panose="020B0600070205080204" pitchFamily="34" charset="-128"/>
              </a:rPr>
              <a:t>MD5</a:t>
            </a:r>
          </a:p>
          <a:p>
            <a:pPr lvl="1"/>
            <a:r>
              <a:rPr lang="en-US" altLang="en-US">
                <a:latin typeface="Calibri" panose="020F0502020204030204" pitchFamily="34" charset="0"/>
                <a:ea typeface="ＭＳ Ｐゴシック" panose="020B0600070205080204" pitchFamily="34" charset="-128"/>
              </a:rPr>
              <a:t>SHA</a:t>
            </a:r>
          </a:p>
          <a:p>
            <a:r>
              <a:rPr lang="en-US" altLang="en-US" b="1">
                <a:latin typeface="Calibri" panose="020F0502020204030204" pitchFamily="34" charset="0"/>
                <a:ea typeface="ＭＳ Ｐゴシック" panose="020B0600070205080204" pitchFamily="34" charset="-128"/>
              </a:rPr>
              <a:t>Attack on Hash Function </a:t>
            </a:r>
          </a:p>
          <a:p>
            <a:r>
              <a:rPr lang="en-US" altLang="en-US">
                <a:latin typeface="Calibri" panose="020F0502020204030204" pitchFamily="34" charset="0"/>
                <a:ea typeface="ＭＳ Ｐゴシック" panose="020B0600070205080204" pitchFamily="34" charset="-128"/>
              </a:rPr>
              <a:t>The Road to new Secure Hash Standard</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0BF8ACEC-1CB6-E498-9DD7-32B3DCEE51D8}"/>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Hash Function Cryptanalysis</a:t>
            </a:r>
          </a:p>
        </p:txBody>
      </p:sp>
      <p:sp>
        <p:nvSpPr>
          <p:cNvPr id="73731" name="Content Placeholder 2">
            <a:extLst>
              <a:ext uri="{FF2B5EF4-FFF2-40B4-BE49-F238E27FC236}">
                <a16:creationId xmlns:a16="http://schemas.microsoft.com/office/drawing/2014/main" id="{0193F16E-00A2-C5B9-E141-84059A54B8D4}"/>
              </a:ext>
            </a:extLst>
          </p:cNvPr>
          <p:cNvSpPr>
            <a:spLocks noGrp="1"/>
          </p:cNvSpPr>
          <p:nvPr>
            <p:ph sz="quarter" idx="1"/>
          </p:nvPr>
        </p:nvSpPr>
        <p:spPr>
          <a:xfrm>
            <a:off x="457200" y="1371600"/>
            <a:ext cx="8229600" cy="2819400"/>
          </a:xfrm>
        </p:spPr>
        <p:txBody>
          <a:bodyPr/>
          <a:lstStyle/>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cryptanalytic attacks exploit some property of algorithm so faster than exhaustive search</a:t>
            </a:r>
          </a:p>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hash functions use iterative structure</a:t>
            </a:r>
          </a:p>
          <a:p>
            <a:pPr lvl="1" eaLnBrk="1" hangingPunct="1">
              <a:buFont typeface="Wingdings" panose="05000000000000000000" pitchFamily="2" charset="2"/>
              <a:buChar char="l"/>
            </a:pPr>
            <a:r>
              <a:rPr lang="en-US" altLang="en-US">
                <a:latin typeface="Calibri" panose="020F0502020204030204" pitchFamily="34" charset="0"/>
                <a:ea typeface="ＭＳ Ｐゴシック" panose="020B0600070205080204" pitchFamily="34" charset="-128"/>
              </a:rPr>
              <a:t>process message in blocks (incl length)</a:t>
            </a:r>
          </a:p>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attacks focus on collisions in function f</a:t>
            </a:r>
          </a:p>
        </p:txBody>
      </p:sp>
      <p:pic>
        <p:nvPicPr>
          <p:cNvPr id="73732" name="Picture 3">
            <a:extLst>
              <a:ext uri="{FF2B5EF4-FFF2-40B4-BE49-F238E27FC236}">
                <a16:creationId xmlns:a16="http://schemas.microsoft.com/office/drawing/2014/main" id="{97814357-0EF4-C587-45F4-0D7AA4CA059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733800"/>
            <a:ext cx="6972300" cy="2106613"/>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59B900B0-4AC5-EB0D-0E16-CAC2DB70F181}"/>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Attacks on Hash Functions</a:t>
            </a:r>
          </a:p>
        </p:txBody>
      </p:sp>
      <p:sp>
        <p:nvSpPr>
          <p:cNvPr id="75779" name="Content Placeholder 2">
            <a:extLst>
              <a:ext uri="{FF2B5EF4-FFF2-40B4-BE49-F238E27FC236}">
                <a16:creationId xmlns:a16="http://schemas.microsoft.com/office/drawing/2014/main" id="{34C939DE-6486-CC62-06BB-4F204405809D}"/>
              </a:ext>
            </a:extLst>
          </p:cNvPr>
          <p:cNvSpPr>
            <a:spLocks noGrp="1"/>
          </p:cNvSpPr>
          <p:nvPr>
            <p:ph sz="quarter" idx="1"/>
          </p:nvPr>
        </p:nvSpPr>
        <p:spPr>
          <a:xfrm>
            <a:off x="468313" y="1412875"/>
            <a:ext cx="8229600" cy="2473325"/>
          </a:xfrm>
        </p:spPr>
        <p:txBody>
          <a:bodyPr/>
          <a:lstStyle/>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brute-force attacks and cryptanalysis</a:t>
            </a:r>
          </a:p>
          <a:p>
            <a:pPr lvl="1"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cryptanalytic attacks exploit some property of algorithm so faster than brute-force </a:t>
            </a:r>
          </a:p>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a preimage or second preimage attack</a:t>
            </a:r>
          </a:p>
          <a:p>
            <a:pPr lvl="1" eaLnBrk="1" hangingPunct="1">
              <a:buFont typeface="Wingdings" panose="05000000000000000000" pitchFamily="2" charset="2"/>
              <a:buChar char="l"/>
            </a:pPr>
            <a:r>
              <a:rPr lang="en-US" altLang="en-US">
                <a:latin typeface="Calibri" panose="020F0502020204030204" pitchFamily="34" charset="0"/>
                <a:ea typeface="ＭＳ Ｐゴシック" panose="020B0600070205080204" pitchFamily="34" charset="-128"/>
              </a:rPr>
              <a:t>find </a:t>
            </a:r>
            <a:r>
              <a:rPr lang="en-US" altLang="en-US" i="1">
                <a:latin typeface="Courier New" panose="02070309020205020404" pitchFamily="49" charset="0"/>
                <a:ea typeface="ＭＳ Ｐゴシック" panose="020B0600070205080204" pitchFamily="34" charset="-128"/>
                <a:cs typeface="Courier New" panose="02070309020205020404" pitchFamily="49" charset="0"/>
              </a:rPr>
              <a:t>y</a:t>
            </a:r>
            <a:r>
              <a:rPr lang="en-US" altLang="en-US" i="1">
                <a:latin typeface="Calibri" panose="020F0502020204030204" pitchFamily="34" charset="0"/>
                <a:ea typeface="ＭＳ Ｐゴシック" panose="020B0600070205080204" pitchFamily="34" charset="-128"/>
              </a:rPr>
              <a:t>  </a:t>
            </a:r>
            <a:r>
              <a:rPr lang="en-US" altLang="en-US">
                <a:latin typeface="Calibri" panose="020F0502020204030204" pitchFamily="34" charset="0"/>
                <a:ea typeface="ＭＳ Ｐゴシック" panose="020B0600070205080204" pitchFamily="34" charset="-128"/>
              </a:rPr>
              <a:t>such that </a:t>
            </a:r>
            <a:r>
              <a:rPr lang="en-US" altLang="en-US" i="1">
                <a:latin typeface="Courier New" panose="02070309020205020404" pitchFamily="49" charset="0"/>
                <a:ea typeface="ＭＳ Ｐゴシック" panose="020B0600070205080204" pitchFamily="34" charset="-128"/>
                <a:cs typeface="Courier New" panose="02070309020205020404" pitchFamily="49" charset="0"/>
              </a:rPr>
              <a:t>H(y)</a:t>
            </a:r>
            <a:r>
              <a:rPr lang="en-US" altLang="en-US">
                <a:latin typeface="Calibri" panose="020F0502020204030204" pitchFamily="34" charset="0"/>
                <a:ea typeface="ＭＳ Ｐゴシック" panose="020B0600070205080204" pitchFamily="34" charset="-128"/>
              </a:rPr>
              <a:t>equals a given hash value </a:t>
            </a:r>
          </a:p>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collision resistance</a:t>
            </a:r>
          </a:p>
          <a:p>
            <a:pPr lvl="1" eaLnBrk="1" hangingPunct="1">
              <a:buFont typeface="Wingdings" panose="05000000000000000000" pitchFamily="2" charset="2"/>
              <a:buChar char="l"/>
            </a:pPr>
            <a:r>
              <a:rPr lang="en-US" altLang="en-US">
                <a:latin typeface="Calibri" panose="020F0502020204030204" pitchFamily="34" charset="0"/>
                <a:ea typeface="ＭＳ Ｐゴシック" panose="020B0600070205080204" pitchFamily="34" charset="-128"/>
              </a:rPr>
              <a:t>find  two messages </a:t>
            </a:r>
            <a:r>
              <a:rPr lang="en-US" altLang="en-US">
                <a:latin typeface="Courier New" panose="02070309020205020404" pitchFamily="49" charset="0"/>
                <a:ea typeface="ＭＳ Ｐゴシック" panose="020B0600070205080204" pitchFamily="34" charset="-128"/>
                <a:cs typeface="Courier New" panose="02070309020205020404" pitchFamily="49" charset="0"/>
              </a:rPr>
              <a:t>x</a:t>
            </a:r>
            <a:r>
              <a:rPr lang="en-US" altLang="en-US">
                <a:latin typeface="Calibri" panose="020F0502020204030204" pitchFamily="34" charset="0"/>
                <a:ea typeface="ＭＳ Ｐゴシック" panose="020B0600070205080204" pitchFamily="34" charset="-128"/>
              </a:rPr>
              <a:t> &amp; </a:t>
            </a:r>
            <a:r>
              <a:rPr lang="en-US" altLang="en-US" i="1">
                <a:latin typeface="Courier New" panose="02070309020205020404" pitchFamily="49" charset="0"/>
                <a:ea typeface="ＭＳ Ｐゴシック" panose="020B0600070205080204" pitchFamily="34" charset="-128"/>
                <a:cs typeface="Courier New" panose="02070309020205020404" pitchFamily="49" charset="0"/>
              </a:rPr>
              <a:t>y</a:t>
            </a:r>
            <a:r>
              <a:rPr lang="en-US" altLang="en-US" i="1">
                <a:latin typeface="Calibri" panose="020F0502020204030204" pitchFamily="34" charset="0"/>
                <a:ea typeface="ＭＳ Ｐゴシック" panose="020B0600070205080204" pitchFamily="34" charset="-128"/>
              </a:rPr>
              <a:t> </a:t>
            </a:r>
            <a:r>
              <a:rPr lang="en-US" altLang="en-US">
                <a:latin typeface="Calibri" panose="020F0502020204030204" pitchFamily="34" charset="0"/>
                <a:ea typeface="ＭＳ Ｐゴシック" panose="020B0600070205080204" pitchFamily="34" charset="-128"/>
              </a:rPr>
              <a:t>with same hash so </a:t>
            </a:r>
            <a:r>
              <a:rPr lang="en-US" altLang="en-US">
                <a:latin typeface="Courier New" panose="02070309020205020404" pitchFamily="49" charset="0"/>
                <a:ea typeface="ＭＳ Ｐゴシック" panose="020B0600070205080204" pitchFamily="34" charset="-128"/>
                <a:cs typeface="Courier New" panose="02070309020205020404" pitchFamily="49" charset="0"/>
              </a:rPr>
              <a:t>H(x) = H(y)</a:t>
            </a:r>
            <a:r>
              <a:rPr lang="en-US" altLang="en-US">
                <a:latin typeface="Calibri" panose="020F0502020204030204" pitchFamily="34" charset="0"/>
                <a:ea typeface="ＭＳ Ｐゴシック" panose="020B0600070205080204" pitchFamily="34" charset="-128"/>
              </a:rPr>
              <a:t> </a:t>
            </a:r>
          </a:p>
          <a:p>
            <a:pPr eaLnBrk="1" hangingPunct="1">
              <a:buFont typeface="Wingdings" panose="05000000000000000000" pitchFamily="2" charset="2"/>
              <a:buChar char="Ø"/>
            </a:pPr>
            <a:endParaRPr lang="en-US" altLang="en-US">
              <a:latin typeface="Calibri" panose="020F0502020204030204" pitchFamily="34" charset="0"/>
              <a:ea typeface="ＭＳ Ｐゴシック" panose="020B0600070205080204" pitchFamily="34" charset="-128"/>
            </a:endParaRPr>
          </a:p>
        </p:txBody>
      </p:sp>
      <p:sp>
        <p:nvSpPr>
          <p:cNvPr id="80899" name="Rectangle 3">
            <a:extLst>
              <a:ext uri="{FF2B5EF4-FFF2-40B4-BE49-F238E27FC236}">
                <a16:creationId xmlns:a16="http://schemas.microsoft.com/office/drawing/2014/main" id="{3F424134-065F-6D1C-65CC-B02E190C7BE2}"/>
              </a:ext>
            </a:extLst>
          </p:cNvPr>
          <p:cNvSpPr>
            <a:spLocks noChangeArrowheads="1"/>
          </p:cNvSpPr>
          <p:nvPr/>
        </p:nvSpPr>
        <p:spPr bwMode="auto">
          <a:xfrm>
            <a:off x="611188" y="4797425"/>
            <a:ext cx="7772400" cy="1169988"/>
          </a:xfrm>
          <a:prstGeom prst="rect">
            <a:avLst/>
          </a:prstGeom>
          <a:solidFill>
            <a:schemeClr val="bg1"/>
          </a:solidFill>
          <a:ln w="19050">
            <a:solidFill>
              <a:schemeClr val="tx1"/>
            </a:solidFill>
            <a:miter lim="800000"/>
            <a:headEnd/>
            <a:tailEnd/>
          </a:ln>
          <a:effectLst>
            <a:outerShdw blurRad="50800" dist="38100" dir="2700000" algn="tl" rotWithShape="0">
              <a:srgbClr val="808080">
                <a:alpha val="39999"/>
              </a:srgbClr>
            </a:outerShdw>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altLang="en-US">
                <a:solidFill>
                  <a:srgbClr val="000000"/>
                </a:solidFill>
                <a:latin typeface="Gill Sans MT" panose="020B0502020104020203" pitchFamily="34" charset="0"/>
              </a:rPr>
              <a:t>"</a:t>
            </a:r>
            <a:r>
              <a:rPr lang="en-US" altLang="en-US" sz="2000" i="1">
                <a:solidFill>
                  <a:srgbClr val="000000"/>
                </a:solidFill>
                <a:latin typeface="Times New Roman" panose="02020603050405020304" pitchFamily="18" charset="0"/>
                <a:cs typeface="Times New Roman" panose="02020603050405020304" pitchFamily="18" charset="0"/>
              </a:rPr>
              <a:t>md5 and sha1 are both clearly broken (in terms of collision-resistance</a:t>
            </a:r>
            <a:r>
              <a:rPr lang="en-US" altLang="en-US">
                <a:solidFill>
                  <a:srgbClr val="000000"/>
                </a:solidFill>
                <a:latin typeface="Gill Sans MT" panose="020B0502020104020203" pitchFamily="34" charset="0"/>
              </a:rPr>
              <a:t>” </a:t>
            </a:r>
          </a:p>
          <a:p>
            <a:pPr algn="r" eaLnBrk="1" hangingPunct="1">
              <a:defRPr/>
            </a:pPr>
            <a:r>
              <a:rPr lang="en-US" altLang="en-US" sz="1600">
                <a:solidFill>
                  <a:srgbClr val="000000"/>
                </a:solidFill>
                <a:latin typeface="Gill Sans MT" panose="020B0502020104020203" pitchFamily="34" charset="0"/>
              </a:rPr>
              <a:t>Ron Rivest</a:t>
            </a:r>
          </a:p>
          <a:p>
            <a:pPr algn="r" eaLnBrk="1" hangingPunct="1">
              <a:defRPr/>
            </a:pPr>
            <a:endParaRPr lang="en-US" altLang="en-US" sz="1600">
              <a:solidFill>
                <a:srgbClr val="000000"/>
              </a:solidFill>
              <a:latin typeface="Gill Sans MT" panose="020B0502020104020203" pitchFamily="34" charset="0"/>
            </a:endParaRPr>
          </a:p>
          <a:p>
            <a:pPr algn="r" eaLnBrk="1" hangingPunct="1">
              <a:defRPr/>
            </a:pPr>
            <a:r>
              <a:rPr lang="en-US" altLang="en-US" sz="1400">
                <a:solidFill>
                  <a:srgbClr val="000000"/>
                </a:solidFill>
                <a:latin typeface="Gill Sans MT" panose="020B0502020104020203" pitchFamily="34" charset="0"/>
              </a:rPr>
              <a:t>http://mail.python.org/pipermail/python-dev/2005-December/058850.html</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6F9B3BC5-1403-9941-E3BD-06F8B3AD9C6F}"/>
              </a:ext>
            </a:extLst>
          </p:cNvPr>
          <p:cNvSpPr>
            <a:spLocks noGrp="1"/>
          </p:cNvSpPr>
          <p:nvPr>
            <p:ph type="title"/>
          </p:nvPr>
        </p:nvSpPr>
        <p:spPr/>
        <p:txBody>
          <a:bodyPr/>
          <a:lstStyle/>
          <a:p>
            <a:r>
              <a:rPr lang="en-US" altLang="en-US">
                <a:latin typeface="Calibri" panose="020F0502020204030204" pitchFamily="34" charset="0"/>
                <a:ea typeface="ＭＳ Ｐゴシック" panose="020B0600070205080204" pitchFamily="34" charset="-128"/>
                <a:cs typeface="Calibri" panose="020F0502020204030204" pitchFamily="34" charset="0"/>
              </a:rPr>
              <a:t>Topics</a:t>
            </a:r>
          </a:p>
        </p:txBody>
      </p:sp>
      <p:sp>
        <p:nvSpPr>
          <p:cNvPr id="77827" name="Content Placeholder 2">
            <a:extLst>
              <a:ext uri="{FF2B5EF4-FFF2-40B4-BE49-F238E27FC236}">
                <a16:creationId xmlns:a16="http://schemas.microsoft.com/office/drawing/2014/main" id="{26245325-59B0-ED54-609D-4F0CF25BDFC7}"/>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ea typeface="ＭＳ Ｐゴシック" panose="020B0600070205080204" pitchFamily="34" charset="-128"/>
              </a:rPr>
              <a:t>Overview of Cryptography Hash Function</a:t>
            </a:r>
          </a:p>
          <a:p>
            <a:r>
              <a:rPr lang="en-US" altLang="en-US">
                <a:latin typeface="Calibri" panose="020F0502020204030204" pitchFamily="34" charset="0"/>
                <a:ea typeface="ＭＳ Ｐゴシック" panose="020B0600070205080204" pitchFamily="34" charset="-128"/>
              </a:rPr>
              <a:t>Usages</a:t>
            </a:r>
          </a:p>
          <a:p>
            <a:r>
              <a:rPr lang="en-US" altLang="en-US">
                <a:latin typeface="Calibri" panose="020F0502020204030204" pitchFamily="34" charset="0"/>
                <a:ea typeface="ＭＳ Ｐゴシック" panose="020B0600070205080204" pitchFamily="34" charset="-128"/>
              </a:rPr>
              <a:t>Properties</a:t>
            </a:r>
          </a:p>
          <a:p>
            <a:r>
              <a:rPr lang="en-US" altLang="en-US">
                <a:latin typeface="Calibri" panose="020F0502020204030204" pitchFamily="34" charset="0"/>
                <a:ea typeface="ＭＳ Ｐゴシック" panose="020B0600070205080204" pitchFamily="34" charset="-128"/>
              </a:rPr>
              <a:t>Hashing Function Structure</a:t>
            </a:r>
          </a:p>
          <a:p>
            <a:pPr lvl="1"/>
            <a:r>
              <a:rPr lang="en-US" altLang="en-US">
                <a:latin typeface="Calibri" panose="020F0502020204030204" pitchFamily="34" charset="0"/>
                <a:ea typeface="ＭＳ Ｐゴシック" panose="020B0600070205080204" pitchFamily="34" charset="-128"/>
              </a:rPr>
              <a:t>MD5</a:t>
            </a:r>
          </a:p>
          <a:p>
            <a:pPr lvl="1"/>
            <a:r>
              <a:rPr lang="en-US" altLang="en-US">
                <a:latin typeface="Calibri" panose="020F0502020204030204" pitchFamily="34" charset="0"/>
                <a:ea typeface="ＭＳ Ｐゴシック" panose="020B0600070205080204" pitchFamily="34" charset="-128"/>
              </a:rPr>
              <a:t>SHA</a:t>
            </a:r>
          </a:p>
          <a:p>
            <a:r>
              <a:rPr lang="en-US" altLang="en-US">
                <a:latin typeface="Calibri" panose="020F0502020204030204" pitchFamily="34" charset="0"/>
                <a:ea typeface="ＭＳ Ｐゴシック" panose="020B0600070205080204" pitchFamily="34" charset="-128"/>
              </a:rPr>
              <a:t>Attack on Hash Function </a:t>
            </a:r>
          </a:p>
          <a:p>
            <a:r>
              <a:rPr lang="en-US" altLang="en-US" b="1">
                <a:latin typeface="Calibri" panose="020F0502020204030204" pitchFamily="34" charset="0"/>
                <a:ea typeface="ＭＳ Ｐゴシック" panose="020B0600070205080204" pitchFamily="34" charset="-128"/>
              </a:rPr>
              <a:t>The Road to new Secure Hash Standard</a:t>
            </a:r>
          </a:p>
          <a:p>
            <a:endParaRPr lang="en-US" altLang="en-US">
              <a:latin typeface="Calibri" panose="020F0502020204030204" pitchFamily="34" charset="0"/>
              <a:ea typeface="ＭＳ Ｐゴシック" panose="020B0600070205080204" pitchFamily="34" charset="-128"/>
            </a:endParaRPr>
          </a:p>
          <a:p>
            <a:endParaRPr lang="en-US" altLang="en-US">
              <a:latin typeface="Calibri" panose="020F0502020204030204" pitchFamily="34" charset="0"/>
              <a:ea typeface="ＭＳ Ｐゴシック" panose="020B0600070205080204" pitchFamily="34" charset="-128"/>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E2BDD727-2FAA-846A-ACBB-FA766F128814}"/>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The need of new Hash standard</a:t>
            </a:r>
          </a:p>
        </p:txBody>
      </p:sp>
      <p:sp>
        <p:nvSpPr>
          <p:cNvPr id="78851" name="Content Placeholder 2">
            <a:extLst>
              <a:ext uri="{FF2B5EF4-FFF2-40B4-BE49-F238E27FC236}">
                <a16:creationId xmlns:a16="http://schemas.microsoft.com/office/drawing/2014/main" id="{6D2CD4E1-7FFF-A2E5-3A8D-45C60E42F398}"/>
              </a:ext>
            </a:extLst>
          </p:cNvPr>
          <p:cNvSpPr>
            <a:spLocks noGrp="1"/>
          </p:cNvSpPr>
          <p:nvPr>
            <p:ph sz="quarter" idx="1"/>
          </p:nvPr>
        </p:nvSpPr>
        <p:spPr>
          <a:xfrm>
            <a:off x="457200" y="1371600"/>
            <a:ext cx="8229600" cy="4876800"/>
          </a:xfrm>
        </p:spPr>
        <p:txBody>
          <a:bodyPr/>
          <a:lstStyle/>
          <a:p>
            <a:pPr eaLnBrk="1" hangingPunct="1">
              <a:buFont typeface="Wingdings" panose="05000000000000000000" pitchFamily="2" charset="2"/>
              <a:buChar char="Ø"/>
            </a:pPr>
            <a:r>
              <a:rPr lang="en-US" altLang="en-US" i="1">
                <a:latin typeface="Times New Roman" panose="02020603050405020304" pitchFamily="18" charset="0"/>
                <a:ea typeface="ＭＳ Ｐゴシック" panose="020B0600070205080204" pitchFamily="34" charset="-128"/>
                <a:cs typeface="Times New Roman" panose="02020603050405020304" pitchFamily="18" charset="0"/>
              </a:rPr>
              <a:t>MD5 should be considered cryptographically broken and unsuitable for further use</a:t>
            </a:r>
            <a:r>
              <a:rPr lang="en-US" altLang="en-US">
                <a:latin typeface="Calibri" panose="020F0502020204030204" pitchFamily="34" charset="0"/>
                <a:ea typeface="ＭＳ Ｐゴシック" panose="020B0600070205080204" pitchFamily="34" charset="-128"/>
              </a:rPr>
              <a:t>, US CERT 2010</a:t>
            </a:r>
          </a:p>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In 2004, a collision for the full SHA-0 algorithm was announced</a:t>
            </a:r>
          </a:p>
          <a:p>
            <a:pPr eaLnBrk="1" hangingPunct="1">
              <a:buFont typeface="Wingdings" panose="05000000000000000000" pitchFamily="2" charset="2"/>
              <a:buChar char="Ø"/>
            </a:pPr>
            <a:endParaRPr lang="en-US" altLang="en-US">
              <a:latin typeface="Calibri" panose="020F0502020204030204" pitchFamily="34" charset="0"/>
              <a:ea typeface="ＭＳ Ｐゴシック" panose="020B0600070205080204" pitchFamily="34" charset="-128"/>
            </a:endParaRPr>
          </a:p>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SHA-1 not yet fully “</a:t>
            </a:r>
            <a:r>
              <a:rPr lang="en-US" altLang="ja-JP" b="1">
                <a:latin typeface="Calibri" panose="020F0502020204030204" pitchFamily="34" charset="0"/>
                <a:ea typeface="ＭＳ Ｐゴシック" panose="020B0600070205080204" pitchFamily="34" charset="-128"/>
              </a:rPr>
              <a:t>broken</a:t>
            </a:r>
            <a:r>
              <a:rPr lang="en-US" altLang="en-US">
                <a:latin typeface="Calibri" panose="020F0502020204030204" pitchFamily="34" charset="0"/>
                <a:ea typeface="ＭＳ Ｐゴシック" panose="020B0600070205080204" pitchFamily="34" charset="-128"/>
              </a:rPr>
              <a:t>”</a:t>
            </a:r>
            <a:endParaRPr lang="en-US" altLang="ja-JP">
              <a:latin typeface="Calibri" panose="020F0502020204030204" pitchFamily="34" charset="0"/>
              <a:ea typeface="ＭＳ Ｐゴシック" panose="020B0600070205080204" pitchFamily="34" charset="-128"/>
            </a:endParaRPr>
          </a:p>
          <a:p>
            <a:pPr lvl="1" eaLnBrk="1" hangingPunct="1">
              <a:buFont typeface="Wingdings" panose="05000000000000000000" pitchFamily="2" charset="2"/>
              <a:buChar char="l"/>
            </a:pPr>
            <a:r>
              <a:rPr lang="en-US" altLang="en-US">
                <a:latin typeface="Calibri" panose="020F0502020204030204" pitchFamily="34" charset="0"/>
                <a:ea typeface="ＭＳ Ｐゴシック" panose="020B0600070205080204" pitchFamily="34" charset="-128"/>
              </a:rPr>
              <a:t>but similar to the broken MD5 &amp; SHA-0</a:t>
            </a:r>
          </a:p>
          <a:p>
            <a:pPr lvl="1" eaLnBrk="1" hangingPunct="1">
              <a:buFont typeface="Wingdings" panose="05000000000000000000" pitchFamily="2" charset="2"/>
              <a:buChar char="l"/>
            </a:pPr>
            <a:r>
              <a:rPr lang="en-US" altLang="en-US">
                <a:latin typeface="Calibri" panose="020F0502020204030204" pitchFamily="34" charset="0"/>
                <a:ea typeface="ＭＳ Ｐゴシック" panose="020B0600070205080204" pitchFamily="34" charset="-128"/>
              </a:rPr>
              <a:t>so considered insecure and be fade out</a:t>
            </a:r>
          </a:p>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SHA-2 (esp. SHA-512) seems secure</a:t>
            </a:r>
          </a:p>
          <a:p>
            <a:pPr lvl="1" eaLnBrk="1" hangingPunct="1">
              <a:buFont typeface="Wingdings" panose="05000000000000000000" pitchFamily="2" charset="2"/>
              <a:buChar char="l"/>
            </a:pPr>
            <a:r>
              <a:rPr lang="en-US" altLang="en-US">
                <a:latin typeface="Calibri" panose="020F0502020204030204" pitchFamily="34" charset="0"/>
                <a:ea typeface="ＭＳ Ｐゴシック" panose="020B0600070205080204" pitchFamily="34" charset="-128"/>
              </a:rPr>
              <a:t>shares same structure and mathematical operations as predecessors so have concern</a:t>
            </a: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14F15FED-7F49-E459-47C3-D260F6FE52D4}"/>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SHA-3 Requirements</a:t>
            </a:r>
          </a:p>
        </p:txBody>
      </p:sp>
      <p:sp>
        <p:nvSpPr>
          <p:cNvPr id="80899" name="Content Placeholder 2">
            <a:extLst>
              <a:ext uri="{FF2B5EF4-FFF2-40B4-BE49-F238E27FC236}">
                <a16:creationId xmlns:a16="http://schemas.microsoft.com/office/drawing/2014/main" id="{15C58D08-1EE3-49C6-5B50-DD28DE443CEF}"/>
              </a:ext>
            </a:extLst>
          </p:cNvPr>
          <p:cNvSpPr>
            <a:spLocks noGrp="1"/>
          </p:cNvSpPr>
          <p:nvPr>
            <p:ph sz="quarter" idx="1"/>
          </p:nvPr>
        </p:nvSpPr>
        <p:spPr>
          <a:xfrm>
            <a:off x="304800" y="1447800"/>
            <a:ext cx="8534400" cy="4454525"/>
          </a:xfrm>
        </p:spPr>
        <p:txBody>
          <a:bodyPr/>
          <a:lstStyle/>
          <a:p>
            <a:pPr eaLnBrk="1" hangingPunct="1">
              <a:buFont typeface="Wingdings" panose="05000000000000000000" pitchFamily="2" charset="2"/>
              <a:buChar char="Ø"/>
            </a:pPr>
            <a:r>
              <a:rPr lang="en-US" altLang="en-US">
                <a:latin typeface="Calibri" panose="020F0502020204030204" pitchFamily="34" charset="0"/>
                <a:ea typeface="ＭＳ Ｐゴシック" panose="020B0600070205080204" pitchFamily="34" charset="-128"/>
              </a:rPr>
              <a:t>NIST announced in 2007 a competition for the SHA-3 next gen hash function</a:t>
            </a:r>
          </a:p>
          <a:p>
            <a:pPr eaLnBrk="1" hangingPunct="1"/>
            <a:r>
              <a:rPr lang="en-US" altLang="en-US">
                <a:latin typeface="Calibri" panose="020F0502020204030204" pitchFamily="34" charset="0"/>
                <a:ea typeface="ＭＳ Ｐゴシック" panose="020B0600070205080204" pitchFamily="34" charset="-128"/>
              </a:rPr>
              <a:t>Replace SHA-2 with SHA-3 in any use</a:t>
            </a:r>
          </a:p>
          <a:p>
            <a:pPr lvl="1" eaLnBrk="1" hangingPunct="1"/>
            <a:r>
              <a:rPr lang="en-US" altLang="en-US">
                <a:latin typeface="Calibri" panose="020F0502020204030204" pitchFamily="34" charset="0"/>
                <a:ea typeface="ＭＳ Ｐゴシック" panose="020B0600070205080204" pitchFamily="34" charset="-128"/>
              </a:rPr>
              <a:t>so use same hash sizes</a:t>
            </a:r>
          </a:p>
          <a:p>
            <a:pPr eaLnBrk="1" hangingPunct="1"/>
            <a:r>
              <a:rPr lang="en-US" altLang="en-US">
                <a:latin typeface="Calibri" panose="020F0502020204030204" pitchFamily="34" charset="0"/>
                <a:ea typeface="ＭＳ Ｐゴシック" panose="020B0600070205080204" pitchFamily="34" charset="-128"/>
              </a:rPr>
              <a:t>preserve the nature of SHA-2</a:t>
            </a:r>
          </a:p>
          <a:p>
            <a:pPr lvl="1" eaLnBrk="1" hangingPunct="1"/>
            <a:r>
              <a:rPr lang="en-US" altLang="en-US">
                <a:latin typeface="Calibri" panose="020F0502020204030204" pitchFamily="34" charset="0"/>
                <a:ea typeface="ＭＳ Ｐゴシック" panose="020B0600070205080204" pitchFamily="34" charset="-128"/>
              </a:rPr>
              <a:t>so must process small blocks (512 / 1024 bits)</a:t>
            </a:r>
          </a:p>
          <a:p>
            <a:pPr eaLnBrk="1" hangingPunct="1"/>
            <a:r>
              <a:rPr lang="en-US" altLang="en-US">
                <a:latin typeface="Calibri" panose="020F0502020204030204" pitchFamily="34" charset="0"/>
                <a:ea typeface="ＭＳ Ｐゴシック" panose="020B0600070205080204" pitchFamily="34" charset="-128"/>
              </a:rPr>
              <a:t>evaluation criteria</a:t>
            </a:r>
          </a:p>
          <a:p>
            <a:pPr lvl="1" eaLnBrk="1" hangingPunct="1"/>
            <a:r>
              <a:rPr lang="en-US" altLang="en-US">
                <a:latin typeface="Calibri" panose="020F0502020204030204" pitchFamily="34" charset="0"/>
                <a:ea typeface="ＭＳ Ｐゴシック" panose="020B0600070205080204" pitchFamily="34" charset="-128"/>
              </a:rPr>
              <a:t>security close to theoretical max for hash sizes</a:t>
            </a:r>
          </a:p>
          <a:p>
            <a:pPr lvl="1" eaLnBrk="1" hangingPunct="1"/>
            <a:r>
              <a:rPr lang="en-US" altLang="en-US">
                <a:latin typeface="Calibri" panose="020F0502020204030204" pitchFamily="34" charset="0"/>
                <a:ea typeface="ＭＳ Ｐゴシック" panose="020B0600070205080204" pitchFamily="34" charset="-128"/>
              </a:rPr>
              <a:t>cost in time &amp; memory </a:t>
            </a:r>
          </a:p>
          <a:p>
            <a:pPr lvl="1" eaLnBrk="1" hangingPunct="1"/>
            <a:r>
              <a:rPr lang="en-US" altLang="en-US">
                <a:latin typeface="Calibri" panose="020F0502020204030204" pitchFamily="34" charset="0"/>
                <a:ea typeface="ＭＳ Ｐゴシック" panose="020B0600070205080204" pitchFamily="34" charset="-128"/>
              </a:rPr>
              <a:t>characteristics: such as flexibility &amp; simplicity</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BD7D95C1-90C3-61FF-1611-E91127ACED45}"/>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Timeline Competition</a:t>
            </a:r>
          </a:p>
        </p:txBody>
      </p:sp>
      <p:sp>
        <p:nvSpPr>
          <p:cNvPr id="82947" name="Content Placeholder 2">
            <a:extLst>
              <a:ext uri="{FF2B5EF4-FFF2-40B4-BE49-F238E27FC236}">
                <a16:creationId xmlns:a16="http://schemas.microsoft.com/office/drawing/2014/main" id="{3F06C532-56B3-EC26-ADD3-F59E7A3829A5}"/>
              </a:ext>
            </a:extLst>
          </p:cNvPr>
          <p:cNvSpPr>
            <a:spLocks noGrp="1"/>
          </p:cNvSpPr>
          <p:nvPr>
            <p:ph sz="quarter" idx="1"/>
          </p:nvPr>
        </p:nvSpPr>
        <p:spPr>
          <a:xfrm>
            <a:off x="457200" y="1311275"/>
            <a:ext cx="8362950" cy="4175125"/>
          </a:xfrm>
        </p:spPr>
        <p:txBody>
          <a:bodyPr/>
          <a:lstStyle/>
          <a:p>
            <a:pPr eaLnBrk="1" hangingPunct="1"/>
            <a:r>
              <a:rPr lang="en-US" altLang="en-US" b="1">
                <a:latin typeface="Calibri" panose="020F0502020204030204" pitchFamily="34" charset="0"/>
                <a:ea typeface="ＭＳ Ｐゴシック" panose="020B0600070205080204" pitchFamily="34" charset="-128"/>
              </a:rPr>
              <a:t>Nov 2007</a:t>
            </a:r>
            <a:r>
              <a:rPr lang="en-US" altLang="en-US">
                <a:latin typeface="Calibri" panose="020F0502020204030204" pitchFamily="34" charset="0"/>
                <a:ea typeface="ＭＳ Ｐゴシック" panose="020B0600070205080204" pitchFamily="34" charset="-128"/>
              </a:rPr>
              <a:t>:  Announce public competition</a:t>
            </a:r>
          </a:p>
          <a:p>
            <a:pPr eaLnBrk="1" hangingPunct="1"/>
            <a:r>
              <a:rPr lang="en-US" altLang="en-US" b="1">
                <a:latin typeface="Calibri" panose="020F0502020204030204" pitchFamily="34" charset="0"/>
                <a:ea typeface="ＭＳ Ｐゴシック" panose="020B0600070205080204" pitchFamily="34" charset="-128"/>
              </a:rPr>
              <a:t>Oct 2008</a:t>
            </a:r>
            <a:r>
              <a:rPr lang="en-US" altLang="en-US">
                <a:latin typeface="Calibri" panose="020F0502020204030204" pitchFamily="34" charset="0"/>
                <a:ea typeface="ＭＳ Ｐゴシック" panose="020B0600070205080204" pitchFamily="34" charset="-128"/>
              </a:rPr>
              <a:t>: 	64 Entries</a:t>
            </a:r>
          </a:p>
          <a:p>
            <a:pPr eaLnBrk="1" hangingPunct="1"/>
            <a:r>
              <a:rPr lang="en-US" altLang="en-US" b="1">
                <a:latin typeface="Calibri" panose="020F0502020204030204" pitchFamily="34" charset="0"/>
                <a:ea typeface="ＭＳ Ｐゴシック" panose="020B0600070205080204" pitchFamily="34" charset="-128"/>
              </a:rPr>
              <a:t>Dec 2008</a:t>
            </a:r>
            <a:r>
              <a:rPr lang="en-US" altLang="en-US">
                <a:latin typeface="Calibri" panose="020F0502020204030204" pitchFamily="34" charset="0"/>
                <a:ea typeface="ＭＳ Ｐゴシック" panose="020B0600070205080204" pitchFamily="34" charset="-128"/>
              </a:rPr>
              <a:t>: 	51 Entries as 1</a:t>
            </a:r>
            <a:r>
              <a:rPr lang="en-US" altLang="en-US" baseline="30000">
                <a:latin typeface="Calibri" panose="020F0502020204030204" pitchFamily="34" charset="0"/>
                <a:ea typeface="ＭＳ Ｐゴシック" panose="020B0600070205080204" pitchFamily="34" charset="-128"/>
              </a:rPr>
              <a:t>st</a:t>
            </a:r>
            <a:r>
              <a:rPr lang="en-US" altLang="en-US">
                <a:latin typeface="Calibri" panose="020F0502020204030204" pitchFamily="34" charset="0"/>
                <a:ea typeface="ＭＳ Ｐゴシック" panose="020B0600070205080204" pitchFamily="34" charset="-128"/>
              </a:rPr>
              <a:t> Round </a:t>
            </a:r>
          </a:p>
          <a:p>
            <a:pPr eaLnBrk="1" hangingPunct="1"/>
            <a:r>
              <a:rPr lang="en-US" altLang="en-US" b="1">
                <a:latin typeface="Calibri" panose="020F0502020204030204" pitchFamily="34" charset="0"/>
                <a:ea typeface="ＭＳ Ｐゴシック" panose="020B0600070205080204" pitchFamily="34" charset="-128"/>
              </a:rPr>
              <a:t>Jul 2009</a:t>
            </a:r>
            <a:r>
              <a:rPr lang="en-US" altLang="en-US">
                <a:latin typeface="Calibri" panose="020F0502020204030204" pitchFamily="34" charset="0"/>
                <a:ea typeface="ＭＳ Ｐゴシック" panose="020B0600070205080204" pitchFamily="34" charset="-128"/>
              </a:rPr>
              <a:t>: 	14 Entries as 2</a:t>
            </a:r>
            <a:r>
              <a:rPr lang="en-US" altLang="en-US" baseline="30000">
                <a:latin typeface="Calibri" panose="020F0502020204030204" pitchFamily="34" charset="0"/>
                <a:ea typeface="ＭＳ Ｐゴシック" panose="020B0600070205080204" pitchFamily="34" charset="-128"/>
              </a:rPr>
              <a:t>nd</a:t>
            </a:r>
            <a:r>
              <a:rPr lang="en-US" altLang="en-US">
                <a:latin typeface="Calibri" panose="020F0502020204030204" pitchFamily="34" charset="0"/>
                <a:ea typeface="ＭＳ Ｐゴシック" panose="020B0600070205080204" pitchFamily="34" charset="-128"/>
              </a:rPr>
              <a:t> Round</a:t>
            </a:r>
          </a:p>
          <a:p>
            <a:pPr eaLnBrk="1" hangingPunct="1"/>
            <a:r>
              <a:rPr lang="en-US" altLang="en-US" b="1">
                <a:latin typeface="Calibri" panose="020F0502020204030204" pitchFamily="34" charset="0"/>
                <a:ea typeface="ＭＳ Ｐゴシック" panose="020B0600070205080204" pitchFamily="34" charset="-128"/>
              </a:rPr>
              <a:t>Dec 2010</a:t>
            </a:r>
            <a:r>
              <a:rPr lang="en-US" altLang="en-US">
                <a:latin typeface="Calibri" panose="020F0502020204030204" pitchFamily="34" charset="0"/>
                <a:ea typeface="ＭＳ Ｐゴシック" panose="020B0600070205080204" pitchFamily="34" charset="-128"/>
              </a:rPr>
              <a:t>:	5 Entries as 3</a:t>
            </a:r>
            <a:r>
              <a:rPr lang="en-US" altLang="en-US" baseline="30000">
                <a:latin typeface="Calibri" panose="020F0502020204030204" pitchFamily="34" charset="0"/>
                <a:ea typeface="ＭＳ Ｐゴシック" panose="020B0600070205080204" pitchFamily="34" charset="-128"/>
              </a:rPr>
              <a:t>rd</a:t>
            </a:r>
            <a:r>
              <a:rPr lang="en-US" altLang="en-US">
                <a:latin typeface="Calibri" panose="020F0502020204030204" pitchFamily="34" charset="0"/>
                <a:ea typeface="ＭＳ Ｐゴシック" panose="020B0600070205080204" pitchFamily="34" charset="-128"/>
              </a:rPr>
              <a:t> Round </a:t>
            </a:r>
          </a:p>
          <a:p>
            <a:pPr eaLnBrk="1" hangingPunct="1"/>
            <a:r>
              <a:rPr lang="en-US" altLang="en-US" b="1">
                <a:latin typeface="Calibri" panose="020F0502020204030204" pitchFamily="34" charset="0"/>
                <a:ea typeface="ＭＳ Ｐゴシック" panose="020B0600070205080204" pitchFamily="34" charset="-128"/>
              </a:rPr>
              <a:t>Jan 2011:</a:t>
            </a:r>
            <a:r>
              <a:rPr lang="en-US" altLang="en-US">
                <a:latin typeface="Calibri" panose="020F0502020204030204" pitchFamily="34" charset="0"/>
                <a:ea typeface="ＭＳ Ｐゴシック" panose="020B0600070205080204" pitchFamily="34" charset="-128"/>
              </a:rPr>
              <a:t> 	Final packages submission and enter public comments</a:t>
            </a:r>
          </a:p>
          <a:p>
            <a:pPr eaLnBrk="1" hangingPunct="1"/>
            <a:r>
              <a:rPr lang="en-US" altLang="en-US" b="1">
                <a:latin typeface="Calibri" panose="020F0502020204030204" pitchFamily="34" charset="0"/>
                <a:ea typeface="ＭＳ Ｐゴシック" panose="020B0600070205080204" pitchFamily="34" charset="-128"/>
              </a:rPr>
              <a:t>2012:</a:t>
            </a:r>
            <a:r>
              <a:rPr lang="en-US" altLang="en-US">
                <a:latin typeface="Calibri" panose="020F0502020204030204" pitchFamily="34" charset="0"/>
                <a:ea typeface="ＭＳ Ｐゴシック" panose="020B0600070205080204" pitchFamily="34" charset="-128"/>
              </a:rPr>
              <a:t>	</a:t>
            </a:r>
            <a:r>
              <a:rPr lang="en-US" altLang="en-US" i="1">
                <a:latin typeface="Calibri" panose="020F0502020204030204" pitchFamily="34" charset="0"/>
                <a:ea typeface="ＭＳ Ｐゴシック" panose="020B0600070205080204" pitchFamily="34" charset="-128"/>
              </a:rPr>
              <a:t>SHA-3 winner announcement (Still in progress)</a:t>
            </a:r>
            <a:r>
              <a:rPr lang="en-US" altLang="en-US">
                <a:latin typeface="Calibri" panose="020F0502020204030204" pitchFamily="34" charset="0"/>
                <a:ea typeface="ＭＳ Ｐゴシック" panose="020B0600070205080204" pitchFamily="34" charset="-128"/>
              </a:rPr>
              <a:t> </a:t>
            </a: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092ACCA8-DA0E-749C-8EF3-62AEE352D9F0}"/>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Five SHA-3 Finalists</a:t>
            </a:r>
          </a:p>
        </p:txBody>
      </p:sp>
      <p:sp>
        <p:nvSpPr>
          <p:cNvPr id="83971" name="Content Placeholder 2">
            <a:extLst>
              <a:ext uri="{FF2B5EF4-FFF2-40B4-BE49-F238E27FC236}">
                <a16:creationId xmlns:a16="http://schemas.microsoft.com/office/drawing/2014/main" id="{B277508F-8C9C-5E90-1928-854C71DB32D7}"/>
              </a:ext>
            </a:extLst>
          </p:cNvPr>
          <p:cNvSpPr>
            <a:spLocks noGrp="1"/>
          </p:cNvSpPr>
          <p:nvPr>
            <p:ph sz="quarter" idx="1"/>
          </p:nvPr>
        </p:nvSpPr>
        <p:spPr>
          <a:xfrm>
            <a:off x="457200" y="1524000"/>
            <a:ext cx="8229600" cy="2286000"/>
          </a:xfrm>
        </p:spPr>
        <p:txBody>
          <a:bodyPr/>
          <a:lstStyle/>
          <a:p>
            <a:pPr eaLnBrk="1" hangingPunct="1"/>
            <a:r>
              <a:rPr lang="en-US" altLang="en-US">
                <a:latin typeface="Calibri" panose="020F0502020204030204" pitchFamily="34" charset="0"/>
                <a:ea typeface="ＭＳ Ｐゴシック" panose="020B0600070205080204" pitchFamily="34" charset="-128"/>
              </a:rPr>
              <a:t>BLAKE</a:t>
            </a:r>
          </a:p>
          <a:p>
            <a:pPr eaLnBrk="1" hangingPunct="1"/>
            <a:r>
              <a:rPr lang="en-US" altLang="en-US">
                <a:latin typeface="Calibri" panose="020F0502020204030204" pitchFamily="34" charset="0"/>
                <a:ea typeface="ＭＳ Ｐゴシック" panose="020B0600070205080204" pitchFamily="34" charset="-128"/>
              </a:rPr>
              <a:t>Grøstl</a:t>
            </a:r>
          </a:p>
          <a:p>
            <a:pPr eaLnBrk="1" hangingPunct="1"/>
            <a:r>
              <a:rPr lang="en-US" altLang="en-US">
                <a:latin typeface="Calibri" panose="020F0502020204030204" pitchFamily="34" charset="0"/>
                <a:ea typeface="ＭＳ Ｐゴシック" panose="020B0600070205080204" pitchFamily="34" charset="-128"/>
              </a:rPr>
              <a:t>JH</a:t>
            </a:r>
          </a:p>
          <a:p>
            <a:pPr eaLnBrk="1" hangingPunct="1"/>
            <a:r>
              <a:rPr lang="en-US" altLang="en-US">
                <a:latin typeface="Calibri" panose="020F0502020204030204" pitchFamily="34" charset="0"/>
                <a:ea typeface="ＭＳ Ｐゴシック" panose="020B0600070205080204" pitchFamily="34" charset="-128"/>
              </a:rPr>
              <a:t>Keccak</a:t>
            </a:r>
          </a:p>
          <a:p>
            <a:pPr eaLnBrk="1" hangingPunct="1"/>
            <a:r>
              <a:rPr lang="en-US" altLang="en-US">
                <a:latin typeface="Calibri" panose="020F0502020204030204" pitchFamily="34" charset="0"/>
                <a:ea typeface="ＭＳ Ｐゴシック" panose="020B0600070205080204" pitchFamily="34" charset="-128"/>
              </a:rPr>
              <a:t>Skien</a:t>
            </a:r>
          </a:p>
          <a:p>
            <a:pPr eaLnBrk="1" hangingPunct="1"/>
            <a:endParaRPr lang="en-US" altLang="en-US">
              <a:latin typeface="Calibri" panose="020F0502020204030204" pitchFamily="34" charset="0"/>
              <a:ea typeface="ＭＳ Ｐゴシック" panose="020B0600070205080204" pitchFamily="34" charset="-128"/>
            </a:endParaRPr>
          </a:p>
        </p:txBody>
      </p:sp>
      <p:sp>
        <p:nvSpPr>
          <p:cNvPr id="83972" name="Rectangle 3">
            <a:extLst>
              <a:ext uri="{FF2B5EF4-FFF2-40B4-BE49-F238E27FC236}">
                <a16:creationId xmlns:a16="http://schemas.microsoft.com/office/drawing/2014/main" id="{1D5AA2F3-56FB-A0E5-93DF-8B738B5DB387}"/>
              </a:ext>
            </a:extLst>
          </p:cNvPr>
          <p:cNvSpPr>
            <a:spLocks noChangeArrowheads="1"/>
          </p:cNvSpPr>
          <p:nvPr/>
        </p:nvSpPr>
        <p:spPr bwMode="auto">
          <a:xfrm>
            <a:off x="609600" y="3962400"/>
            <a:ext cx="777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ea typeface="ＭＳ Ｐゴシック" panose="020B0600070205080204" pitchFamily="34" charset="-128"/>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Calibri" panose="020F0502020204030204" pitchFamily="34" charset="0"/>
                <a:ea typeface="ＭＳ Ｐゴシック" panose="020B0600070205080204" pitchFamily="34" charset="-128"/>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Calibri" panose="020F0502020204030204" pitchFamily="34" charset="0"/>
                <a:ea typeface="ＭＳ Ｐゴシック" panose="020B0600070205080204" pitchFamily="34" charset="-128"/>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r>
              <a:rPr lang="en-US" altLang="en-US" sz="1800" i="1"/>
              <a:t>http://csrc.nist.gov/groups/ST/hash/sha-3/Round3/submissions_rnd3.html</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5D9589C8-C481-A598-87DC-00131F0F1CB8}"/>
              </a:ext>
            </a:extLst>
          </p:cNvPr>
          <p:cNvSpPr>
            <a:spLocks noGrp="1"/>
          </p:cNvSpPr>
          <p:nvPr>
            <p:ph type="title"/>
          </p:nvPr>
        </p:nvSpPr>
        <p:spPr/>
        <p:txBody>
          <a:bodyPr/>
          <a:lstStyle/>
          <a:p>
            <a:pPr eaLnBrk="1" hangingPunct="1"/>
            <a:r>
              <a:rPr lang="en-US" altLang="en-US">
                <a:latin typeface="Calibri" panose="020F0502020204030204" pitchFamily="34" charset="0"/>
                <a:ea typeface="ＭＳ Ｐゴシック" panose="020B0600070205080204" pitchFamily="34" charset="-128"/>
                <a:cs typeface="Calibri" panose="020F0502020204030204" pitchFamily="34" charset="0"/>
              </a:rPr>
              <a:t>Summary</a:t>
            </a:r>
          </a:p>
        </p:txBody>
      </p:sp>
      <p:sp>
        <p:nvSpPr>
          <p:cNvPr id="84995" name="Content Placeholder 2">
            <a:extLst>
              <a:ext uri="{FF2B5EF4-FFF2-40B4-BE49-F238E27FC236}">
                <a16:creationId xmlns:a16="http://schemas.microsoft.com/office/drawing/2014/main" id="{13BC47F6-ABDC-3B79-DC9C-734F253FD933}"/>
              </a:ext>
            </a:extLst>
          </p:cNvPr>
          <p:cNvSpPr>
            <a:spLocks noGrp="1"/>
          </p:cNvSpPr>
          <p:nvPr>
            <p:ph sz="quarter" idx="1"/>
          </p:nvPr>
        </p:nvSpPr>
        <p:spPr>
          <a:xfrm>
            <a:off x="457200" y="1219200"/>
            <a:ext cx="8229600" cy="4937125"/>
          </a:xfrm>
        </p:spPr>
        <p:txBody>
          <a:bodyPr/>
          <a:lstStyle/>
          <a:p>
            <a:pPr eaLnBrk="1" hangingPunct="1"/>
            <a:r>
              <a:rPr lang="en-US" altLang="en-US" sz="2400">
                <a:latin typeface="Calibri" panose="020F0502020204030204" pitchFamily="34" charset="0"/>
                <a:ea typeface="ＭＳ Ｐゴシック" panose="020B0600070205080204" pitchFamily="34" charset="-128"/>
              </a:rPr>
              <a:t>Hash functions are keyless</a:t>
            </a:r>
          </a:p>
          <a:p>
            <a:pPr lvl="1" eaLnBrk="1" hangingPunct="1"/>
            <a:r>
              <a:rPr lang="en-US" altLang="en-US" sz="1800">
                <a:latin typeface="Calibri" panose="020F0502020204030204" pitchFamily="34" charset="0"/>
                <a:ea typeface="ＭＳ Ｐゴシック" panose="020B0600070205080204" pitchFamily="34" charset="-128"/>
              </a:rPr>
              <a:t>Applications for digital signatures and in message authentication codes</a:t>
            </a:r>
            <a:endParaRPr lang="en-US" altLang="en-US" sz="2400">
              <a:latin typeface="Calibri" panose="020F0502020204030204" pitchFamily="34" charset="0"/>
              <a:ea typeface="ＭＳ Ｐゴシック" panose="020B0600070205080204" pitchFamily="34" charset="-128"/>
            </a:endParaRPr>
          </a:p>
          <a:p>
            <a:pPr eaLnBrk="1" hangingPunct="1"/>
            <a:r>
              <a:rPr lang="en-US" altLang="en-US" sz="2400">
                <a:latin typeface="Calibri" panose="020F0502020204030204" pitchFamily="34" charset="0"/>
                <a:ea typeface="ＭＳ Ｐゴシック" panose="020B0600070205080204" pitchFamily="34" charset="-128"/>
              </a:rPr>
              <a:t>The three security requirements for hash functions are </a:t>
            </a:r>
          </a:p>
          <a:p>
            <a:pPr lvl="1" eaLnBrk="1" hangingPunct="1"/>
            <a:r>
              <a:rPr lang="en-US" altLang="en-US" sz="1800">
                <a:latin typeface="Calibri" panose="020F0502020204030204" pitchFamily="34" charset="0"/>
                <a:ea typeface="ＭＳ Ｐゴシック" panose="020B0600070205080204" pitchFamily="34" charset="-128"/>
              </a:rPr>
              <a:t>one-wayness, second preimage resistance and collision resistance</a:t>
            </a:r>
            <a:endParaRPr lang="en-US" altLang="en-US" sz="2400">
              <a:latin typeface="Calibri" panose="020F0502020204030204" pitchFamily="34" charset="0"/>
              <a:ea typeface="ＭＳ Ｐゴシック" panose="020B0600070205080204" pitchFamily="34" charset="-128"/>
            </a:endParaRPr>
          </a:p>
          <a:p>
            <a:pPr eaLnBrk="1" hangingPunct="1"/>
            <a:r>
              <a:rPr lang="en-US" altLang="en-US" sz="2400">
                <a:latin typeface="Calibri" panose="020F0502020204030204" pitchFamily="34" charset="0"/>
                <a:ea typeface="ＭＳ Ｐゴシック" panose="020B0600070205080204" pitchFamily="34" charset="-128"/>
              </a:rPr>
              <a:t>MD5 and SHA-0 is insecure</a:t>
            </a:r>
          </a:p>
          <a:p>
            <a:pPr eaLnBrk="1" hangingPunct="1"/>
            <a:r>
              <a:rPr lang="en-US" altLang="en-US" sz="2400">
                <a:latin typeface="Calibri" panose="020F0502020204030204" pitchFamily="34" charset="0"/>
                <a:ea typeface="ＭＳ Ｐゴシック" panose="020B0600070205080204" pitchFamily="34" charset="-128"/>
              </a:rPr>
              <a:t>Serious security weaknesses have been found in SHA-1</a:t>
            </a:r>
          </a:p>
          <a:p>
            <a:pPr lvl="1" eaLnBrk="1" hangingPunct="1"/>
            <a:r>
              <a:rPr lang="en-US" altLang="en-US" sz="1800">
                <a:latin typeface="Calibri" panose="020F0502020204030204" pitchFamily="34" charset="0"/>
                <a:ea typeface="ＭＳ Ｐゴシック" panose="020B0600070205080204" pitchFamily="34" charset="-128"/>
              </a:rPr>
              <a:t>should be phased out</a:t>
            </a:r>
          </a:p>
          <a:p>
            <a:pPr lvl="1" eaLnBrk="1" hangingPunct="1">
              <a:spcBef>
                <a:spcPts val="600"/>
              </a:spcBef>
              <a:buClr>
                <a:schemeClr val="accent1"/>
              </a:buClr>
            </a:pPr>
            <a:r>
              <a:rPr lang="en-US" altLang="en-US" sz="1800">
                <a:latin typeface="Calibri" panose="020F0502020204030204" pitchFamily="34" charset="0"/>
                <a:ea typeface="ＭＳ Ｐゴシック" panose="020B0600070205080204" pitchFamily="34" charset="-128"/>
              </a:rPr>
              <a:t>SHA-2 appears to be secure</a:t>
            </a:r>
          </a:p>
          <a:p>
            <a:pPr lvl="1" eaLnBrk="1" hangingPunct="1"/>
            <a:r>
              <a:rPr lang="en-US" altLang="en-US" sz="1800">
                <a:latin typeface="Calibri" panose="020F0502020204030204" pitchFamily="34" charset="0"/>
                <a:ea typeface="ＭＳ Ｐゴシック" panose="020B0600070205080204" pitchFamily="34" charset="-128"/>
              </a:rPr>
              <a:t>May use SHA-512 and use the first 256 bytes</a:t>
            </a:r>
          </a:p>
          <a:p>
            <a:pPr eaLnBrk="1" hangingPunct="1"/>
            <a:r>
              <a:rPr lang="en-US" altLang="en-US" sz="2400">
                <a:latin typeface="Calibri" panose="020F0502020204030204" pitchFamily="34" charset="0"/>
                <a:ea typeface="ＭＳ Ｐゴシック" panose="020B0600070205080204" pitchFamily="34" charset="-128"/>
              </a:rPr>
              <a:t>The ongoing SHA-3 competition will result in new standardized hash functions in a next year</a:t>
            </a:r>
          </a:p>
        </p:txBody>
      </p:sp>
    </p:spTree>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ＭＳ 明朝"/>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Origin.thmx</Template>
  <TotalTime>2937</TotalTime>
  <Words>5403</Words>
  <Application>Microsoft Office PowerPoint</Application>
  <PresentationFormat>On-screen Show (4:3)</PresentationFormat>
  <Paragraphs>467</Paragraphs>
  <Slides>47</Slides>
  <Notes>26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Arial</vt:lpstr>
      <vt:lpstr>ＭＳ Ｐゴシック</vt:lpstr>
      <vt:lpstr>Calibri</vt:lpstr>
      <vt:lpstr>Wingdings 3</vt:lpstr>
      <vt:lpstr>Wingdings</vt:lpstr>
      <vt:lpstr>Gill Sans MT</vt:lpstr>
      <vt:lpstr>Times New Roman</vt:lpstr>
      <vt:lpstr>Embedded-Garamond</vt:lpstr>
      <vt:lpstr>Courier New</vt:lpstr>
      <vt:lpstr>Embedded-Garamond-Italic</vt:lpstr>
      <vt:lpstr>Origin</vt:lpstr>
      <vt:lpstr>Cryptographic Hash Functions</vt:lpstr>
      <vt:lpstr>Topics</vt:lpstr>
      <vt:lpstr>Hash Function</vt:lpstr>
      <vt:lpstr>Chewing functions</vt:lpstr>
      <vt:lpstr>Hashing V.S. Encryption</vt:lpstr>
      <vt:lpstr>Motivation for Hash Algorithms</vt:lpstr>
      <vt:lpstr>Hash Function Applications</vt:lpstr>
      <vt:lpstr>Integrity</vt:lpstr>
      <vt:lpstr>Password Verification</vt:lpstr>
      <vt:lpstr>Topics</vt:lpstr>
      <vt:lpstr>Hash Function Usages (I)</vt:lpstr>
      <vt:lpstr>Hash Function Usages (II)</vt:lpstr>
      <vt:lpstr>Hash Function Usages (III)</vt:lpstr>
      <vt:lpstr>Topics</vt:lpstr>
      <vt:lpstr>Hash Function Properties</vt:lpstr>
      <vt:lpstr>Properties : Fixed length</vt:lpstr>
      <vt:lpstr>Preimage resistant</vt:lpstr>
      <vt:lpstr>Second preimage resistant </vt:lpstr>
      <vt:lpstr>Collision Resistant</vt:lpstr>
      <vt:lpstr>Topics</vt:lpstr>
      <vt:lpstr>Two Group of Compression Functions</vt:lpstr>
      <vt:lpstr>Merkle-Damgard Scheme</vt:lpstr>
      <vt:lpstr>Hash Functions Family</vt:lpstr>
      <vt:lpstr>MD5, SHA-1, and RIPEMD-160</vt:lpstr>
      <vt:lpstr>MD2, MD4 and MD5</vt:lpstr>
      <vt:lpstr>MD5 Overview</vt:lpstr>
      <vt:lpstr>Topics</vt:lpstr>
      <vt:lpstr>MD5 Overview</vt:lpstr>
      <vt:lpstr>  Hash Algorithm Design – MD5</vt:lpstr>
      <vt:lpstr>PowerPoint Presentation</vt:lpstr>
      <vt:lpstr>Topics</vt:lpstr>
      <vt:lpstr>Secure Hash Algorithm</vt:lpstr>
      <vt:lpstr>Revised SHA</vt:lpstr>
      <vt:lpstr>SHA Versions</vt:lpstr>
      <vt:lpstr>Sample Processing</vt:lpstr>
      <vt:lpstr>SHA-512 Overview</vt:lpstr>
      <vt:lpstr>Padding and length field in SHA-512</vt:lpstr>
      <vt:lpstr>SHA-512 Round Function</vt:lpstr>
      <vt:lpstr>Topics</vt:lpstr>
      <vt:lpstr>Hash Function Cryptanalysis</vt:lpstr>
      <vt:lpstr>Attacks on Hash Functions</vt:lpstr>
      <vt:lpstr>Topics</vt:lpstr>
      <vt:lpstr>The need of new Hash standard</vt:lpstr>
      <vt:lpstr>SHA-3 Requirements</vt:lpstr>
      <vt:lpstr>Timeline Competition</vt:lpstr>
      <vt:lpstr>Five SHA-3 Finalists</vt:lpstr>
      <vt:lpstr>Summary</vt:lpstr>
    </vt:vector>
  </TitlesOfParts>
  <Manager/>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11</dc:subject>
  <dc:creator>Dr Lawrie Brown</dc:creator>
  <cp:keywords/>
  <dc:description/>
  <cp:lastModifiedBy>PATSAMATLA BHAAVYA RAMI</cp:lastModifiedBy>
  <cp:revision>108</cp:revision>
  <cp:lastPrinted>2009-08-28T04:22:45Z</cp:lastPrinted>
  <dcterms:created xsi:type="dcterms:W3CDTF">2011-07-18T14:14:34Z</dcterms:created>
  <dcterms:modified xsi:type="dcterms:W3CDTF">2026-01-29T22:45:47Z</dcterms:modified>
  <cp:category/>
</cp:coreProperties>
</file>
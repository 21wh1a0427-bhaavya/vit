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0" r:id="rId4"/>
  </p:sldMasterIdLst>
  <p:notesMasterIdLst>
    <p:notesMasterId r:id="rId16"/>
  </p:notesMasterIdLst>
  <p:handoutMasterIdLst>
    <p:handoutMasterId r:id="rId17"/>
  </p:handoutMasterIdLst>
  <p:sldIdLst>
    <p:sldId id="1520" r:id="rId5"/>
    <p:sldId id="1531" r:id="rId6"/>
    <p:sldId id="1541" r:id="rId7"/>
    <p:sldId id="1517" r:id="rId8"/>
    <p:sldId id="1539" r:id="rId9"/>
    <p:sldId id="1526" r:id="rId10"/>
    <p:sldId id="1544" r:id="rId11"/>
    <p:sldId id="1543" r:id="rId12"/>
    <p:sldId id="1545" r:id="rId13"/>
    <p:sldId id="1536" r:id="rId14"/>
    <p:sldId id="151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6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4421221"/>
            <a:ext cx="10478450" cy="914400"/>
          </a:xfrm>
        </p:spPr>
        <p:txBody>
          <a:bodyPr anchor="t" anchorCtr="0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5335373"/>
            <a:ext cx="10478450" cy="7315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8CC9A669-A9A2-C81A-7659-2BE084D43C3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6B6C58C-A09F-CD8C-3AD4-3613FA8617A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7057" y="4519930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079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75" y="831439"/>
            <a:ext cx="10440990" cy="113225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975" y="2103120"/>
            <a:ext cx="10440989" cy="357729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419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7C4ECD9-5950-288D-F0E8-15AB93A0C1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532546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97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073" y="2920382"/>
            <a:ext cx="6675120" cy="2468880"/>
          </a:xfrm>
        </p:spPr>
        <p:txBody>
          <a:bodyPr anchor="t" anchorCtr="0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073" y="5413788"/>
            <a:ext cx="6675120" cy="64008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85760" y="0"/>
            <a:ext cx="4206240" cy="6858000"/>
          </a:xfrm>
          <a:blipFill dpi="0" rotWithShape="1">
            <a:blip r:embed="rId2">
              <a:alphaModFix amt="60000"/>
            </a:blip>
            <a:srcRect/>
            <a:stretch>
              <a:fillRect l="-5681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BEFB6B4-A1CA-B788-D366-460FCF81670F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5164" y="1893372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348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832850"/>
            <a:ext cx="7478991" cy="3635797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4526561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5969981-6F14-05AD-84BE-60811ABC8EE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4895" y="911860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35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1097280"/>
            <a:ext cx="7876287" cy="3592629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5057409"/>
            <a:ext cx="7375466" cy="101498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5D914E6-8049-9561-C97E-2ED8FCDB89E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54030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24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7AB9D02-BDB0-5420-CBA2-3044DDB6D79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077712" y="679622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96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B7FFBE8-95FC-A978-8212-6B5D8F34CC6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047762" y="676656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8461" y="1561943"/>
            <a:ext cx="4681728" cy="4569825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8DA51E07-C561-85B3-141B-4157C0521F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5994" cy="6858000"/>
          </a:xfrm>
          <a:blipFill dpi="0" rotWithShape="1">
            <a:blip r:embed="rId4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702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1C35429-0BEB-CBD1-23C7-BE3E81942C9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5" y="1196492"/>
            <a:ext cx="10107029" cy="493527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336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5" y="1196492"/>
            <a:ext cx="4800600" cy="493527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F85F708B-992C-821E-50D2-07A27EDFA1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6" y="0"/>
            <a:ext cx="609599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C35429-0BEB-CBD1-23C7-BE3E81942C9C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859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9F53EAF-F066-AFDA-2C25-8F96143C7AF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4895" y="911860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10063"/>
            <a:ext cx="8467558" cy="1554480"/>
          </a:xfrm>
        </p:spPr>
        <p:txBody>
          <a:bodyPr anchor="t" anchorCtr="0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816" y="2380995"/>
            <a:ext cx="8869680" cy="329184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852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302209"/>
            <a:ext cx="5577962" cy="480713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11808" y="1884121"/>
            <a:ext cx="3596952" cy="4151675"/>
          </a:xfrm>
        </p:spPr>
        <p:txBody>
          <a:bodyPr anchor="b" anchorCtr="0">
            <a:normAutofit/>
          </a:bodyPr>
          <a:lstStyle>
            <a:lvl1pPr marL="0" indent="0">
              <a:spcAft>
                <a:spcPts val="1000"/>
              </a:spcAft>
              <a:buFontTx/>
              <a:buNone/>
              <a:defRPr sz="1800"/>
            </a:lvl1pPr>
            <a:lvl2pPr marL="228600" indent="0">
              <a:spcAft>
                <a:spcPts val="1000"/>
              </a:spcAft>
              <a:buFontTx/>
              <a:buNone/>
              <a:defRPr sz="1600"/>
            </a:lvl2pPr>
            <a:lvl3pPr marL="457200" indent="0">
              <a:spcAft>
                <a:spcPts val="1000"/>
              </a:spcAft>
              <a:buFontTx/>
              <a:buNone/>
              <a:defRPr sz="1400"/>
            </a:lvl3pPr>
            <a:lvl4pPr marL="685800" indent="0">
              <a:spcAft>
                <a:spcPts val="1000"/>
              </a:spcAft>
              <a:buFontTx/>
              <a:buNone/>
              <a:defRPr sz="1800"/>
            </a:lvl4pPr>
            <a:lvl5pPr marL="914400" indent="0">
              <a:spcAft>
                <a:spcPts val="1000"/>
              </a:spcAft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DB380E6-DA46-CD20-B419-2C58AADE9D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752392" y="675798"/>
            <a:ext cx="36576" cy="52120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848" y="80351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2150" y="799483"/>
            <a:ext cx="4429566" cy="365125"/>
          </a:xfrm>
        </p:spPr>
        <p:txBody>
          <a:bodyPr/>
          <a:lstStyle>
            <a:lvl1pPr algn="ctr">
              <a:defRPr/>
            </a:lvl1pPr>
          </a:lstStyle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669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302209"/>
            <a:ext cx="3234184" cy="4202629"/>
          </a:xfrm>
        </p:spPr>
        <p:txBody>
          <a:bodyPr anchor="ctr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524" y="1353163"/>
            <a:ext cx="3596952" cy="4151675"/>
          </a:xfrm>
        </p:spPr>
        <p:txBody>
          <a:bodyPr anchor="ctr" anchorCtr="0">
            <a:normAutofit/>
          </a:bodyPr>
          <a:lstStyle>
            <a:lvl1pPr marL="0" indent="0">
              <a:spcAft>
                <a:spcPts val="1000"/>
              </a:spcAft>
              <a:buFontTx/>
              <a:buNone/>
              <a:defRPr sz="1800"/>
            </a:lvl1pPr>
            <a:lvl2pPr marL="228600" indent="0">
              <a:spcAft>
                <a:spcPts val="1000"/>
              </a:spcAft>
              <a:buFontTx/>
              <a:buNone/>
              <a:defRPr sz="1600"/>
            </a:lvl2pPr>
            <a:lvl3pPr marL="457200" indent="0">
              <a:spcAft>
                <a:spcPts val="1000"/>
              </a:spcAft>
              <a:buFontTx/>
              <a:buNone/>
              <a:defRPr sz="1400"/>
            </a:lvl3pPr>
            <a:lvl4pPr marL="685800" indent="0">
              <a:spcAft>
                <a:spcPts val="1000"/>
              </a:spcAft>
              <a:buFontTx/>
              <a:buNone/>
              <a:defRPr sz="1800"/>
            </a:lvl4pPr>
            <a:lvl5pPr marL="914400" indent="0">
              <a:spcAft>
                <a:spcPts val="1000"/>
              </a:spcAft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DB380E6-DA46-CD20-B419-2C58AADE9D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79576" y="675798"/>
            <a:ext cx="36576" cy="52120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813816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386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74732B46-F1F0-7522-FC25-AABA628DA30B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104188" y="676656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4552002"/>
            <a:ext cx="4663440" cy="1554480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22FFB4D-B5E7-3882-7509-50FC147AD0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3544" y="941832"/>
            <a:ext cx="4179742" cy="2992856"/>
          </a:xfrm>
          <a:blipFill dpi="0" rotWithShape="1">
            <a:blip r:embed="rId4">
              <a:alphaModFix amt="60000"/>
            </a:blip>
            <a:srcRect/>
            <a:stretch>
              <a:fillRect l="-3918" t="-835" b="-33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816682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65388" y="2718978"/>
            <a:ext cx="4663440" cy="3337560"/>
          </a:xfrm>
        </p:spPr>
        <p:txBody>
          <a:bodyPr anchor="b" anchorCtr="0">
            <a:normAutofit/>
          </a:bodyPr>
          <a:lstStyle>
            <a:lvl1pPr marL="0" indent="0">
              <a:buFont typeface="+mj-lt"/>
              <a:buNone/>
              <a:defRPr sz="1800"/>
            </a:lvl1pPr>
            <a:lvl2pPr marL="228600" indent="0">
              <a:buFont typeface="+mj-lt"/>
              <a:buNone/>
              <a:defRPr sz="16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800"/>
            </a:lvl4pPr>
            <a:lvl5pPr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87598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1C55ED2-79AB-08DC-6DCF-C07F6CBD227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2189" y="1217512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04" y="2385975"/>
            <a:ext cx="4325112" cy="245479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398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6383B9E-F152-84FC-BD1D-4F84C5670DA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57799" y="5660464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" y="2819320"/>
            <a:ext cx="4372547" cy="283464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B0E68BA-9AEE-909E-56B9-A14C4D9AD3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2171156"/>
          </a:xfrm>
          <a:blipFill dpi="0" rotWithShape="1">
            <a:blip r:embed="rId4">
              <a:alphaModFix amt="60000"/>
            </a:blip>
            <a:srcRect/>
            <a:stretch>
              <a:fillRect l="1" t="1" r="-5" b="-37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815002"/>
            <a:ext cx="5162550" cy="283464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5717127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4534" y="571464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372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48082"/>
            <a:ext cx="4145582" cy="463882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7419" y="848517"/>
            <a:ext cx="5681662" cy="48180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5717127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4664" y="571464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7595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50392"/>
            <a:ext cx="4142232" cy="494066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7607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66305"/>
            <a:ext cx="6159500" cy="539082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188239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01" y="842957"/>
            <a:ext cx="3494314" cy="476817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7088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65504"/>
            <a:ext cx="6766560" cy="5093862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800"/>
            </a:lvl1pPr>
            <a:lvl2pPr>
              <a:lnSpc>
                <a:spcPct val="90000"/>
              </a:lnSpc>
              <a:defRPr sz="1600"/>
            </a:lvl2pPr>
            <a:lvl3pPr>
              <a:lnSpc>
                <a:spcPct val="90000"/>
              </a:lnSpc>
              <a:defRPr sz="14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111924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6209" y="868680"/>
            <a:ext cx="6093225" cy="11430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437529" cy="6858000"/>
          </a:xfrm>
          <a:blipFill dpi="0" rotWithShape="1">
            <a:blip r:embed="rId2">
              <a:alphaModFix amt="60000"/>
            </a:blip>
            <a:srcRect/>
            <a:stretch>
              <a:fillRect r="-803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39833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6209" y="2017058"/>
            <a:ext cx="6071616" cy="448970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237749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190" y="82296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17903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490472" y="457200"/>
            <a:ext cx="184708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316" y="2057402"/>
            <a:ext cx="6135624" cy="44897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0814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8854" y="829325"/>
            <a:ext cx="6858000" cy="93268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3429000" cy="6858000"/>
          </a:xfrm>
          <a:blipFill dpi="0" rotWithShape="1">
            <a:blip r:embed="rId2">
              <a:alphaModFix amt="60000"/>
            </a:blip>
            <a:srcRect/>
            <a:stretch>
              <a:fillRect r="-1733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35476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8854" y="1878456"/>
            <a:ext cx="6858000" cy="49834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936376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046" y="4257446"/>
            <a:ext cx="4297661" cy="1852154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F2A913F-34E8-6AA3-93B1-82EC2684015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348844" y="5660464"/>
            <a:ext cx="36576" cy="521208"/>
          </a:xfrm>
          <a:prstGeom prst="rect">
            <a:avLst/>
          </a:prstGeom>
        </p:spPr>
      </p:pic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A9DF44A2-0708-C962-D4F6-461FBBBE26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5034" y="849445"/>
            <a:ext cx="4173673" cy="2913664"/>
          </a:xfrm>
          <a:blipFill dpi="0" rotWithShape="1">
            <a:blip r:embed="rId4">
              <a:alphaModFix amt="60000"/>
            </a:blip>
            <a:srcRect/>
            <a:stretch>
              <a:fillRect b="159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12179" y="849444"/>
            <a:ext cx="5295472" cy="483489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69680" y="5719845"/>
            <a:ext cx="1847088" cy="38975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28411" y="5746499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544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9038" y="832804"/>
            <a:ext cx="4361688" cy="1527048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 l="-1" r="-8457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08975" y="2467805"/>
            <a:ext cx="4362450" cy="4095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875427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023" y="2132530"/>
            <a:ext cx="4961795" cy="1527048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AA2C06F4-46D4-E31A-FE24-FA262F307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909016"/>
            <a:ext cx="5685399" cy="5039969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8D34A61-0B4C-7668-21C4-92101CEE4BE3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267" y="1217512"/>
            <a:ext cx="36576" cy="521208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33023" y="3788229"/>
            <a:ext cx="4961795" cy="191922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46428" y="572028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03273" y="5720287"/>
            <a:ext cx="2805405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7803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094" y="825703"/>
            <a:ext cx="4522936" cy="932688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672379" cy="6858000"/>
          </a:xfrm>
          <a:blipFill dpi="0" rotWithShape="1">
            <a:blip r:embed="rId2">
              <a:alphaModFix amt="60000"/>
            </a:blip>
            <a:srcRect/>
            <a:stretch>
              <a:fillRect r="-14454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48429" y="1789540"/>
            <a:ext cx="4512601" cy="49834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985879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73104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585" y="457200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2618" y="457200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816" y="1933808"/>
            <a:ext cx="4572000" cy="49834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3CD55653-C8C9-068F-CF5A-7E1436D7EF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9621" y="0"/>
            <a:ext cx="5672379" cy="6858000"/>
          </a:xfrm>
          <a:blipFill dpi="0" rotWithShape="1">
            <a:blip r:embed="rId2">
              <a:alphaModFix amt="60000"/>
            </a:blip>
            <a:srcRect/>
            <a:stretch>
              <a:fillRect r="-14454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7263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6298" y="831603"/>
            <a:ext cx="3401568" cy="1527048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038109" cy="6858000"/>
          </a:xfrm>
          <a:blipFill dpi="0" rotWithShape="1">
            <a:blip r:embed="rId2">
              <a:alphaModFix amt="60000"/>
            </a:blip>
            <a:srcRect/>
            <a:stretch>
              <a:fillRect r="-775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69680" y="457200"/>
            <a:ext cx="1847088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66425" y="2379232"/>
            <a:ext cx="3401568" cy="4095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09857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22960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269" y="457200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472" y="457200"/>
            <a:ext cx="184708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816" y="2377440"/>
            <a:ext cx="3401568" cy="409575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935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7417" y="822516"/>
            <a:ext cx="3273552" cy="1942773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220197" cy="6858000"/>
          </a:xfrm>
          <a:blipFill dpi="0" rotWithShape="1">
            <a:blip r:embed="rId2">
              <a:alphaModFix amt="60000"/>
            </a:blip>
            <a:srcRect/>
            <a:stretch>
              <a:fillRect l="1" r="-777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411" y="2778536"/>
            <a:ext cx="3273552" cy="29260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7743" y="571464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47220" y="5715000"/>
            <a:ext cx="2335165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2923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13" y="4299577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692106"/>
          </a:xfrm>
          <a:blipFill dpi="0" rotWithShape="1">
            <a:blip r:embed="rId2">
              <a:alphaModFix amt="60000"/>
            </a:blip>
            <a:srcRect/>
            <a:stretch>
              <a:fillRect t="-1" b="-2554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299576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2690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3791259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141683"/>
          </a:xfrm>
          <a:blipFill dpi="0" rotWithShape="1">
            <a:blip r:embed="rId2">
              <a:alphaModFix amt="60000"/>
            </a:blip>
            <a:srcRect/>
            <a:stretch>
              <a:fillRect t="2" b="-20264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791259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0003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223" y="833527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7088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833527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3993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63503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9210" y="1828800"/>
            <a:ext cx="5701655" cy="40882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104" y="594360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472" y="5943600"/>
            <a:ext cx="1845772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047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14645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4" y="2971800"/>
            <a:ext cx="4219217" cy="2968589"/>
          </a:xfrm>
          <a:blipFill dpi="0" rotWithShape="1">
            <a:blip r:embed="rId2">
              <a:alphaModFix amt="60000"/>
            </a:blip>
            <a:srcRect/>
            <a:stretch>
              <a:fillRect l="148" t="-11888" r="-148" b="-1104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104" y="594360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472" y="5943600"/>
            <a:ext cx="1845772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4950" y="838031"/>
            <a:ext cx="5585925" cy="57832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042614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28825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3473" y="2662694"/>
            <a:ext cx="2826675" cy="3273309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84806-6EE6-E9E7-C756-577E511C94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0476" y="59436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E95BE-BAAA-0962-1F37-8E80B5075B4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90553" y="59436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8493" y="840587"/>
            <a:ext cx="6561138" cy="60350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578048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4688" y="4318002"/>
            <a:ext cx="3741303" cy="1727191"/>
          </a:xfrm>
        </p:spPr>
        <p:txBody>
          <a:bodyPr anchor="b" anchorCtr="0">
            <a:normAutofit/>
          </a:bodyPr>
          <a:lstStyle>
            <a:lvl1pPr>
              <a:lnSpc>
                <a:spcPct val="11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7240" y="603503"/>
            <a:ext cx="10535513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75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12892AD-A824-80C0-23D0-A50E8E6086C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215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0ABD31F-6790-1046-FAA9-F005395197D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074" y="4520514"/>
            <a:ext cx="7525512" cy="1545336"/>
          </a:xfrm>
        </p:spPr>
        <p:txBody>
          <a:bodyPr anchor="b" anchorCtr="0">
            <a:normAutofit/>
          </a:bodyPr>
          <a:lstStyle>
            <a:lvl1pPr algn="r">
              <a:lnSpc>
                <a:spcPct val="11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7240" y="912730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75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3D60A-2641-9137-7CFC-67D96357882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79D38F-DE10-E2BB-5C22-9A8C0781F15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1470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898" y="1318437"/>
            <a:ext cx="4368688" cy="4747413"/>
          </a:xfrm>
        </p:spPr>
        <p:txBody>
          <a:bodyPr anchor="b" anchorCtr="0">
            <a:normAutofit/>
          </a:bodyPr>
          <a:lstStyle>
            <a:lvl1pPr algn="r">
              <a:lnSpc>
                <a:spcPct val="11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7240" y="1318437"/>
            <a:ext cx="5318760" cy="533542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75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17F8DEA-3543-B752-B9E3-AC000CAB4672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F2F7EA-5D69-7C1B-CCA8-B001A58AE3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869680" y="722163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5CC0F-ADA3-ABFA-0894-792752304D3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936224" y="722163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5525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617F66D-47D7-5FE5-3A3F-34A22FF6A16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077712" y="5660464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558436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84023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B9366FF-A392-C240-F718-4B73E04621E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077712" y="5660464"/>
            <a:ext cx="36576" cy="521208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 i="0" cap="all" spc="50" baseline="0">
                <a:latin typeface="+mj-lt"/>
                <a:cs typeface="Poppins" pitchFamily="2" charset="77"/>
              </a:defRPr>
            </a:lvl1pPr>
            <a:lvl2pPr marL="228600" indent="0" algn="ctr">
              <a:lnSpc>
                <a:spcPct val="100000"/>
              </a:lnSpc>
              <a:buNone/>
              <a:defRPr sz="3600" b="1" i="0" cap="all" spc="50" baseline="0">
                <a:latin typeface="+mj-lt"/>
                <a:cs typeface="Poppins" pitchFamily="2" charset="77"/>
              </a:defRPr>
            </a:lvl2pPr>
            <a:lvl3pPr marL="457200" indent="0" algn="ctr">
              <a:lnSpc>
                <a:spcPct val="100000"/>
              </a:lnSpc>
              <a:buNone/>
              <a:defRPr sz="3200" b="1" i="0" cap="all" spc="50" baseline="0">
                <a:latin typeface="+mj-lt"/>
                <a:cs typeface="Poppins" pitchFamily="2" charset="77"/>
              </a:defRPr>
            </a:lvl3pPr>
            <a:lvl4pPr marL="685800" indent="0" algn="ctr">
              <a:lnSpc>
                <a:spcPct val="100000"/>
              </a:lnSpc>
              <a:buNone/>
              <a:defRPr sz="2800" b="1" i="0" cap="all" spc="50" baseline="0">
                <a:latin typeface="+mj-lt"/>
                <a:cs typeface="Poppins" pitchFamily="2" charset="77"/>
              </a:defRPr>
            </a:lvl4pPr>
            <a:lvl5pPr marL="914400" indent="0" algn="ctr">
              <a:lnSpc>
                <a:spcPct val="100000"/>
              </a:lnSpc>
              <a:buNone/>
              <a:defRPr sz="2400" b="1" i="0" cap="all" spc="50" baseline="0">
                <a:latin typeface="+mj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25147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520A179-8E3E-2B95-A97F-C6829695293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148" y="921438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3816" y="1996848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4000" b="1" i="0" cap="all" spc="50" baseline="0">
                <a:latin typeface="+mj-lt"/>
                <a:cs typeface="Poppins" pitchFamily="2" charset="77"/>
              </a:defRPr>
            </a:lvl1pPr>
            <a:lvl2pPr marL="228600" indent="0">
              <a:lnSpc>
                <a:spcPct val="100000"/>
              </a:lnSpc>
              <a:buNone/>
              <a:defRPr sz="3200" b="1" i="0" cap="all" spc="50" baseline="0">
                <a:latin typeface="+mj-lt"/>
                <a:cs typeface="Poppins" pitchFamily="2" charset="77"/>
              </a:defRPr>
            </a:lvl2pPr>
            <a:lvl3pPr marL="457200" indent="0">
              <a:lnSpc>
                <a:spcPct val="100000"/>
              </a:lnSpc>
              <a:buNone/>
              <a:defRPr sz="2800" b="1" i="0" cap="all" spc="50" baseline="0">
                <a:latin typeface="+mj-lt"/>
                <a:cs typeface="Poppins" pitchFamily="2" charset="77"/>
              </a:defRPr>
            </a:lvl3pPr>
            <a:lvl4pPr marL="685800" indent="0">
              <a:lnSpc>
                <a:spcPct val="100000"/>
              </a:lnSpc>
              <a:buNone/>
              <a:defRPr sz="2400" b="1" i="0" cap="all" spc="50" baseline="0">
                <a:latin typeface="+mj-lt"/>
                <a:cs typeface="Poppins" pitchFamily="2" charset="77"/>
              </a:defRPr>
            </a:lvl4pPr>
            <a:lvl5pPr marL="914400" indent="0">
              <a:lnSpc>
                <a:spcPct val="100000"/>
              </a:lnSpc>
              <a:buNone/>
              <a:defRPr sz="2000" b="1" i="0" cap="all" spc="50" baseline="0">
                <a:latin typeface="+mj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49345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681" y="760672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000" b="1" i="0" cap="all" spc="50" baseline="0">
                <a:latin typeface="+mj-lt"/>
                <a:cs typeface="Poppins" pitchFamily="2" charset="77"/>
              </a:defRPr>
            </a:lvl1pPr>
            <a:lvl2pPr marL="228600" indent="0">
              <a:lnSpc>
                <a:spcPct val="100000"/>
              </a:lnSpc>
              <a:buNone/>
              <a:defRPr sz="3200" b="1" i="0" cap="all" spc="50" baseline="0">
                <a:latin typeface="+mj-lt"/>
                <a:cs typeface="Poppins" pitchFamily="2" charset="77"/>
              </a:defRPr>
            </a:lvl2pPr>
            <a:lvl3pPr marL="457200" indent="0">
              <a:lnSpc>
                <a:spcPct val="100000"/>
              </a:lnSpc>
              <a:buNone/>
              <a:defRPr sz="2800" b="1" i="0" cap="all" spc="50" baseline="0">
                <a:latin typeface="+mj-lt"/>
                <a:cs typeface="Poppins" pitchFamily="2" charset="77"/>
              </a:defRPr>
            </a:lvl3pPr>
            <a:lvl4pPr marL="685800" indent="0">
              <a:lnSpc>
                <a:spcPct val="100000"/>
              </a:lnSpc>
              <a:buNone/>
              <a:defRPr sz="2400" b="1" i="0" cap="all" spc="50" baseline="0">
                <a:latin typeface="+mj-lt"/>
                <a:cs typeface="Poppins" pitchFamily="2" charset="77"/>
              </a:defRPr>
            </a:lvl4pPr>
            <a:lvl5pPr marL="914400" indent="0">
              <a:lnSpc>
                <a:spcPct val="100000"/>
              </a:lnSpc>
              <a:buNone/>
              <a:defRPr sz="2000" b="1" i="0" cap="all" spc="50" baseline="0">
                <a:latin typeface="+mj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4584083-25C0-4BCD-77BF-0F4B50C89CE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0986884" y="676656"/>
            <a:ext cx="36576" cy="52120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F9D7C9-2DBC-E12A-4A0F-59AD76DB111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869680" y="5717127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58948-847F-22CD-2AA2-CF3475976F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936224" y="571464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1040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600" y="5601041"/>
            <a:ext cx="8229600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cap="none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025C941-1D26-5955-DC05-31D96A1D00E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0983213" y="5660464"/>
            <a:ext cx="36576" cy="521208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2280" y="776028"/>
            <a:ext cx="8229600" cy="45720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1" cap="all" spc="50" baseline="0"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379534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4802977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1" i="0" cap="all" spc="50" baseline="0"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537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5444" y="457200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7720" y="9448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1" i="0" cap="all" spc="50" baseline="0"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7286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23" y="829551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9723" y="1980371"/>
            <a:ext cx="518160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69148" y="1980371"/>
            <a:ext cx="518160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588687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615443"/>
            <a:ext cx="3437583" cy="409920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7FBFB58-BD7D-0E9B-7D02-1BE0CDCEA4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972457"/>
          </a:xfrm>
          <a:blipFill dpi="0" rotWithShape="1">
            <a:blip r:embed="rId2">
              <a:alphaModFix amt="60000"/>
            </a:blip>
            <a:srcRect/>
            <a:stretch>
              <a:fillRect l="1" t="1" r="-5" b="-48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1840" y="1615442"/>
            <a:ext cx="6119865" cy="201168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800"/>
            </a:lvl1pPr>
            <a:lvl2pPr marL="228600" indent="0">
              <a:lnSpc>
                <a:spcPct val="90000"/>
              </a:lnSpc>
              <a:buNone/>
              <a:defRPr sz="1600"/>
            </a:lvl2pPr>
            <a:lvl3pPr marL="457200" indent="0">
              <a:lnSpc>
                <a:spcPct val="90000"/>
              </a:lnSpc>
              <a:buNone/>
              <a:defRPr sz="1400"/>
            </a:lvl3pPr>
            <a:lvl4pPr marL="685800" indent="0">
              <a:lnSpc>
                <a:spcPct val="90000"/>
              </a:lnSpc>
              <a:buNone/>
              <a:defRPr sz="1200"/>
            </a:lvl4pPr>
            <a:lvl5pPr marL="914400" indent="0">
              <a:lnSpc>
                <a:spcPct val="90000"/>
              </a:lnSpc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48775" y="3945380"/>
            <a:ext cx="6119865" cy="201168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800"/>
            </a:lvl1pPr>
            <a:lvl2pPr marL="228600" indent="0">
              <a:lnSpc>
                <a:spcPct val="90000"/>
              </a:lnSpc>
              <a:buNone/>
              <a:defRPr sz="1600"/>
            </a:lvl2pPr>
            <a:lvl3pPr marL="457200" indent="0">
              <a:lnSpc>
                <a:spcPct val="90000"/>
              </a:lnSpc>
              <a:buNone/>
              <a:defRPr sz="1400"/>
            </a:lvl3pPr>
            <a:lvl4pPr marL="685800" indent="0">
              <a:lnSpc>
                <a:spcPct val="90000"/>
              </a:lnSpc>
              <a:buNone/>
              <a:defRPr sz="1200"/>
            </a:lvl4pPr>
            <a:lvl5pPr marL="914400" indent="0">
              <a:lnSpc>
                <a:spcPct val="90000"/>
              </a:lnSpc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59436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5943600"/>
            <a:ext cx="1845772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3887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5" y="830733"/>
            <a:ext cx="10439463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625" y="2007011"/>
            <a:ext cx="49377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i="0" cap="all" baseline="0"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0246" y="2007011"/>
            <a:ext cx="49377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i="0" cap="all" baseline="0"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9625" y="2708876"/>
            <a:ext cx="4937760" cy="37639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30246" y="2708876"/>
            <a:ext cx="4937760" cy="37639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6720123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938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8831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47531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3816" y="2605036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3868" y="842371"/>
            <a:ext cx="6440258" cy="575510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671612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94666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3816" y="3163019"/>
            <a:ext cx="3585586" cy="343463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89154" y="894665"/>
            <a:ext cx="5685399" cy="5039969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5934634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59436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1955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90" y="826903"/>
            <a:ext cx="7342307" cy="1133856"/>
          </a:xfrm>
        </p:spPr>
        <p:txBody>
          <a:bodyPr anchor="t" anchorCtr="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5390" y="1996874"/>
            <a:ext cx="10467653" cy="27432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F099A399-8358-4832-8F28-17D6ED3E74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5885543"/>
            <a:ext cx="12192000" cy="972457"/>
          </a:xfrm>
          <a:blipFill dpi="0" rotWithShape="1">
            <a:blip r:embed="rId2">
              <a:alphaModFix amt="60000"/>
            </a:blip>
            <a:srcRect/>
            <a:stretch>
              <a:fillRect l="1" t="1" r="-5" b="-48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967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22648"/>
            <a:ext cx="8430767" cy="1842020"/>
          </a:xfrm>
        </p:spPr>
        <p:txBody>
          <a:bodyPr anchor="t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816" y="2717420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513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90" y="826903"/>
            <a:ext cx="7342307" cy="1133856"/>
          </a:xfrm>
        </p:spPr>
        <p:txBody>
          <a:bodyPr anchor="t" anchorCtr="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5390" y="1993392"/>
            <a:ext cx="10467653" cy="176953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274E4BF-A9CB-F772-DFA6-C511FFC5541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4495800"/>
            <a:ext cx="12191999" cy="2362200"/>
          </a:xfrm>
          <a:blipFill dpi="0" rotWithShape="1">
            <a:blip r:embed="rId2">
              <a:alphaModFix amt="60000"/>
            </a:blip>
            <a:srcRect/>
            <a:stretch>
              <a:fillRect l="1" t="-200" r="-5" b="-3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393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609" y="826658"/>
            <a:ext cx="10447125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6609" y="1715532"/>
            <a:ext cx="10447125" cy="4125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476" y="571464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0553" y="5717127"/>
            <a:ext cx="184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26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828" r:id="rId10"/>
    <p:sldLayoutId id="2147483780" r:id="rId11"/>
    <p:sldLayoutId id="2147483781" r:id="rId12"/>
    <p:sldLayoutId id="2147483826" r:id="rId13"/>
    <p:sldLayoutId id="2147483782" r:id="rId14"/>
    <p:sldLayoutId id="2147483783" r:id="rId15"/>
    <p:sldLayoutId id="2147483784" r:id="rId16"/>
    <p:sldLayoutId id="2147483785" r:id="rId17"/>
    <p:sldLayoutId id="2147483786" r:id="rId18"/>
    <p:sldLayoutId id="2147483787" r:id="rId19"/>
    <p:sldLayoutId id="2147483788" r:id="rId20"/>
    <p:sldLayoutId id="2147483789" r:id="rId21"/>
    <p:sldLayoutId id="2147483790" r:id="rId22"/>
    <p:sldLayoutId id="2147483827" r:id="rId23"/>
    <p:sldLayoutId id="2147483793" r:id="rId24"/>
    <p:sldLayoutId id="2147483794" r:id="rId25"/>
    <p:sldLayoutId id="2147483795" r:id="rId26"/>
    <p:sldLayoutId id="2147483796" r:id="rId27"/>
    <p:sldLayoutId id="2147483797" r:id="rId28"/>
    <p:sldLayoutId id="2147483798" r:id="rId29"/>
    <p:sldLayoutId id="2147483799" r:id="rId30"/>
    <p:sldLayoutId id="2147483800" r:id="rId31"/>
    <p:sldLayoutId id="2147483801" r:id="rId32"/>
    <p:sldLayoutId id="2147483802" r:id="rId33"/>
    <p:sldLayoutId id="2147483803" r:id="rId34"/>
    <p:sldLayoutId id="2147483804" r:id="rId35"/>
    <p:sldLayoutId id="2147483805" r:id="rId36"/>
    <p:sldLayoutId id="2147483806" r:id="rId37"/>
    <p:sldLayoutId id="2147483807" r:id="rId38"/>
    <p:sldLayoutId id="2147483808" r:id="rId39"/>
    <p:sldLayoutId id="2147483809" r:id="rId40"/>
    <p:sldLayoutId id="2147483810" r:id="rId41"/>
    <p:sldLayoutId id="2147483811" r:id="rId42"/>
    <p:sldLayoutId id="2147483812" r:id="rId43"/>
    <p:sldLayoutId id="2147483813" r:id="rId44"/>
    <p:sldLayoutId id="2147483814" r:id="rId45"/>
    <p:sldLayoutId id="2147483815" r:id="rId46"/>
    <p:sldLayoutId id="2147483816" r:id="rId47"/>
    <p:sldLayoutId id="2147483817" r:id="rId48"/>
    <p:sldLayoutId id="2147483818" r:id="rId49"/>
    <p:sldLayoutId id="2147483819" r:id="rId50"/>
    <p:sldLayoutId id="2147483820" r:id="rId51"/>
    <p:sldLayoutId id="2147483821" r:id="rId52"/>
    <p:sldLayoutId id="2147483822" r:id="rId53"/>
    <p:sldLayoutId id="2147483823" r:id="rId54"/>
    <p:sldLayoutId id="2147483825" r:id="rId55"/>
    <p:sldLayoutId id="2147483824" r:id="rId5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all" spc="50" baseline="0">
          <a:solidFill>
            <a:schemeClr val="tx1"/>
          </a:solidFill>
          <a:latin typeface="+mj-lt"/>
          <a:ea typeface="+mj-ea"/>
          <a:cs typeface="Poppins" pitchFamily="2" charset="77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Poppins Light" pitchFamily="2" charset="77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+mn-lt"/>
          <a:ea typeface="+mn-ea"/>
          <a:cs typeface="Poppins Light" pitchFamily="2" charset="77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Poppins Light" pitchFamily="2" charset="77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100" b="0" i="0" kern="120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5.03625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8.xml"/><Relationship Id="rId4" Type="http://schemas.openxmlformats.org/officeDocument/2006/relationships/hyperlink" Target="https://github.com/manyan-chan/risk-dashboar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fullHtml/10.1145/3461778.3462008" TargetMode="External"/><Relationship Id="rId2" Type="http://schemas.openxmlformats.org/officeDocument/2006/relationships/hyperlink" Target="https://iabac.org/blog/data-engineering-in-financial-services-managing-risk-and-unlocking-insight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mc.ncbi.nlm.nih.gov/articles/PMC9803199/" TargetMode="External"/><Relationship Id="rId4" Type="http://schemas.openxmlformats.org/officeDocument/2006/relationships/hyperlink" Target="https://www.fca.org.uk/publications/research-notes/research-note-digital-engagement-practices-trading-apps-experiment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0169023X2500120X" TargetMode="External"/><Relationship Id="rId2" Type="http://schemas.openxmlformats.org/officeDocument/2006/relationships/hyperlink" Target="https://arxiv.org/abs/2104.11863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veryoneinvested.com/insights/retail-investor-dashboard-empowering-new-investors/" TargetMode="External"/><Relationship Id="rId4" Type="http://schemas.openxmlformats.org/officeDocument/2006/relationships/hyperlink" Target="https://pmc.ncbi.nlm.nih.gov/articles/PMC6436746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ca.org.uk/publication/research/behaviourally-informed-risk-warnings.pdf" TargetMode="External"/><Relationship Id="rId2" Type="http://schemas.openxmlformats.org/officeDocument/2006/relationships/hyperlink" Target="https://www.mezzi.com/blog/case-studies-visualizing-investor-behavior-with-ai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FBEB139-49D2-8D04-86D2-09C06D00D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3539" y="1797434"/>
            <a:ext cx="6675120" cy="2468880"/>
          </a:xfrm>
        </p:spPr>
        <p:txBody>
          <a:bodyPr/>
          <a:lstStyle/>
          <a:p>
            <a:r>
              <a:rPr lang="en-US" dirty="0"/>
              <a:t>Retail Investor Behavior Drift Analysis and Risk Visualization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FA8D9FA2-302E-0315-171F-48BC54215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539" y="797336"/>
            <a:ext cx="6675120" cy="640080"/>
          </a:xfrm>
        </p:spPr>
        <p:txBody>
          <a:bodyPr>
            <a:noAutofit/>
          </a:bodyPr>
          <a:lstStyle/>
          <a:p>
            <a:r>
              <a:rPr lang="en-US" sz="1600" dirty="0"/>
              <a:t>Vellore Institute of Technology, Chennai</a:t>
            </a:r>
          </a:p>
        </p:txBody>
      </p:sp>
      <p:sp>
        <p:nvSpPr>
          <p:cNvPr id="2" name="Subtitle 11">
            <a:extLst>
              <a:ext uri="{FF2B5EF4-FFF2-40B4-BE49-F238E27FC236}">
                <a16:creationId xmlns:a16="http://schemas.microsoft.com/office/drawing/2014/main" id="{0E209A3A-9732-5B2C-921F-343563F0579A}"/>
              </a:ext>
            </a:extLst>
          </p:cNvPr>
          <p:cNvSpPr txBox="1">
            <a:spLocks/>
          </p:cNvSpPr>
          <p:nvPr/>
        </p:nvSpPr>
        <p:spPr>
          <a:xfrm>
            <a:off x="1063539" y="5309514"/>
            <a:ext cx="667512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MAMHA609 Data Engineering and Visualization</a:t>
            </a:r>
          </a:p>
        </p:txBody>
      </p:sp>
      <p:sp>
        <p:nvSpPr>
          <p:cNvPr id="3" name="Subtitle 11">
            <a:extLst>
              <a:ext uri="{FF2B5EF4-FFF2-40B4-BE49-F238E27FC236}">
                <a16:creationId xmlns:a16="http://schemas.microsoft.com/office/drawing/2014/main" id="{A4A1B733-9D84-CF76-AE94-5D4EE1360510}"/>
              </a:ext>
            </a:extLst>
          </p:cNvPr>
          <p:cNvSpPr txBox="1">
            <a:spLocks/>
          </p:cNvSpPr>
          <p:nvPr/>
        </p:nvSpPr>
        <p:spPr>
          <a:xfrm>
            <a:off x="1063539" y="4989474"/>
            <a:ext cx="667512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Presented by Bhaavya Ramita</a:t>
            </a:r>
          </a:p>
        </p:txBody>
      </p:sp>
      <p:pic>
        <p:nvPicPr>
          <p:cNvPr id="2050" name="Picture 2" descr="Wall Street by Keystone">
            <a:extLst>
              <a:ext uri="{FF2B5EF4-FFF2-40B4-BE49-F238E27FC236}">
                <a16:creationId xmlns:a16="http://schemas.microsoft.com/office/drawing/2014/main" id="{04B2A338-797E-5AD7-6215-248EFB74475A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8" r="429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914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70BCB1-1398-488A-AB5B-1A8A2227F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302209"/>
            <a:ext cx="5577962" cy="4807131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E95F89-8477-A56E-8577-D59A3A670E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11808" y="1884121"/>
            <a:ext cx="3596952" cy="4151675"/>
          </a:xfrm>
        </p:spPr>
        <p:txBody>
          <a:bodyPr/>
          <a:lstStyle/>
          <a:p>
            <a:r>
              <a:rPr lang="en-US" dirty="0"/>
              <a:t>Abstract</a:t>
            </a:r>
          </a:p>
          <a:p>
            <a:r>
              <a:rPr lang="en-US" dirty="0"/>
              <a:t>Motivation/Background</a:t>
            </a:r>
          </a:p>
          <a:p>
            <a:r>
              <a:rPr lang="en-US" dirty="0"/>
              <a:t>Objectives</a:t>
            </a:r>
          </a:p>
          <a:p>
            <a:r>
              <a:rPr lang="en-US" dirty="0"/>
              <a:t>Base Paper</a:t>
            </a:r>
          </a:p>
          <a:p>
            <a:r>
              <a:rPr lang="en-US" dirty="0"/>
              <a:t>Literature Survey</a:t>
            </a:r>
          </a:p>
          <a:p>
            <a:r>
              <a:rPr lang="en-US" dirty="0"/>
              <a:t>Conclusion</a:t>
            </a:r>
          </a:p>
        </p:txBody>
      </p:sp>
      <p:pic>
        <p:nvPicPr>
          <p:cNvPr id="5122" name="Picture 2" descr="Wall Street | Black and white, Support artists, Artist">
            <a:extLst>
              <a:ext uri="{FF2B5EF4-FFF2-40B4-BE49-F238E27FC236}">
                <a16:creationId xmlns:a16="http://schemas.microsoft.com/office/drawing/2014/main" id="{59B8E0F7-E57A-0BBD-A235-F5AECF2E8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16" y="876998"/>
            <a:ext cx="5577962" cy="3706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3073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E61352-1920-1A62-43A4-937BFCA57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120" y="1150733"/>
            <a:ext cx="4325112" cy="2454796"/>
          </a:xfrm>
        </p:spPr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1E19BD-5A90-6858-1019-900A42DDAC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8885" y="669758"/>
            <a:ext cx="6898104" cy="5518484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Retail trading apps emphasize prices and returns, while giving little visibility into how an </a:t>
            </a:r>
            <a:r>
              <a:rPr lang="en-US" b="1" dirty="0"/>
              <a:t>investor’s own behavior and risk-taking change over time.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project builds a </a:t>
            </a:r>
            <a:r>
              <a:rPr lang="en-US" b="1" dirty="0"/>
              <a:t>batch data pipeline </a:t>
            </a:r>
            <a:r>
              <a:rPr lang="en-US" dirty="0"/>
              <a:t>that joins transaction logs with market data, computes </a:t>
            </a:r>
            <a:r>
              <a:rPr lang="en-US" b="1" dirty="0"/>
              <a:t>window‑wise behavior and risk features </a:t>
            </a:r>
            <a:r>
              <a:rPr lang="en-US" dirty="0"/>
              <a:t>and uses simple statistics plus </a:t>
            </a:r>
            <a:r>
              <a:rPr lang="en-US" b="1" dirty="0"/>
              <a:t>lightweight ML </a:t>
            </a:r>
            <a:r>
              <a:rPr lang="en-US" dirty="0"/>
              <a:t>to </a:t>
            </a:r>
            <a:r>
              <a:rPr lang="en-US" b="1" dirty="0"/>
              <a:t>detect behavior drift away </a:t>
            </a:r>
            <a:r>
              <a:rPr lang="en-US" dirty="0"/>
              <a:t>from the investor’s historical baseline.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b="1" dirty="0"/>
              <a:t>interactive dashboard </a:t>
            </a:r>
            <a:r>
              <a:rPr lang="en-US" dirty="0"/>
              <a:t>then visualizes these metrics, drift signals and risk regimes so that a retail investor can quickly see when their behavior becomes more aggressive or concentrated.</a:t>
            </a:r>
          </a:p>
        </p:txBody>
      </p:sp>
    </p:spTree>
    <p:extLst>
      <p:ext uri="{BB962C8B-B14F-4D97-AF65-F5344CB8AC3E}">
        <p14:creationId xmlns:p14="http://schemas.microsoft.com/office/powerpoint/2010/main" val="2766970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D1222-DF68-3EF6-416D-6E27FBD5A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01" y="842957"/>
            <a:ext cx="3494314" cy="4768174"/>
          </a:xfrm>
        </p:spPr>
        <p:txBody>
          <a:bodyPr/>
          <a:lstStyle/>
          <a:p>
            <a:r>
              <a:rPr lang="en-US" dirty="0"/>
              <a:t>MOTIVATION &amp; BACKGROUND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82F3E-2B5B-9638-6EC6-B7714347E0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842" y="717499"/>
            <a:ext cx="6625390" cy="542300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IN" sz="1550" b="1" dirty="0">
                <a:latin typeface="+mj-lt"/>
              </a:rPr>
              <a:t>Fintech as Data Engineering</a:t>
            </a:r>
            <a:endParaRPr lang="en-US" sz="1550" b="1" dirty="0">
              <a:latin typeface="+mj-lt"/>
            </a:endParaRPr>
          </a:p>
          <a:p>
            <a:pPr>
              <a:lnSpc>
                <a:spcPct val="100000"/>
              </a:lnSpc>
            </a:pPr>
            <a:r>
              <a:rPr lang="en-US" sz="1550" dirty="0"/>
              <a:t>Trading and investing apps are practical examples of data engineering, built on pipelines that continuously ingest, transform and visualize large streams of transaction and market data for end users.</a:t>
            </a:r>
            <a:br>
              <a:rPr lang="en-US" sz="1550" dirty="0"/>
            </a:br>
            <a:br>
              <a:rPr lang="en-US" sz="1550" b="1" dirty="0">
                <a:latin typeface="+mj-lt"/>
              </a:rPr>
            </a:br>
            <a:r>
              <a:rPr lang="en-US" sz="1550" b="1" dirty="0">
                <a:latin typeface="+mj-lt"/>
              </a:rPr>
              <a:t>Behavioral Risks in Trading Apps</a:t>
            </a:r>
          </a:p>
          <a:p>
            <a:pPr>
              <a:lnSpc>
                <a:spcPct val="100000"/>
              </a:lnSpc>
            </a:pPr>
            <a:r>
              <a:rPr lang="en-US" sz="1550" dirty="0"/>
              <a:t>Recent reports show that some trading apps use design and engagement tricks that encourage overtrading and higher risk taking, especially among less experienced retail investors.</a:t>
            </a:r>
            <a:br>
              <a:rPr lang="en-US" sz="1550" dirty="0"/>
            </a:br>
            <a:br>
              <a:rPr lang="en-US" sz="1550" dirty="0"/>
            </a:br>
            <a:r>
              <a:rPr lang="en-US" sz="1550" b="1" dirty="0">
                <a:latin typeface="+mj-lt"/>
              </a:rPr>
              <a:t>Weaknesses in Current Dashboards</a:t>
            </a:r>
          </a:p>
          <a:p>
            <a:pPr>
              <a:lnSpc>
                <a:spcPct val="100000"/>
              </a:lnSpc>
            </a:pPr>
            <a:r>
              <a:rPr lang="en-US" sz="1550" dirty="0"/>
              <a:t>Typical retail dashboards highlight prices, P&amp;L and static holdings but give little insight into how an individual’s trading style and risk exposure evolve or drift over time</a:t>
            </a:r>
            <a:br>
              <a:rPr lang="en-US" sz="1550" dirty="0"/>
            </a:br>
            <a:br>
              <a:rPr lang="en-US" sz="1550" dirty="0"/>
            </a:br>
            <a:r>
              <a:rPr lang="en-US" sz="1550" b="1" dirty="0">
                <a:latin typeface="+mj-lt"/>
              </a:rPr>
              <a:t>Need for Behavior-Drift-Aware Views</a:t>
            </a:r>
          </a:p>
          <a:p>
            <a:pPr>
              <a:lnSpc>
                <a:spcPct val="100000"/>
              </a:lnSpc>
            </a:pPr>
            <a:r>
              <a:rPr lang="en-US" sz="1550" dirty="0"/>
              <a:t>This project responds to that gap by building a batch data pipeline over transaction and market data, then adding behavior‑and‑risk analytics and visualization to show when an investor’s behavior moves away from their own historical baseline.</a:t>
            </a:r>
            <a:endParaRPr lang="en-US" sz="155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88046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223728-0310-28AC-9DF0-74DB4A109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046" y="4257446"/>
            <a:ext cx="4297661" cy="1852154"/>
          </a:xfrm>
        </p:spPr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AC2A31-C8C2-4C0E-07B6-7E2F6EE012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98695" y="756828"/>
            <a:ext cx="6240379" cy="5585836"/>
          </a:xfrm>
        </p:spPr>
        <p:txBody>
          <a:bodyPr>
            <a:noAutofit/>
          </a:bodyPr>
          <a:lstStyle/>
          <a:p>
            <a:r>
              <a:rPr lang="en-US" sz="1500" b="1" dirty="0">
                <a:latin typeface="+mj-lt"/>
              </a:rPr>
              <a:t>Behavior‑Centric Risk View for Retail Investors</a:t>
            </a:r>
          </a:p>
          <a:p>
            <a:r>
              <a:rPr lang="en-US" sz="1500" dirty="0"/>
              <a:t>Develop an application that focuses on an investor’s behavior and risk patterns over time, not just prices and P&amp;L, by computing window‑wise behavior features (trading frequency, holding period, concentration) and simple risk metrics from transaction logs and market data.</a:t>
            </a:r>
            <a:br>
              <a:rPr lang="en-US" sz="1500" dirty="0"/>
            </a:br>
            <a:br>
              <a:rPr lang="en-US" sz="1500" dirty="0">
                <a:latin typeface="+mj-lt"/>
              </a:rPr>
            </a:br>
            <a:r>
              <a:rPr lang="en-US" sz="1500" b="1" dirty="0">
                <a:latin typeface="+mj-lt"/>
              </a:rPr>
              <a:t>Behavior Drift Using Lightweight Analytics and ML Detection</a:t>
            </a:r>
          </a:p>
          <a:p>
            <a:r>
              <a:rPr lang="en-US" sz="1500" dirty="0"/>
              <a:t>Adapt ideas from drift detection and investor‑clustering research to track when a single investor’s behavior moves away from their own historical baseline, using sliding‑window statistics and a small ML component (such as clustering or risk‑state labels) on behavior vectors.</a:t>
            </a:r>
            <a:br>
              <a:rPr lang="en-US" sz="1500" dirty="0"/>
            </a:br>
            <a:br>
              <a:rPr lang="en-US" sz="1500" dirty="0">
                <a:latin typeface="+mj-lt"/>
              </a:rPr>
            </a:br>
            <a:r>
              <a:rPr lang="en-US" sz="1500" b="1" dirty="0">
                <a:latin typeface="+mj-lt"/>
              </a:rPr>
              <a:t>Prototype That Can Extend to Real Fintech Dashboards</a:t>
            </a:r>
          </a:p>
          <a:p>
            <a:r>
              <a:rPr lang="en-US" sz="1500" dirty="0"/>
              <a:t>Implement the system as a batch data pipeline plus an interactive dashboard, designed so that the same architecture could be integrated into real fintech platforms as a behavior‑aware risk insight module to support retail investors and compliance teams.</a:t>
            </a:r>
            <a:endParaRPr lang="en-US" sz="1500" b="1" dirty="0">
              <a:latin typeface="+mj-lt"/>
            </a:endParaRPr>
          </a:p>
        </p:txBody>
      </p:sp>
      <p:pic>
        <p:nvPicPr>
          <p:cNvPr id="3076" name="Picture 4" descr="Buy Wall Street Bull, New York Bull Statue, Charging Bull, Black and ...">
            <a:extLst>
              <a:ext uri="{FF2B5EF4-FFF2-40B4-BE49-F238E27FC236}">
                <a16:creationId xmlns:a16="http://schemas.microsoft.com/office/drawing/2014/main" id="{042F47F8-16F7-EDE2-1172-1E01A96CF333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76" b="637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7410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A7F7D-84A3-2E1A-664F-A52D4FD2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PAPER</a:t>
            </a:r>
          </a:p>
        </p:txBody>
      </p:sp>
      <p:pic>
        <p:nvPicPr>
          <p:cNvPr id="8" name="Picture Placeholder 7" descr="Close up of waves on the beach">
            <a:extLst>
              <a:ext uri="{FF2B5EF4-FFF2-40B4-BE49-F238E27FC236}">
                <a16:creationId xmlns:a16="http://schemas.microsoft.com/office/drawing/2014/main" id="{38F74083-643A-7BB7-3E34-3CE81CB4BCD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0B546-A3C2-9374-B0C2-E79D26B38E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1400" y="1615442"/>
            <a:ext cx="7020306" cy="2993134"/>
          </a:xfrm>
        </p:spPr>
        <p:txBody>
          <a:bodyPr>
            <a:noAutofit/>
          </a:bodyPr>
          <a:lstStyle/>
          <a:p>
            <a:r>
              <a:rPr lang="en-US" sz="1600" b="1" dirty="0">
                <a:latin typeface="+mj-lt"/>
                <a:hlinkClick r:id="rId3"/>
              </a:rPr>
              <a:t>Know Your Clients’ Behaviors: A Cluster Analysis of Financial Transactions</a:t>
            </a:r>
            <a:endParaRPr lang="en-US" sz="1600" b="1" dirty="0">
              <a:latin typeface="+mj-lt"/>
            </a:endParaRPr>
          </a:p>
          <a:p>
            <a:r>
              <a:rPr lang="en-US" sz="1600" dirty="0"/>
              <a:t>Works directly with investor transaction data, engineering behavior features (frequency, trade size, activity patterns) and applying clustering (e.g., K‑Means) to group investors.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Shows that behavioral features from trades are more informative than static KYC for understanding clients, which is exactly the kind of feature space your project will use.</a:t>
            </a:r>
          </a:p>
          <a:p>
            <a:r>
              <a:rPr lang="en-US" sz="1600" dirty="0"/>
              <a:t>The project extends it from static client segmentation to time‑window behavior vectors, behavior drift over time, and a retail‑facing risk/behavior dashboard.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7F07D-BD30-1254-77E8-09638AC7AC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51399" y="4846320"/>
            <a:ext cx="6119865" cy="2011680"/>
          </a:xfrm>
        </p:spPr>
        <p:txBody>
          <a:bodyPr>
            <a:normAutofit/>
          </a:bodyPr>
          <a:lstStyle/>
          <a:p>
            <a:r>
              <a:rPr lang="en-US" sz="1600" b="1" dirty="0">
                <a:latin typeface="+mj-lt"/>
                <a:hlinkClick r:id="rId4"/>
              </a:rPr>
              <a:t> Interactive Risk Dashboard</a:t>
            </a:r>
            <a:endParaRPr lang="en-US" sz="1600" b="1" dirty="0">
              <a:latin typeface="+mj-lt"/>
            </a:endParaRPr>
          </a:p>
          <a:p>
            <a:r>
              <a:rPr lang="en-US" sz="1600" dirty="0"/>
              <a:t>Risk dashboard implementations for portfolio risk/P&amp;L (e.g., volatility, drawdown, interactive charts), used only as technical inspiration for how to structure a dashboard and pipeline in code.</a:t>
            </a: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16832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8FB52-DD9A-C228-E921-D36876893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2ECB4-EC6F-5F66-66D5-0B4EFF279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695" y="414345"/>
            <a:ext cx="10440990" cy="1132258"/>
          </a:xfrm>
        </p:spPr>
        <p:txBody>
          <a:bodyPr>
            <a:normAutofit/>
          </a:bodyPr>
          <a:lstStyle/>
          <a:p>
            <a:r>
              <a:rPr lang="en-US" dirty="0"/>
              <a:t>LITERATURE REVIEW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E5C72EC-B17A-24C1-4EDC-DD3DB04D61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8177764"/>
              </p:ext>
            </p:extLst>
          </p:nvPr>
        </p:nvGraphicFramePr>
        <p:xfrm>
          <a:off x="264695" y="1108811"/>
          <a:ext cx="11662610" cy="554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6484">
                  <a:extLst>
                    <a:ext uri="{9D8B030D-6E8A-4147-A177-3AD203B41FA5}">
                      <a16:colId xmlns:a16="http://schemas.microsoft.com/office/drawing/2014/main" val="3168546316"/>
                    </a:ext>
                  </a:extLst>
                </a:gridCol>
                <a:gridCol w="4547937">
                  <a:extLst>
                    <a:ext uri="{9D8B030D-6E8A-4147-A177-3AD203B41FA5}">
                      <a16:colId xmlns:a16="http://schemas.microsoft.com/office/drawing/2014/main" val="3249273269"/>
                    </a:ext>
                  </a:extLst>
                </a:gridCol>
                <a:gridCol w="3160295">
                  <a:extLst>
                    <a:ext uri="{9D8B030D-6E8A-4147-A177-3AD203B41FA5}">
                      <a16:colId xmlns:a16="http://schemas.microsoft.com/office/drawing/2014/main" val="3338054882"/>
                    </a:ext>
                  </a:extLst>
                </a:gridCol>
                <a:gridCol w="3007894">
                  <a:extLst>
                    <a:ext uri="{9D8B030D-6E8A-4147-A177-3AD203B41FA5}">
                      <a16:colId xmlns:a16="http://schemas.microsoft.com/office/drawing/2014/main" val="2175169288"/>
                    </a:ext>
                  </a:extLst>
                </a:gridCol>
              </a:tblGrid>
              <a:tr h="498764">
                <a:tc>
                  <a:txBody>
                    <a:bodyPr/>
                    <a:lstStyle/>
                    <a:p>
                      <a:r>
                        <a:rPr lang="en-US" sz="1600" b="1" i="0" cap="all" baseline="0" dirty="0">
                          <a:latin typeface="+mj-lt"/>
                          <a:cs typeface="Poppins" pitchFamily="2" charset="77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i="0" cap="all" baseline="0" dirty="0">
                          <a:latin typeface="+mj-lt"/>
                          <a:cs typeface="Poppins" pitchFamily="2" charset="77"/>
                        </a:rPr>
                        <a:t>PAPER /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i="0" cap="all" baseline="0" dirty="0">
                          <a:latin typeface="+mj-lt"/>
                          <a:cs typeface="Poppins" pitchFamily="2" charset="77"/>
                        </a:rPr>
                        <a:t>ADVANTAGES /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i="0" cap="all" baseline="0" dirty="0">
                          <a:latin typeface="+mj-lt"/>
                          <a:cs typeface="Poppins" pitchFamily="2" charset="77"/>
                        </a:rPr>
                        <a:t>RESEARCH GAPS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4231172"/>
                  </a:ext>
                </a:extLst>
              </a:tr>
              <a:tr h="498764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latin typeface="+mj-lt"/>
                          <a:cs typeface="Poppins Light" pitchFamily="2" charset="77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latin typeface="+mj-lt"/>
                          <a:cs typeface="Poppins Light" pitchFamily="2" charset="77"/>
                          <a:hlinkClick r:id="rId2"/>
                        </a:rPr>
                        <a:t>Data Engineering in Finance: Managing Risk and Unlocking Insights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describes ETL, warehousing, and pipeline patterns in finance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Clarifies architectures and tools for financial data pipelines.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High‑level; no concrete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behaviour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‑focused analytics or visual dashboards.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691036"/>
                  </a:ext>
                </a:extLst>
              </a:tr>
              <a:tr h="498764">
                <a:tc>
                  <a:txBody>
                    <a:bodyPr/>
                    <a:lstStyle/>
                    <a:p>
                      <a:r>
                        <a:rPr lang="en-US" sz="1600" b="0" i="0">
                          <a:latin typeface="+mj-lt"/>
                          <a:cs typeface="Poppins Light" pitchFamily="2" charset="77"/>
                        </a:rPr>
                        <a:t>2021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Design Patterns of Investing Apps and Their Effects on Investing Behaviors 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Empirical UI study; </a:t>
                      </a:r>
                      <a:r>
                        <a:rPr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behavioural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analysis of app patterns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 Light" pitchFamily="2" charset="77"/>
                      </a:endParaRPr>
                    </a:p>
                    <a:p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Links certain design patterns to higher trading and risk taking.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analytics pipeline or tools to monitor individual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behaviour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over time.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9441191"/>
                  </a:ext>
                </a:extLst>
              </a:tr>
              <a:tr h="498764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latin typeface="+mj-lt"/>
                          <a:cs typeface="Poppins Light" pitchFamily="2" charset="77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latin typeface="+mj-lt"/>
                          <a:cs typeface="Poppins Light" pitchFamily="2" charset="77"/>
                          <a:hlinkClick r:id="rId4"/>
                        </a:rPr>
                        <a:t>Digital Engagement Practices: A Trading Apps Experiment</a:t>
                      </a:r>
                      <a:r>
                        <a:rPr lang="en-US" sz="1600" b="0" i="0" dirty="0">
                          <a:latin typeface="+mj-lt"/>
                          <a:cs typeface="Poppins Light" pitchFamily="2" charset="77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randomised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experiment on app engagement features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Shows nudges can significantly increase trading intensity and risk. 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Does not provide mechanisms to track each user’s evolving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behaviour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 risk.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558636"/>
                  </a:ext>
                </a:extLst>
              </a:tr>
              <a:tr h="498764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latin typeface="+mj-lt"/>
                          <a:cs typeface="Poppins Light" pitchFamily="2" charset="77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latin typeface="+mj-lt"/>
                          <a:cs typeface="Poppins Light" pitchFamily="2" charset="77"/>
                          <a:hlinkClick r:id="rId5"/>
                        </a:rPr>
                        <a:t>A Retail Investor in a Cobweb of Social Networks </a:t>
                      </a:r>
                      <a:r>
                        <a:rPr lang="en-US" sz="1600" b="0" i="0" dirty="0">
                          <a:latin typeface="+mj-lt"/>
                          <a:cs typeface="Poppins Light" pitchFamily="2" charset="77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Neural network models on trading + social data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Captures attention/emotion‑driven trading patterns.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Focuses on prediction, not interpretable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behaviour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metrics or drift monitoring.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158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326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33745-A6F4-9F39-C5BA-F85F148CA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A4F16-6558-6F1A-0C94-7B205B30B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695" y="414345"/>
            <a:ext cx="10440990" cy="1132258"/>
          </a:xfrm>
        </p:spPr>
        <p:txBody>
          <a:bodyPr>
            <a:normAutofit/>
          </a:bodyPr>
          <a:lstStyle/>
          <a:p>
            <a:r>
              <a:rPr lang="en-US" dirty="0"/>
              <a:t>LITERATURE REVIEW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B86F953-5DDD-E6E8-056B-AF4451197C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2008484"/>
              </p:ext>
            </p:extLst>
          </p:nvPr>
        </p:nvGraphicFramePr>
        <p:xfrm>
          <a:off x="264695" y="1108811"/>
          <a:ext cx="11662610" cy="5608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6484">
                  <a:extLst>
                    <a:ext uri="{9D8B030D-6E8A-4147-A177-3AD203B41FA5}">
                      <a16:colId xmlns:a16="http://schemas.microsoft.com/office/drawing/2014/main" val="3168546316"/>
                    </a:ext>
                  </a:extLst>
                </a:gridCol>
                <a:gridCol w="4547937">
                  <a:extLst>
                    <a:ext uri="{9D8B030D-6E8A-4147-A177-3AD203B41FA5}">
                      <a16:colId xmlns:a16="http://schemas.microsoft.com/office/drawing/2014/main" val="3249273269"/>
                    </a:ext>
                  </a:extLst>
                </a:gridCol>
                <a:gridCol w="3160295">
                  <a:extLst>
                    <a:ext uri="{9D8B030D-6E8A-4147-A177-3AD203B41FA5}">
                      <a16:colId xmlns:a16="http://schemas.microsoft.com/office/drawing/2014/main" val="3338054882"/>
                    </a:ext>
                  </a:extLst>
                </a:gridCol>
                <a:gridCol w="3007894">
                  <a:extLst>
                    <a:ext uri="{9D8B030D-6E8A-4147-A177-3AD203B41FA5}">
                      <a16:colId xmlns:a16="http://schemas.microsoft.com/office/drawing/2014/main" val="2175169288"/>
                    </a:ext>
                  </a:extLst>
                </a:gridCol>
              </a:tblGrid>
              <a:tr h="498764">
                <a:tc>
                  <a:txBody>
                    <a:bodyPr/>
                    <a:lstStyle/>
                    <a:p>
                      <a:r>
                        <a:rPr lang="en-US" sz="1600" b="1" i="0" cap="all" baseline="0" dirty="0">
                          <a:latin typeface="+mj-lt"/>
                          <a:cs typeface="Poppins" pitchFamily="2" charset="77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i="0" cap="all" baseline="0" dirty="0">
                          <a:latin typeface="+mj-lt"/>
                          <a:cs typeface="Poppins" pitchFamily="2" charset="77"/>
                        </a:rPr>
                        <a:t>PAPER /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i="0" cap="all" baseline="0" dirty="0">
                          <a:latin typeface="+mj-lt"/>
                          <a:cs typeface="Poppins" pitchFamily="2" charset="77"/>
                        </a:rPr>
                        <a:t>ADVANTAGES /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i="0" cap="all" baseline="0" dirty="0">
                          <a:latin typeface="+mj-lt"/>
                          <a:cs typeface="Poppins" pitchFamily="2" charset="77"/>
                        </a:rPr>
                        <a:t>RESEARCH GAPS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4231172"/>
                  </a:ext>
                </a:extLst>
              </a:tr>
              <a:tr h="498764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latin typeface="+mj-lt"/>
                          <a:cs typeface="Poppins Light" pitchFamily="2" charset="77"/>
                        </a:rPr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latin typeface="+mj-lt"/>
                          <a:cs typeface="Poppins Light" pitchFamily="2" charset="77"/>
                          <a:hlinkClick r:id="rId2"/>
                        </a:rPr>
                        <a:t>Interactive Visual Analytics of Systemic Risk in Financial Networks</a:t>
                      </a:r>
                      <a:r>
                        <a:rPr lang="en-US" sz="1600" b="0" i="0" dirty="0">
                          <a:latin typeface="+mj-lt"/>
                          <a:cs typeface="Poppins Light" pitchFamily="2" charset="77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 analytics system; network‑based risk metrics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Demonstrates interactive risk‑centric visualisations for experts.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Targets systemic risk between institutions, not retail investors or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behaviour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drift.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691036"/>
                  </a:ext>
                </a:extLst>
              </a:tr>
              <a:tr h="498764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latin typeface="+mj-lt"/>
                          <a:cs typeface="Poppins Light" pitchFamily="2" charset="77"/>
                        </a:rPr>
                        <a:t>2020-24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Concept/Data Drift Surveys and Tutorials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window‑based statistics, statistical tests, error‑based detectors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 taxonomy and methods for monitoring drift in ML systems.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Concentrate on model/data drift; do not treat human trading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behaviour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 the drifting object.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9441191"/>
                  </a:ext>
                </a:extLst>
              </a:tr>
              <a:tr h="498764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latin typeface="+mj-lt"/>
                          <a:cs typeface="Poppins Light" pitchFamily="2" charset="77"/>
                        </a:rPr>
                        <a:t>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latin typeface="+mj-lt"/>
                          <a:cs typeface="Poppins Light" pitchFamily="2" charset="77"/>
                          <a:hlinkClick r:id="rId4"/>
                        </a:rPr>
                        <a:t>Personality Traits and Investor Profile Analysis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behavioural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profiling; statistical analysis and clustering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Links personality traits to investor profiles and risk preferences.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One‑off profiling; does not track how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behaviour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 risk-taking changes over time.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558636"/>
                  </a:ext>
                </a:extLst>
              </a:tr>
              <a:tr h="498764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latin typeface="+mj-lt"/>
                          <a:cs typeface="Poppins Light" pitchFamily="2" charset="77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latin typeface="+mj-lt"/>
                          <a:cs typeface="Poppins Light" pitchFamily="2" charset="77"/>
                          <a:hlinkClick r:id="rId5"/>
                        </a:rPr>
                        <a:t>Retail Investor Dashboard: Empowering New Investors</a:t>
                      </a:r>
                      <a:r>
                        <a:rPr lang="en-US" sz="1600" b="0" i="0" dirty="0">
                          <a:latin typeface="+mj-lt"/>
                          <a:cs typeface="Poppins Light" pitchFamily="2" charset="77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Neural network models on trading + social data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Captures attention/emotion‑driven trading patterns.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Focuses on prediction, not interpretable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behaviour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metrics or drift monitoring.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158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480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C03D2-F911-DFE1-95C4-4D806E5D2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63FB-10B9-00AB-F393-348A3E44C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695" y="414345"/>
            <a:ext cx="10440990" cy="1132258"/>
          </a:xfrm>
        </p:spPr>
        <p:txBody>
          <a:bodyPr>
            <a:normAutofit/>
          </a:bodyPr>
          <a:lstStyle/>
          <a:p>
            <a:r>
              <a:rPr lang="en-US" dirty="0"/>
              <a:t>LITERATURE REVIEW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69E75DA-7FE9-3C6C-E933-9177AA56C0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353617"/>
              </p:ext>
            </p:extLst>
          </p:nvPr>
        </p:nvGraphicFramePr>
        <p:xfrm>
          <a:off x="264695" y="1108811"/>
          <a:ext cx="11662610" cy="3779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6484">
                  <a:extLst>
                    <a:ext uri="{9D8B030D-6E8A-4147-A177-3AD203B41FA5}">
                      <a16:colId xmlns:a16="http://schemas.microsoft.com/office/drawing/2014/main" val="3168546316"/>
                    </a:ext>
                  </a:extLst>
                </a:gridCol>
                <a:gridCol w="4547937">
                  <a:extLst>
                    <a:ext uri="{9D8B030D-6E8A-4147-A177-3AD203B41FA5}">
                      <a16:colId xmlns:a16="http://schemas.microsoft.com/office/drawing/2014/main" val="3249273269"/>
                    </a:ext>
                  </a:extLst>
                </a:gridCol>
                <a:gridCol w="3160295">
                  <a:extLst>
                    <a:ext uri="{9D8B030D-6E8A-4147-A177-3AD203B41FA5}">
                      <a16:colId xmlns:a16="http://schemas.microsoft.com/office/drawing/2014/main" val="3338054882"/>
                    </a:ext>
                  </a:extLst>
                </a:gridCol>
                <a:gridCol w="3007894">
                  <a:extLst>
                    <a:ext uri="{9D8B030D-6E8A-4147-A177-3AD203B41FA5}">
                      <a16:colId xmlns:a16="http://schemas.microsoft.com/office/drawing/2014/main" val="2175169288"/>
                    </a:ext>
                  </a:extLst>
                </a:gridCol>
              </a:tblGrid>
              <a:tr h="498764">
                <a:tc>
                  <a:txBody>
                    <a:bodyPr/>
                    <a:lstStyle/>
                    <a:p>
                      <a:r>
                        <a:rPr lang="en-US" sz="1600" b="1" i="0" cap="all" baseline="0" dirty="0">
                          <a:latin typeface="+mj-lt"/>
                          <a:cs typeface="Poppins" pitchFamily="2" charset="77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i="0" cap="all" baseline="0" dirty="0">
                          <a:latin typeface="+mj-lt"/>
                          <a:cs typeface="Poppins" pitchFamily="2" charset="77"/>
                        </a:rPr>
                        <a:t>PAPER /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i="0" cap="all" baseline="0" dirty="0">
                          <a:latin typeface="+mj-lt"/>
                          <a:cs typeface="Poppins" pitchFamily="2" charset="77"/>
                        </a:rPr>
                        <a:t>ADVANTAGES /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i="0" cap="all" baseline="0" dirty="0">
                          <a:latin typeface="+mj-lt"/>
                          <a:cs typeface="Poppins" pitchFamily="2" charset="77"/>
                        </a:rPr>
                        <a:t>RESEARCH GAPS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4231172"/>
                  </a:ext>
                </a:extLst>
              </a:tr>
              <a:tr h="498764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latin typeface="+mj-lt"/>
                          <a:cs typeface="Poppins Light" pitchFamily="2" charset="77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latin typeface="+mj-lt"/>
                          <a:cs typeface="Poppins Light" pitchFamily="2" charset="77"/>
                          <a:hlinkClick r:id="rId2"/>
                        </a:rPr>
                        <a:t>Case Studies: Visualizing Investor Behavior with AI</a:t>
                      </a:r>
                      <a:r>
                        <a:rPr lang="en-US" sz="1600" b="0" i="0" dirty="0">
                          <a:latin typeface="+mj-lt"/>
                          <a:cs typeface="Poppins Light" pitchFamily="2" charset="77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industry AI dashboards for investor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behaviour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risk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Demonstrates demand for visual tools showing investor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behaviour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risk.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Proprietary and high‑level; limited methodological detail and no explicit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behaviour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drift modelling.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691036"/>
                  </a:ext>
                </a:extLst>
              </a:tr>
              <a:tr h="498764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latin typeface="+mj-lt"/>
                          <a:cs typeface="Poppins Light" pitchFamily="2" charset="77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Behaviourally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 Informed Risk Warnings for High‑Risk Products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experimental testing of risk‑warning designs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Shows better wording/layout can improve risk comprehension.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Focuses on static warnings, not continuous analytics or dashboards using transaction data.</a:t>
                      </a:r>
                      <a:endParaRPr lang="en-US" sz="1600" b="0" i="0" dirty="0">
                        <a:latin typeface="+mj-lt"/>
                        <a:cs typeface="Poppins Light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9441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2948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772F-1D1B-134C-1CC1-6CFCCAB50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094" y="120317"/>
            <a:ext cx="4800600" cy="1559764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5CE4813-F54E-9A4D-A53B-48278793E3A5}"/>
              </a:ext>
            </a:extLst>
          </p:cNvPr>
          <p:cNvSpPr txBox="1">
            <a:spLocks/>
          </p:cNvSpPr>
          <p:nvPr/>
        </p:nvSpPr>
        <p:spPr>
          <a:xfrm>
            <a:off x="417094" y="1800396"/>
            <a:ext cx="6557214" cy="493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dirty="0"/>
              <a:t>This work treats fintech not just as a price display, but as a data‑engineering problem around investor </a:t>
            </a:r>
            <a:r>
              <a:rPr lang="en-US" dirty="0" err="1"/>
              <a:t>behaviour</a:t>
            </a:r>
            <a:r>
              <a:rPr lang="en-US" dirty="0"/>
              <a:t> and risk. By building a batch pipeline over transaction and market data, it computes window‑wise </a:t>
            </a:r>
            <a:r>
              <a:rPr lang="en-US" dirty="0" err="1"/>
              <a:t>behaviour</a:t>
            </a:r>
            <a:r>
              <a:rPr lang="en-US" dirty="0"/>
              <a:t> and risk features, detects when </a:t>
            </a:r>
            <a:r>
              <a:rPr lang="en-US" dirty="0" err="1"/>
              <a:t>behaviour</a:t>
            </a:r>
            <a:r>
              <a:rPr lang="en-US" dirty="0"/>
              <a:t> drifts from an investor’s own baseline, and surfaces these changes through an interactive dashboard. The same design could realistically evolve into a </a:t>
            </a:r>
            <a:r>
              <a:rPr lang="en-US" dirty="0" err="1"/>
              <a:t>behaviour</a:t>
            </a:r>
            <a:r>
              <a:rPr lang="en-US" dirty="0"/>
              <a:t>‑aware risk module inside real trading apps, giving retail investors clearer feedback when their trading becomes unusually aggressive or concentrated.</a:t>
            </a:r>
          </a:p>
        </p:txBody>
      </p:sp>
      <p:pic>
        <p:nvPicPr>
          <p:cNvPr id="4100" name="Picture 4" descr="1,900+ Black And White Wall Street Stock Photos, Pictures &amp; Royalty ...">
            <a:extLst>
              <a:ext uri="{FF2B5EF4-FFF2-40B4-BE49-F238E27FC236}">
                <a16:creationId xmlns:a16="http://schemas.microsoft.com/office/drawing/2014/main" id="{68580297-1254-E839-4073-D97983363730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81" r="25381"/>
          <a:stretch>
            <a:fillRect/>
          </a:stretch>
        </p:blipFill>
        <p:spPr bwMode="auto">
          <a:xfrm>
            <a:off x="7391400" y="0"/>
            <a:ext cx="4800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48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78C2091-CE76-FB58-01FA-47B730FF8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4421221"/>
            <a:ext cx="10478450" cy="9144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6F2EB5A-1AD7-F809-E650-840B8920DE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5612812"/>
            <a:ext cx="10478450" cy="731520"/>
          </a:xfrm>
        </p:spPr>
        <p:txBody>
          <a:bodyPr>
            <a:noAutofit/>
          </a:bodyPr>
          <a:lstStyle/>
          <a:p>
            <a:r>
              <a:rPr lang="en-US" sz="1600" dirty="0"/>
              <a:t>Presented by Bhaavya Ramita </a:t>
            </a:r>
            <a:r>
              <a:rPr lang="en-US" sz="1600" dirty="0" err="1"/>
              <a:t>Patsamatla</a:t>
            </a:r>
            <a:endParaRPr lang="en-US" sz="1600" dirty="0"/>
          </a:p>
          <a:p>
            <a:r>
              <a:rPr lang="en-US" sz="1600" dirty="0"/>
              <a:t>25MCB1010</a:t>
            </a:r>
          </a:p>
          <a:p>
            <a:r>
              <a:rPr lang="en-US" sz="1600" dirty="0"/>
              <a:t>Patsamatla.bhaavya2025@vitstudent.ac.in</a:t>
            </a:r>
          </a:p>
        </p:txBody>
      </p:sp>
      <p:pic>
        <p:nvPicPr>
          <p:cNvPr id="13" name="Picture Placeholder 12" descr="Close up of desert dunes">
            <a:extLst>
              <a:ext uri="{FF2B5EF4-FFF2-40B4-BE49-F238E27FC236}">
                <a16:creationId xmlns:a16="http://schemas.microsoft.com/office/drawing/2014/main" id="{1A836202-BF07-0D8C-D22B-73F87E6F86B9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582" r="4582"/>
          <a:stretch/>
        </p:blipFill>
        <p:spPr>
          <a:xfrm>
            <a:off x="0" y="0"/>
            <a:ext cx="12192000" cy="3778270"/>
          </a:xfrm>
        </p:spPr>
      </p:pic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theme/theme1.xml><?xml version="1.0" encoding="utf-8"?>
<a:theme xmlns:a="http://schemas.openxmlformats.org/drawingml/2006/main" name="Epic Nature">
  <a:themeElements>
    <a:clrScheme name="Finance Presentatio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D0C262"/>
      </a:accent1>
      <a:accent2>
        <a:srgbClr val="FEB8B8"/>
      </a:accent2>
      <a:accent3>
        <a:srgbClr val="6B2138"/>
      </a:accent3>
      <a:accent4>
        <a:srgbClr val="FC5316"/>
      </a:accent4>
      <a:accent5>
        <a:srgbClr val="B7D9FE"/>
      </a:accent5>
      <a:accent6>
        <a:srgbClr val="263343"/>
      </a:accent6>
      <a:hlink>
        <a:srgbClr val="467886"/>
      </a:hlink>
      <a:folHlink>
        <a:srgbClr val="96607D"/>
      </a:folHlink>
    </a:clrScheme>
    <a:fontScheme name="B&amp;W Minimalist Drama">
      <a:majorFont>
        <a:latin typeface="Poppins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W minimalist finance presentation_win32_DN_v2" id="{992472E5-D41A-4065-A484-868BE56B4712}" vid="{4BE192B5-7531-40E5-BCC9-1BA14634D2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B&amp;W minimalist finance presentation</Template>
  <TotalTime>133</TotalTime>
  <Words>1174</Words>
  <Application>Microsoft Office PowerPoint</Application>
  <PresentationFormat>Widescreen</PresentationFormat>
  <Paragraphs>93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Poppins</vt:lpstr>
      <vt:lpstr>Poppins Light</vt:lpstr>
      <vt:lpstr>Epic Nature</vt:lpstr>
      <vt:lpstr>Retail Investor Behavior Drift Analysis and Risk Visualization</vt:lpstr>
      <vt:lpstr>agenda</vt:lpstr>
      <vt:lpstr>ABSTRACT</vt:lpstr>
      <vt:lpstr>MOTIVATION &amp; BACKGROUND</vt:lpstr>
      <vt:lpstr>PROJECT objectives</vt:lpstr>
      <vt:lpstr>BASE PAPER</vt:lpstr>
      <vt:lpstr>LITERATURE REVIEW</vt:lpstr>
      <vt:lpstr>LITERATURE REVIEW</vt:lpstr>
      <vt:lpstr>LITERATURE REVIEW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PATSAMATLA BHAAVYA RAMI</dc:creator>
  <cp:lastModifiedBy>PATSAMATLA BHAAVYA RAMI</cp:lastModifiedBy>
  <cp:revision>2</cp:revision>
  <dcterms:created xsi:type="dcterms:W3CDTF">2026-01-20T19:21:49Z</dcterms:created>
  <dcterms:modified xsi:type="dcterms:W3CDTF">2026-01-21T18:08:35Z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